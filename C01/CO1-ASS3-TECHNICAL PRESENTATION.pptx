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Lst>
  <p:notesMasterIdLst>
    <p:notesMasterId r:id="rId70"/>
  </p:notesMasterIdLst>
  <p:sldIdLst>
    <p:sldId id="256" r:id="rId2"/>
    <p:sldId id="257" r:id="rId3"/>
    <p:sldId id="271" r:id="rId4"/>
    <p:sldId id="272"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5" r:id="rId18"/>
    <p:sldId id="286" r:id="rId19"/>
    <p:sldId id="287" r:id="rId20"/>
    <p:sldId id="288" r:id="rId21"/>
    <p:sldId id="289" r:id="rId22"/>
    <p:sldId id="290" r:id="rId23"/>
    <p:sldId id="291" r:id="rId24"/>
    <p:sldId id="292" r:id="rId25"/>
    <p:sldId id="293" r:id="rId26"/>
    <p:sldId id="294" r:id="rId27"/>
    <p:sldId id="295" r:id="rId28"/>
    <p:sldId id="296" r:id="rId29"/>
    <p:sldId id="297" r:id="rId30"/>
    <p:sldId id="298" r:id="rId31"/>
    <p:sldId id="299" r:id="rId32"/>
    <p:sldId id="300" r:id="rId33"/>
    <p:sldId id="301" r:id="rId34"/>
    <p:sldId id="302" r:id="rId35"/>
    <p:sldId id="303" r:id="rId36"/>
    <p:sldId id="304" r:id="rId37"/>
    <p:sldId id="305" r:id="rId38"/>
    <p:sldId id="306" r:id="rId39"/>
    <p:sldId id="307" r:id="rId40"/>
    <p:sldId id="308" r:id="rId41"/>
    <p:sldId id="309" r:id="rId42"/>
    <p:sldId id="310" r:id="rId43"/>
    <p:sldId id="311" r:id="rId44"/>
    <p:sldId id="312" r:id="rId45"/>
    <p:sldId id="313" r:id="rId46"/>
    <p:sldId id="314" r:id="rId47"/>
    <p:sldId id="315" r:id="rId48"/>
    <p:sldId id="316" r:id="rId49"/>
    <p:sldId id="317" r:id="rId50"/>
    <p:sldId id="318" r:id="rId51"/>
    <p:sldId id="319" r:id="rId52"/>
    <p:sldId id="320" r:id="rId53"/>
    <p:sldId id="321" r:id="rId54"/>
    <p:sldId id="322" r:id="rId55"/>
    <p:sldId id="323" r:id="rId56"/>
    <p:sldId id="258" r:id="rId57"/>
    <p:sldId id="259" r:id="rId58"/>
    <p:sldId id="260" r:id="rId59"/>
    <p:sldId id="261" r:id="rId60"/>
    <p:sldId id="262" r:id="rId61"/>
    <p:sldId id="263" r:id="rId62"/>
    <p:sldId id="264" r:id="rId63"/>
    <p:sldId id="265" r:id="rId64"/>
    <p:sldId id="266" r:id="rId65"/>
    <p:sldId id="267" r:id="rId66"/>
    <p:sldId id="268" r:id="rId67"/>
    <p:sldId id="269" r:id="rId68"/>
    <p:sldId id="270" r:id="rId69"/>
  </p:sldIdLst>
  <p:sldSz cx="12192000" cy="6858000"/>
  <p:notesSz cx="6858000" cy="9144000"/>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charset="0"/>
        <a:ea typeface="宋体" charset="0"/>
        <a:cs typeface="Droid Sans" charset="0"/>
      </a:defRPr>
    </a:lvl1pPr>
    <a:lvl2pPr marL="457200" indent="0" algn="l" defTabSz="914400" eaLnBrk="1" fontAlgn="auto" latinLnBrk="0" hangingPunct="1">
      <a:buNone/>
      <a:defRPr sz="1800" kern="1200">
        <a:solidFill>
          <a:schemeClr val="tx1"/>
        </a:solidFill>
        <a:latin typeface="Droid Sans" charset="0"/>
        <a:ea typeface="宋体" charset="0"/>
        <a:cs typeface="Droid Sans" charset="0"/>
      </a:defRPr>
    </a:lvl2pPr>
    <a:lvl3pPr marL="914400" indent="0" algn="l" defTabSz="914400" eaLnBrk="1" fontAlgn="auto" latinLnBrk="0" hangingPunct="1">
      <a:buNone/>
      <a:defRPr sz="1800" kern="1200">
        <a:solidFill>
          <a:schemeClr val="tx1"/>
        </a:solidFill>
        <a:latin typeface="Droid Sans" charset="0"/>
        <a:ea typeface="宋体" charset="0"/>
        <a:cs typeface="Droid Sans" charset="0"/>
      </a:defRPr>
    </a:lvl3pPr>
    <a:lvl4pPr marL="1371600" indent="0" algn="l" defTabSz="914400" eaLnBrk="1" fontAlgn="auto" latinLnBrk="0" hangingPunct="1">
      <a:buNone/>
      <a:defRPr sz="1800" kern="1200">
        <a:solidFill>
          <a:schemeClr val="tx1"/>
        </a:solidFill>
        <a:latin typeface="Droid Sans" charset="0"/>
        <a:ea typeface="宋体" charset="0"/>
        <a:cs typeface="Droid Sans" charset="0"/>
      </a:defRPr>
    </a:lvl4pPr>
    <a:lvl5pPr marL="1828800" indent="0" algn="l" defTabSz="914400" eaLnBrk="1" fontAlgn="auto" latinLnBrk="0" hangingPunct="1">
      <a:buNone/>
      <a:defRPr sz="1800" kern="1200">
        <a:solidFill>
          <a:schemeClr val="tx1"/>
        </a:solidFill>
        <a:latin typeface="Droid Sans" charset="0"/>
        <a:ea typeface="宋体" charset="0"/>
        <a:cs typeface="Droid Sans" charset="0"/>
      </a:defRPr>
    </a:lvl5pPr>
    <a:lvl6pPr marL="2286000" indent="0" algn="l" defTabSz="914400" eaLnBrk="1" fontAlgn="auto" latinLnBrk="0" hangingPunct="1">
      <a:buNone/>
      <a:defRPr sz="1800" kern="1200">
        <a:solidFill>
          <a:schemeClr val="tx1"/>
        </a:solidFill>
        <a:latin typeface="Droid Sans" charset="0"/>
        <a:ea typeface="宋体" charset="0"/>
        <a:cs typeface="Droid Sans" charset="0"/>
      </a:defRPr>
    </a:lvl6pPr>
    <a:lvl7pPr marL="2743200" indent="0" algn="l" defTabSz="914400" eaLnBrk="1" fontAlgn="auto" latinLnBrk="0" hangingPunct="1">
      <a:buNone/>
      <a:defRPr sz="1800" kern="1200">
        <a:solidFill>
          <a:schemeClr val="tx1"/>
        </a:solidFill>
        <a:latin typeface="Droid Sans" charset="0"/>
        <a:ea typeface="宋体" charset="0"/>
        <a:cs typeface="Droid Sans" charset="0"/>
      </a:defRPr>
    </a:lvl7pPr>
    <a:lvl8pPr marL="3200400" indent="0" algn="l" defTabSz="914400" eaLnBrk="1" fontAlgn="auto" latinLnBrk="0" hangingPunct="1">
      <a:buNone/>
      <a:defRPr sz="1800" kern="1200">
        <a:solidFill>
          <a:schemeClr val="tx1"/>
        </a:solidFill>
        <a:latin typeface="Droid Sans" charset="0"/>
        <a:ea typeface="宋体" charset="0"/>
        <a:cs typeface="Droid Sans" charset="0"/>
      </a:defRPr>
    </a:lvl8pPr>
    <a:lvl9pPr marL="3200400" indent="0" algn="l" defTabSz="914400" eaLnBrk="1" fontAlgn="auto" latinLnBrk="0" hangingPunct="1">
      <a:buNone/>
      <a:defRPr sz="1800" kern="1200">
        <a:solidFill>
          <a:schemeClr val="tx1"/>
        </a:solidFill>
        <a:latin typeface="Droid Sans" charset="0"/>
        <a:ea typeface="宋体" charset="0"/>
        <a:cs typeface="Droid Sans"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9500" autoAdjust="0"/>
  </p:normalViewPr>
  <p:slideViewPr>
    <p:cSldViewPr snapToGrid="0" snapToObjects="1">
      <p:cViewPr varScale="1">
        <p:scale>
          <a:sx n="82" d="100"/>
          <a:sy n="82" d="100"/>
        </p:scale>
        <p:origin x="691" y="72"/>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7" d="100"/>
          <a:sy n="57" d="100"/>
        </p:scale>
        <p:origin x="0" y="0"/>
      </p:cViewPr>
      <p:guideLst/>
    </p:cSldViewPr>
  </p:notesViewPr>
  <p:gridSpacing cx="72010" cy="7201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eethikamanojkumar@gmail.com" userId="017f5ecdfabc2573" providerId="LiveId" clId="{D700046B-531D-4CCD-A8AA-6F142169C4EA}"/>
    <pc:docChg chg="undo custSel addSld delSld modSld">
      <pc:chgData name="preethikamanojkumar@gmail.com" userId="017f5ecdfabc2573" providerId="LiveId" clId="{D700046B-531D-4CCD-A8AA-6F142169C4EA}" dt="2026-07-20T05:33:59.134" v="56" actId="680"/>
      <pc:docMkLst>
        <pc:docMk/>
      </pc:docMkLst>
      <pc:sldChg chg="modSp mod">
        <pc:chgData name="preethikamanojkumar@gmail.com" userId="017f5ecdfabc2573" providerId="LiveId" clId="{D700046B-531D-4CCD-A8AA-6F142169C4EA}" dt="2026-07-20T05:24:22.494" v="1" actId="14100"/>
        <pc:sldMkLst>
          <pc:docMk/>
          <pc:sldMk cId="144205103" sldId="260"/>
        </pc:sldMkLst>
        <pc:spChg chg="mod">
          <ac:chgData name="preethikamanojkumar@gmail.com" userId="017f5ecdfabc2573" providerId="LiveId" clId="{D700046B-531D-4CCD-A8AA-6F142169C4EA}" dt="2026-07-20T05:24:22.494" v="1" actId="14100"/>
          <ac:spMkLst>
            <pc:docMk/>
            <pc:sldMk cId="144205103" sldId="260"/>
            <ac:spMk id="116" creationId="{00000000-0000-0000-0000-000000000000}"/>
          </ac:spMkLst>
        </pc:spChg>
      </pc:sldChg>
      <pc:sldChg chg="add del">
        <pc:chgData name="preethikamanojkumar@gmail.com" userId="017f5ecdfabc2573" providerId="LiveId" clId="{D700046B-531D-4CCD-A8AA-6F142169C4EA}" dt="2026-07-20T05:30:04.474" v="3" actId="47"/>
        <pc:sldMkLst>
          <pc:docMk/>
          <pc:sldMk cId="598759503" sldId="269"/>
        </pc:sldMkLst>
      </pc:sldChg>
      <pc:sldChg chg="new">
        <pc:chgData name="preethikamanojkumar@gmail.com" userId="017f5ecdfabc2573" providerId="LiveId" clId="{D700046B-531D-4CCD-A8AA-6F142169C4EA}" dt="2026-07-20T05:33:57.038" v="4" actId="680"/>
        <pc:sldMkLst>
          <pc:docMk/>
          <pc:sldMk cId="2474592122" sldId="271"/>
        </pc:sldMkLst>
      </pc:sldChg>
      <pc:sldChg chg="new">
        <pc:chgData name="preethikamanojkumar@gmail.com" userId="017f5ecdfabc2573" providerId="LiveId" clId="{D700046B-531D-4CCD-A8AA-6F142169C4EA}" dt="2026-07-20T05:33:57.068" v="5" actId="680"/>
        <pc:sldMkLst>
          <pc:docMk/>
          <pc:sldMk cId="3436246554" sldId="272"/>
        </pc:sldMkLst>
      </pc:sldChg>
      <pc:sldChg chg="new">
        <pc:chgData name="preethikamanojkumar@gmail.com" userId="017f5ecdfabc2573" providerId="LiveId" clId="{D700046B-531D-4CCD-A8AA-6F142169C4EA}" dt="2026-07-20T05:33:57.089" v="6" actId="680"/>
        <pc:sldMkLst>
          <pc:docMk/>
          <pc:sldMk cId="3394836698" sldId="273"/>
        </pc:sldMkLst>
      </pc:sldChg>
      <pc:sldChg chg="new">
        <pc:chgData name="preethikamanojkumar@gmail.com" userId="017f5ecdfabc2573" providerId="LiveId" clId="{D700046B-531D-4CCD-A8AA-6F142169C4EA}" dt="2026-07-20T05:33:57.120" v="7" actId="680"/>
        <pc:sldMkLst>
          <pc:docMk/>
          <pc:sldMk cId="2291267551" sldId="274"/>
        </pc:sldMkLst>
      </pc:sldChg>
      <pc:sldChg chg="new">
        <pc:chgData name="preethikamanojkumar@gmail.com" userId="017f5ecdfabc2573" providerId="LiveId" clId="{D700046B-531D-4CCD-A8AA-6F142169C4EA}" dt="2026-07-20T05:33:57.144" v="8" actId="680"/>
        <pc:sldMkLst>
          <pc:docMk/>
          <pc:sldMk cId="508275420" sldId="275"/>
        </pc:sldMkLst>
      </pc:sldChg>
      <pc:sldChg chg="new">
        <pc:chgData name="preethikamanojkumar@gmail.com" userId="017f5ecdfabc2573" providerId="LiveId" clId="{D700046B-531D-4CCD-A8AA-6F142169C4EA}" dt="2026-07-20T05:33:57.170" v="9" actId="680"/>
        <pc:sldMkLst>
          <pc:docMk/>
          <pc:sldMk cId="1599344547" sldId="276"/>
        </pc:sldMkLst>
      </pc:sldChg>
      <pc:sldChg chg="new">
        <pc:chgData name="preethikamanojkumar@gmail.com" userId="017f5ecdfabc2573" providerId="LiveId" clId="{D700046B-531D-4CCD-A8AA-6F142169C4EA}" dt="2026-07-20T05:33:57.194" v="10" actId="680"/>
        <pc:sldMkLst>
          <pc:docMk/>
          <pc:sldMk cId="356359180" sldId="277"/>
        </pc:sldMkLst>
      </pc:sldChg>
      <pc:sldChg chg="new">
        <pc:chgData name="preethikamanojkumar@gmail.com" userId="017f5ecdfabc2573" providerId="LiveId" clId="{D700046B-531D-4CCD-A8AA-6F142169C4EA}" dt="2026-07-20T05:33:57.218" v="11" actId="680"/>
        <pc:sldMkLst>
          <pc:docMk/>
          <pc:sldMk cId="1063885961" sldId="278"/>
        </pc:sldMkLst>
      </pc:sldChg>
      <pc:sldChg chg="new">
        <pc:chgData name="preethikamanojkumar@gmail.com" userId="017f5ecdfabc2573" providerId="LiveId" clId="{D700046B-531D-4CCD-A8AA-6F142169C4EA}" dt="2026-07-20T05:33:57.239" v="12" actId="680"/>
        <pc:sldMkLst>
          <pc:docMk/>
          <pc:sldMk cId="3670223489" sldId="279"/>
        </pc:sldMkLst>
      </pc:sldChg>
      <pc:sldChg chg="new">
        <pc:chgData name="preethikamanojkumar@gmail.com" userId="017f5ecdfabc2573" providerId="LiveId" clId="{D700046B-531D-4CCD-A8AA-6F142169C4EA}" dt="2026-07-20T05:33:57.264" v="13" actId="680"/>
        <pc:sldMkLst>
          <pc:docMk/>
          <pc:sldMk cId="1225247327" sldId="280"/>
        </pc:sldMkLst>
      </pc:sldChg>
      <pc:sldChg chg="new">
        <pc:chgData name="preethikamanojkumar@gmail.com" userId="017f5ecdfabc2573" providerId="LiveId" clId="{D700046B-531D-4CCD-A8AA-6F142169C4EA}" dt="2026-07-20T05:33:57.284" v="14" actId="680"/>
        <pc:sldMkLst>
          <pc:docMk/>
          <pc:sldMk cId="4225719857" sldId="281"/>
        </pc:sldMkLst>
      </pc:sldChg>
      <pc:sldChg chg="new">
        <pc:chgData name="preethikamanojkumar@gmail.com" userId="017f5ecdfabc2573" providerId="LiveId" clId="{D700046B-531D-4CCD-A8AA-6F142169C4EA}" dt="2026-07-20T05:33:57.306" v="15" actId="680"/>
        <pc:sldMkLst>
          <pc:docMk/>
          <pc:sldMk cId="361348199" sldId="282"/>
        </pc:sldMkLst>
      </pc:sldChg>
      <pc:sldChg chg="new">
        <pc:chgData name="preethikamanojkumar@gmail.com" userId="017f5ecdfabc2573" providerId="LiveId" clId="{D700046B-531D-4CCD-A8AA-6F142169C4EA}" dt="2026-07-20T05:33:57.337" v="16" actId="680"/>
        <pc:sldMkLst>
          <pc:docMk/>
          <pc:sldMk cId="742287927" sldId="283"/>
        </pc:sldMkLst>
      </pc:sldChg>
      <pc:sldChg chg="new">
        <pc:chgData name="preethikamanojkumar@gmail.com" userId="017f5ecdfabc2573" providerId="LiveId" clId="{D700046B-531D-4CCD-A8AA-6F142169C4EA}" dt="2026-07-20T05:33:57.836" v="17" actId="680"/>
        <pc:sldMkLst>
          <pc:docMk/>
          <pc:sldMk cId="771870688" sldId="284"/>
        </pc:sldMkLst>
      </pc:sldChg>
      <pc:sldChg chg="new">
        <pc:chgData name="preethikamanojkumar@gmail.com" userId="017f5ecdfabc2573" providerId="LiveId" clId="{D700046B-531D-4CCD-A8AA-6F142169C4EA}" dt="2026-07-20T05:33:57.883" v="18" actId="680"/>
        <pc:sldMkLst>
          <pc:docMk/>
          <pc:sldMk cId="2335686005" sldId="285"/>
        </pc:sldMkLst>
      </pc:sldChg>
      <pc:sldChg chg="new">
        <pc:chgData name="preethikamanojkumar@gmail.com" userId="017f5ecdfabc2573" providerId="LiveId" clId="{D700046B-531D-4CCD-A8AA-6F142169C4EA}" dt="2026-07-20T05:33:57.921" v="19" actId="680"/>
        <pc:sldMkLst>
          <pc:docMk/>
          <pc:sldMk cId="1411681950" sldId="286"/>
        </pc:sldMkLst>
      </pc:sldChg>
      <pc:sldChg chg="new">
        <pc:chgData name="preethikamanojkumar@gmail.com" userId="017f5ecdfabc2573" providerId="LiveId" clId="{D700046B-531D-4CCD-A8AA-6F142169C4EA}" dt="2026-07-20T05:33:57.954" v="20" actId="680"/>
        <pc:sldMkLst>
          <pc:docMk/>
          <pc:sldMk cId="1940986877" sldId="287"/>
        </pc:sldMkLst>
      </pc:sldChg>
      <pc:sldChg chg="new">
        <pc:chgData name="preethikamanojkumar@gmail.com" userId="017f5ecdfabc2573" providerId="LiveId" clId="{D700046B-531D-4CCD-A8AA-6F142169C4EA}" dt="2026-07-20T05:33:57.987" v="21" actId="680"/>
        <pc:sldMkLst>
          <pc:docMk/>
          <pc:sldMk cId="1405589757" sldId="288"/>
        </pc:sldMkLst>
      </pc:sldChg>
      <pc:sldChg chg="new">
        <pc:chgData name="preethikamanojkumar@gmail.com" userId="017f5ecdfabc2573" providerId="LiveId" clId="{D700046B-531D-4CCD-A8AA-6F142169C4EA}" dt="2026-07-20T05:33:58.018" v="22" actId="680"/>
        <pc:sldMkLst>
          <pc:docMk/>
          <pc:sldMk cId="3566551498" sldId="289"/>
        </pc:sldMkLst>
      </pc:sldChg>
      <pc:sldChg chg="new">
        <pc:chgData name="preethikamanojkumar@gmail.com" userId="017f5ecdfabc2573" providerId="LiveId" clId="{D700046B-531D-4CCD-A8AA-6F142169C4EA}" dt="2026-07-20T05:33:58.051" v="23" actId="680"/>
        <pc:sldMkLst>
          <pc:docMk/>
          <pc:sldMk cId="3952963331" sldId="290"/>
        </pc:sldMkLst>
      </pc:sldChg>
      <pc:sldChg chg="new">
        <pc:chgData name="preethikamanojkumar@gmail.com" userId="017f5ecdfabc2573" providerId="LiveId" clId="{D700046B-531D-4CCD-A8AA-6F142169C4EA}" dt="2026-07-20T05:33:58.085" v="24" actId="680"/>
        <pc:sldMkLst>
          <pc:docMk/>
          <pc:sldMk cId="6972643" sldId="291"/>
        </pc:sldMkLst>
      </pc:sldChg>
      <pc:sldChg chg="new">
        <pc:chgData name="preethikamanojkumar@gmail.com" userId="017f5ecdfabc2573" providerId="LiveId" clId="{D700046B-531D-4CCD-A8AA-6F142169C4EA}" dt="2026-07-20T05:33:58.123" v="25" actId="680"/>
        <pc:sldMkLst>
          <pc:docMk/>
          <pc:sldMk cId="2437503743" sldId="292"/>
        </pc:sldMkLst>
      </pc:sldChg>
      <pc:sldChg chg="new">
        <pc:chgData name="preethikamanojkumar@gmail.com" userId="017f5ecdfabc2573" providerId="LiveId" clId="{D700046B-531D-4CCD-A8AA-6F142169C4EA}" dt="2026-07-20T05:33:58.144" v="26" actId="680"/>
        <pc:sldMkLst>
          <pc:docMk/>
          <pc:sldMk cId="1237139207" sldId="293"/>
        </pc:sldMkLst>
      </pc:sldChg>
      <pc:sldChg chg="new">
        <pc:chgData name="preethikamanojkumar@gmail.com" userId="017f5ecdfabc2573" providerId="LiveId" clId="{D700046B-531D-4CCD-A8AA-6F142169C4EA}" dt="2026-07-20T05:33:58.173" v="27" actId="680"/>
        <pc:sldMkLst>
          <pc:docMk/>
          <pc:sldMk cId="1192606318" sldId="294"/>
        </pc:sldMkLst>
      </pc:sldChg>
      <pc:sldChg chg="new">
        <pc:chgData name="preethikamanojkumar@gmail.com" userId="017f5ecdfabc2573" providerId="LiveId" clId="{D700046B-531D-4CCD-A8AA-6F142169C4EA}" dt="2026-07-20T05:33:58.195" v="28" actId="680"/>
        <pc:sldMkLst>
          <pc:docMk/>
          <pc:sldMk cId="2718337504" sldId="295"/>
        </pc:sldMkLst>
      </pc:sldChg>
      <pc:sldChg chg="new">
        <pc:chgData name="preethikamanojkumar@gmail.com" userId="017f5ecdfabc2573" providerId="LiveId" clId="{D700046B-531D-4CCD-A8AA-6F142169C4EA}" dt="2026-07-20T05:33:58.223" v="29" actId="680"/>
        <pc:sldMkLst>
          <pc:docMk/>
          <pc:sldMk cId="1989135218" sldId="296"/>
        </pc:sldMkLst>
      </pc:sldChg>
      <pc:sldChg chg="new">
        <pc:chgData name="preethikamanojkumar@gmail.com" userId="017f5ecdfabc2573" providerId="LiveId" clId="{D700046B-531D-4CCD-A8AA-6F142169C4EA}" dt="2026-07-20T05:33:58.265" v="30" actId="680"/>
        <pc:sldMkLst>
          <pc:docMk/>
          <pc:sldMk cId="3500564083" sldId="297"/>
        </pc:sldMkLst>
      </pc:sldChg>
      <pc:sldChg chg="new">
        <pc:chgData name="preethikamanojkumar@gmail.com" userId="017f5ecdfabc2573" providerId="LiveId" clId="{D700046B-531D-4CCD-A8AA-6F142169C4EA}" dt="2026-07-20T05:33:58.288" v="31" actId="680"/>
        <pc:sldMkLst>
          <pc:docMk/>
          <pc:sldMk cId="1294362235" sldId="298"/>
        </pc:sldMkLst>
      </pc:sldChg>
      <pc:sldChg chg="new">
        <pc:chgData name="preethikamanojkumar@gmail.com" userId="017f5ecdfabc2573" providerId="LiveId" clId="{D700046B-531D-4CCD-A8AA-6F142169C4EA}" dt="2026-07-20T05:33:58.322" v="32" actId="680"/>
        <pc:sldMkLst>
          <pc:docMk/>
          <pc:sldMk cId="1074790308" sldId="299"/>
        </pc:sldMkLst>
      </pc:sldChg>
      <pc:sldChg chg="new">
        <pc:chgData name="preethikamanojkumar@gmail.com" userId="017f5ecdfabc2573" providerId="LiveId" clId="{D700046B-531D-4CCD-A8AA-6F142169C4EA}" dt="2026-07-20T05:33:58.354" v="33" actId="680"/>
        <pc:sldMkLst>
          <pc:docMk/>
          <pc:sldMk cId="4060974579" sldId="300"/>
        </pc:sldMkLst>
      </pc:sldChg>
      <pc:sldChg chg="new">
        <pc:chgData name="preethikamanojkumar@gmail.com" userId="017f5ecdfabc2573" providerId="LiveId" clId="{D700046B-531D-4CCD-A8AA-6F142169C4EA}" dt="2026-07-20T05:33:58.385" v="34" actId="680"/>
        <pc:sldMkLst>
          <pc:docMk/>
          <pc:sldMk cId="1694519109" sldId="301"/>
        </pc:sldMkLst>
      </pc:sldChg>
      <pc:sldChg chg="new">
        <pc:chgData name="preethikamanojkumar@gmail.com" userId="017f5ecdfabc2573" providerId="LiveId" clId="{D700046B-531D-4CCD-A8AA-6F142169C4EA}" dt="2026-07-20T05:33:58.421" v="35" actId="680"/>
        <pc:sldMkLst>
          <pc:docMk/>
          <pc:sldMk cId="1244317956" sldId="302"/>
        </pc:sldMkLst>
      </pc:sldChg>
      <pc:sldChg chg="new">
        <pc:chgData name="preethikamanojkumar@gmail.com" userId="017f5ecdfabc2573" providerId="LiveId" clId="{D700046B-531D-4CCD-A8AA-6F142169C4EA}" dt="2026-07-20T05:33:58.454" v="36" actId="680"/>
        <pc:sldMkLst>
          <pc:docMk/>
          <pc:sldMk cId="4097905432" sldId="303"/>
        </pc:sldMkLst>
      </pc:sldChg>
      <pc:sldChg chg="new">
        <pc:chgData name="preethikamanojkumar@gmail.com" userId="017f5ecdfabc2573" providerId="LiveId" clId="{D700046B-531D-4CCD-A8AA-6F142169C4EA}" dt="2026-07-20T05:33:58.487" v="37" actId="680"/>
        <pc:sldMkLst>
          <pc:docMk/>
          <pc:sldMk cId="3797640017" sldId="304"/>
        </pc:sldMkLst>
      </pc:sldChg>
      <pc:sldChg chg="new">
        <pc:chgData name="preethikamanojkumar@gmail.com" userId="017f5ecdfabc2573" providerId="LiveId" clId="{D700046B-531D-4CCD-A8AA-6F142169C4EA}" dt="2026-07-20T05:33:58.517" v="38" actId="680"/>
        <pc:sldMkLst>
          <pc:docMk/>
          <pc:sldMk cId="2132968669" sldId="305"/>
        </pc:sldMkLst>
      </pc:sldChg>
      <pc:sldChg chg="new">
        <pc:chgData name="preethikamanojkumar@gmail.com" userId="017f5ecdfabc2573" providerId="LiveId" clId="{D700046B-531D-4CCD-A8AA-6F142169C4EA}" dt="2026-07-20T05:33:58.570" v="39" actId="680"/>
        <pc:sldMkLst>
          <pc:docMk/>
          <pc:sldMk cId="1203699074" sldId="306"/>
        </pc:sldMkLst>
      </pc:sldChg>
      <pc:sldChg chg="new">
        <pc:chgData name="preethikamanojkumar@gmail.com" userId="017f5ecdfabc2573" providerId="LiveId" clId="{D700046B-531D-4CCD-A8AA-6F142169C4EA}" dt="2026-07-20T05:33:58.605" v="40" actId="680"/>
        <pc:sldMkLst>
          <pc:docMk/>
          <pc:sldMk cId="3669433311" sldId="307"/>
        </pc:sldMkLst>
      </pc:sldChg>
      <pc:sldChg chg="new">
        <pc:chgData name="preethikamanojkumar@gmail.com" userId="017f5ecdfabc2573" providerId="LiveId" clId="{D700046B-531D-4CCD-A8AA-6F142169C4EA}" dt="2026-07-20T05:33:58.628" v="41" actId="680"/>
        <pc:sldMkLst>
          <pc:docMk/>
          <pc:sldMk cId="3314651342" sldId="308"/>
        </pc:sldMkLst>
      </pc:sldChg>
      <pc:sldChg chg="new">
        <pc:chgData name="preethikamanojkumar@gmail.com" userId="017f5ecdfabc2573" providerId="LiveId" clId="{D700046B-531D-4CCD-A8AA-6F142169C4EA}" dt="2026-07-20T05:33:58.652" v="42" actId="680"/>
        <pc:sldMkLst>
          <pc:docMk/>
          <pc:sldMk cId="1364688082" sldId="309"/>
        </pc:sldMkLst>
      </pc:sldChg>
      <pc:sldChg chg="new">
        <pc:chgData name="preethikamanojkumar@gmail.com" userId="017f5ecdfabc2573" providerId="LiveId" clId="{D700046B-531D-4CCD-A8AA-6F142169C4EA}" dt="2026-07-20T05:33:58.682" v="43" actId="680"/>
        <pc:sldMkLst>
          <pc:docMk/>
          <pc:sldMk cId="4039562420" sldId="310"/>
        </pc:sldMkLst>
      </pc:sldChg>
      <pc:sldChg chg="new">
        <pc:chgData name="preethikamanojkumar@gmail.com" userId="017f5ecdfabc2573" providerId="LiveId" clId="{D700046B-531D-4CCD-A8AA-6F142169C4EA}" dt="2026-07-20T05:33:58.705" v="44" actId="680"/>
        <pc:sldMkLst>
          <pc:docMk/>
          <pc:sldMk cId="2992336578" sldId="311"/>
        </pc:sldMkLst>
      </pc:sldChg>
      <pc:sldChg chg="new">
        <pc:chgData name="preethikamanojkumar@gmail.com" userId="017f5ecdfabc2573" providerId="LiveId" clId="{D700046B-531D-4CCD-A8AA-6F142169C4EA}" dt="2026-07-20T05:33:58.755" v="45" actId="680"/>
        <pc:sldMkLst>
          <pc:docMk/>
          <pc:sldMk cId="2009595657" sldId="312"/>
        </pc:sldMkLst>
      </pc:sldChg>
      <pc:sldChg chg="new">
        <pc:chgData name="preethikamanojkumar@gmail.com" userId="017f5ecdfabc2573" providerId="LiveId" clId="{D700046B-531D-4CCD-A8AA-6F142169C4EA}" dt="2026-07-20T05:33:58.794" v="46" actId="680"/>
        <pc:sldMkLst>
          <pc:docMk/>
          <pc:sldMk cId="2956489492" sldId="313"/>
        </pc:sldMkLst>
      </pc:sldChg>
      <pc:sldChg chg="new">
        <pc:chgData name="preethikamanojkumar@gmail.com" userId="017f5ecdfabc2573" providerId="LiveId" clId="{D700046B-531D-4CCD-A8AA-6F142169C4EA}" dt="2026-07-20T05:33:58.824" v="47" actId="680"/>
        <pc:sldMkLst>
          <pc:docMk/>
          <pc:sldMk cId="2265193893" sldId="314"/>
        </pc:sldMkLst>
      </pc:sldChg>
      <pc:sldChg chg="new">
        <pc:chgData name="preethikamanojkumar@gmail.com" userId="017f5ecdfabc2573" providerId="LiveId" clId="{D700046B-531D-4CCD-A8AA-6F142169C4EA}" dt="2026-07-20T05:33:58.848" v="48" actId="680"/>
        <pc:sldMkLst>
          <pc:docMk/>
          <pc:sldMk cId="4061866698" sldId="315"/>
        </pc:sldMkLst>
      </pc:sldChg>
      <pc:sldChg chg="new">
        <pc:chgData name="preethikamanojkumar@gmail.com" userId="017f5ecdfabc2573" providerId="LiveId" clId="{D700046B-531D-4CCD-A8AA-6F142169C4EA}" dt="2026-07-20T05:33:58.876" v="49" actId="680"/>
        <pc:sldMkLst>
          <pc:docMk/>
          <pc:sldMk cId="1382339359" sldId="316"/>
        </pc:sldMkLst>
      </pc:sldChg>
      <pc:sldChg chg="new">
        <pc:chgData name="preethikamanojkumar@gmail.com" userId="017f5ecdfabc2573" providerId="LiveId" clId="{D700046B-531D-4CCD-A8AA-6F142169C4EA}" dt="2026-07-20T05:33:58.910" v="50" actId="680"/>
        <pc:sldMkLst>
          <pc:docMk/>
          <pc:sldMk cId="2051241788" sldId="317"/>
        </pc:sldMkLst>
      </pc:sldChg>
      <pc:sldChg chg="new">
        <pc:chgData name="preethikamanojkumar@gmail.com" userId="017f5ecdfabc2573" providerId="LiveId" clId="{D700046B-531D-4CCD-A8AA-6F142169C4EA}" dt="2026-07-20T05:33:58.954" v="51" actId="680"/>
        <pc:sldMkLst>
          <pc:docMk/>
          <pc:sldMk cId="534620998" sldId="318"/>
        </pc:sldMkLst>
      </pc:sldChg>
      <pc:sldChg chg="new">
        <pc:chgData name="preethikamanojkumar@gmail.com" userId="017f5ecdfabc2573" providerId="LiveId" clId="{D700046B-531D-4CCD-A8AA-6F142169C4EA}" dt="2026-07-20T05:33:58.988" v="52" actId="680"/>
        <pc:sldMkLst>
          <pc:docMk/>
          <pc:sldMk cId="3989326999" sldId="319"/>
        </pc:sldMkLst>
      </pc:sldChg>
      <pc:sldChg chg="new">
        <pc:chgData name="preethikamanojkumar@gmail.com" userId="017f5ecdfabc2573" providerId="LiveId" clId="{D700046B-531D-4CCD-A8AA-6F142169C4EA}" dt="2026-07-20T05:33:59.037" v="53" actId="680"/>
        <pc:sldMkLst>
          <pc:docMk/>
          <pc:sldMk cId="1045254935" sldId="320"/>
        </pc:sldMkLst>
      </pc:sldChg>
      <pc:sldChg chg="new">
        <pc:chgData name="preethikamanojkumar@gmail.com" userId="017f5ecdfabc2573" providerId="LiveId" clId="{D700046B-531D-4CCD-A8AA-6F142169C4EA}" dt="2026-07-20T05:33:59.076" v="54" actId="680"/>
        <pc:sldMkLst>
          <pc:docMk/>
          <pc:sldMk cId="3891981993" sldId="321"/>
        </pc:sldMkLst>
      </pc:sldChg>
      <pc:sldChg chg="new">
        <pc:chgData name="preethikamanojkumar@gmail.com" userId="017f5ecdfabc2573" providerId="LiveId" clId="{D700046B-531D-4CCD-A8AA-6F142169C4EA}" dt="2026-07-20T05:33:59.101" v="55" actId="680"/>
        <pc:sldMkLst>
          <pc:docMk/>
          <pc:sldMk cId="1787437018" sldId="322"/>
        </pc:sldMkLst>
      </pc:sldChg>
      <pc:sldChg chg="new">
        <pc:chgData name="preethikamanojkumar@gmail.com" userId="017f5ecdfabc2573" providerId="LiveId" clId="{D700046B-531D-4CCD-A8AA-6F142169C4EA}" dt="2026-07-20T05:33:59.134" v="56" actId="680"/>
        <pc:sldMkLst>
          <pc:docMk/>
          <pc:sldMk cId="966793144"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a:t>
            </a:fld>
            <a:endParaRPr lang="zh-CN" altLang="en-US" sz="1200">
              <a:latin typeface="Calibri" charset="0"/>
              <a:ea typeface="等线" charset="0"/>
              <a:cs typeface="Calibri" charset="0"/>
            </a:endParaRPr>
          </a:p>
        </p:txBody>
      </p:sp>
      <p:sp>
        <p:nvSpPr>
          <p:cNvPr id="3" name="Text box"/>
          <p:cNvSpPr>
            <a:spLocks noGrp="1"/>
          </p:cNvSpPr>
          <p:nvPr>
            <p:ph type="hdr"/>
          </p:nvPr>
        </p:nvSpPr>
        <p:spPr>
          <a:xfrm>
            <a:off x="0" y="0"/>
            <a:ext cx="2971799"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l"/>
            <a:endParaRPr lang="zh-CN" altLang="en-US" sz="1200">
              <a:latin typeface="Calibri" charset="0"/>
              <a:ea typeface="等线" charset="0"/>
              <a:cs typeface="Calibri" charset="0"/>
            </a:endParaRPr>
          </a:p>
        </p:txBody>
      </p:sp>
      <p:sp>
        <p:nvSpPr>
          <p:cNvPr id="4" name="Text box"/>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fld id="{CAD2D6BD-DE1B-4B5F-8B41-2702339687B9}" type="datetime1">
              <a:rPr lang="en-US" altLang="zh-CN" sz="1200">
                <a:latin typeface="Calibri" charset="0"/>
                <a:ea typeface="等线" charset="0"/>
                <a:cs typeface="Calibri" charset="0"/>
              </a:rPr>
              <a:t>7/20/2026</a:t>
            </a:fld>
            <a:endParaRPr lang="zh-CN" altLang="en-US" sz="1200">
              <a:latin typeface="Calibri" charset="0"/>
              <a:ea typeface="等线" charset="0"/>
              <a:cs typeface="Calibri" charset="0"/>
            </a:endParaRPr>
          </a:p>
        </p:txBody>
      </p:sp>
      <p:sp>
        <p:nvSpPr>
          <p:cNvPr id="5" name="Object"/>
          <p:cNvSpPr>
            <a:spLocks noGrp="1" noRot="1" noChangeAspect="1"/>
          </p:cNvSpPr>
          <p:nvPr>
            <p:ph type="sldImg" idx="2"/>
          </p:nvPr>
        </p:nvSpPr>
        <p:spPr>
          <a:xfrm>
            <a:off x="685800" y="1143000"/>
            <a:ext cx="5486400" cy="3086100"/>
          </a:xfrm>
          <a:prstGeom prst="rect">
            <a:avLst/>
          </a:prstGeom>
          <a:noFill/>
          <a:ln w="12700" cap="flat" cmpd="sng">
            <a:solidFill>
              <a:srgbClr val="000000"/>
            </a:solidFill>
            <a:prstDash val="solid"/>
            <a:round/>
          </a:ln>
        </p:spPr>
      </p:sp>
      <p:sp>
        <p:nvSpPr>
          <p:cNvPr id="6" name="Text box"/>
          <p:cNvSpPr>
            <a:spLocks noGrp="1"/>
          </p:cNvSpPr>
          <p:nvPr>
            <p:ph type="body" idx="3"/>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Text box"/>
          <p:cNvSpPr>
            <a:spLocks noGrp="1"/>
          </p:cNvSpPr>
          <p:nvPr>
            <p:ph type="ftr" idx="4"/>
          </p:nvPr>
        </p:nvSpPr>
        <p:spPr>
          <a:xfrm>
            <a:off x="0" y="8685213"/>
            <a:ext cx="2971799"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l"/>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1050629636"/>
      </p:ext>
    </p:extLst>
  </p:cSld>
  <p:clrMap bg1="lt1" tx1="dk1" bg2="lt2" tx2="dk2" accent1="accent1" accent2="accent2" accent3="accent3" accent4="accent4" accent5="accent5" accent6="accent6" hlink="hlink" folHlink="folHlink"/>
  <p:hf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1</a:t>
            </a:fld>
            <a:endParaRPr lang="zh-CN" altLang="en-US" sz="1200">
              <a:latin typeface="Calibri" charset="0"/>
              <a:ea typeface="等线" charset="0"/>
              <a:cs typeface="Calibri" charset="0"/>
            </a:endParaRPr>
          </a:p>
        </p:txBody>
      </p:sp>
      <p:sp>
        <p:nvSpPr>
          <p:cNvPr id="33" name="Rectangle"/>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1</a:t>
            </a:fld>
            <a:endParaRPr lang="zh-CN" altLang="en-US" sz="1200">
              <a:latin typeface="Calibri" charset="0"/>
              <a:ea typeface="等线" charset="0"/>
              <a:cs typeface="Calibri" charset="0"/>
            </a:endParaRPr>
          </a:p>
        </p:txBody>
      </p:sp>
      <p:sp>
        <p:nvSpPr>
          <p:cNvPr id="34"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35"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Good morning everyone. Today's technical presentation covers Cryptography and Network Security, organized into two major topics: first, Security Attacks, Threats, Risks, and their impact on core security goals; and second, a comparison between Steganography and Cryptography as two different approaches to hiding and protecting information. Before we begin, let me briefly introduce myself and the academic context of this presentation, including my department and institution. Over the next several slides, we will explore fundamental concepts, real-world examples, and a professional comparison of these two important security techniques used across industries today.</a:t>
            </a:r>
            <a:endParaRPr lang="zh-CN" altLang="en-US"/>
          </a:p>
        </p:txBody>
      </p:sp>
      <p:sp>
        <p:nvSpPr>
          <p:cNvPr id="36" name="Rectangle"/>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charset="0"/>
              </a:rPr>
              <a:t>1</a:t>
            </a:fld>
            <a:endParaRPr lang="zh-CN" altLang="en-US"/>
          </a:p>
        </p:txBody>
      </p:sp>
    </p:spTree>
    <p:extLst>
      <p:ext uri="{BB962C8B-B14F-4D97-AF65-F5344CB8AC3E}">
        <p14:creationId xmlns:p14="http://schemas.microsoft.com/office/powerpoint/2010/main" val="1175615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2</a:t>
            </a:fld>
            <a:endParaRPr lang="zh-CN" altLang="en-US" sz="1200">
              <a:latin typeface="Calibri" charset="0"/>
              <a:ea typeface="等线" charset="0"/>
              <a:cs typeface="Calibri" charset="0"/>
            </a:endParaRPr>
          </a:p>
        </p:txBody>
      </p:sp>
      <p:sp>
        <p:nvSpPr>
          <p:cNvPr id="47" name="Rectangle"/>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2</a:t>
            </a:fld>
            <a:endParaRPr lang="zh-CN" altLang="en-US" sz="1200">
              <a:latin typeface="Calibri" charset="0"/>
              <a:ea typeface="等线" charset="0"/>
              <a:cs typeface="Calibri" charset="0"/>
            </a:endParaRPr>
          </a:p>
        </p:txBody>
      </p:sp>
      <p:sp>
        <p:nvSpPr>
          <p:cNvPr id="48"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49"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Information security, often called InfoSec, is the practice of protecting information and information systems from unauthorized access, use, disclosure, disruption, modification, or destruction. It rests on three key pillars: people, processes, and technology, all working together to safeguard data. This applies whether data is stored, being transmitted across a network, or actively being processed. With the explosion of digital banking, online shopping, electronic health records, and billions of connected IoT devices, information security has become absolutely critical. International frameworks like ISO 27001 and NIST guidelines help organizations build structured, layered defenses, which is the visual concept shown on the right — protection built in multiple layers around the most critical assets.</a:t>
            </a:r>
            <a:endParaRPr lang="zh-CN" altLang="en-US"/>
          </a:p>
        </p:txBody>
      </p:sp>
      <p:sp>
        <p:nvSpPr>
          <p:cNvPr id="50" name="Rectangle"/>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charset="0"/>
              </a:rPr>
              <a:t>2</a:t>
            </a:fld>
            <a:endParaRPr lang="zh-CN" altLang="en-US"/>
          </a:p>
        </p:txBody>
      </p:sp>
    </p:spTree>
    <p:extLst>
      <p:ext uri="{BB962C8B-B14F-4D97-AF65-F5344CB8AC3E}">
        <p14:creationId xmlns:p14="http://schemas.microsoft.com/office/powerpoint/2010/main" val="1123202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56</a:t>
            </a:fld>
            <a:endParaRPr lang="zh-CN" altLang="en-US" sz="1200">
              <a:latin typeface="Calibri" charset="0"/>
              <a:ea typeface="等线" charset="0"/>
              <a:cs typeface="Calibri" charset="0"/>
            </a:endParaRPr>
          </a:p>
        </p:txBody>
      </p:sp>
      <p:sp>
        <p:nvSpPr>
          <p:cNvPr id="78" name="Rectangle"/>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56</a:t>
            </a:fld>
            <a:endParaRPr lang="zh-CN" altLang="en-US" sz="1200">
              <a:latin typeface="Calibri" charset="0"/>
              <a:ea typeface="等线" charset="0"/>
              <a:cs typeface="Calibri" charset="0"/>
            </a:endParaRPr>
          </a:p>
        </p:txBody>
      </p:sp>
      <p:sp>
        <p:nvSpPr>
          <p:cNvPr id="79"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80"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Security attacks are broadly classified into two categories. Passive attacks involve monitoring or eavesdropping on communication without altering the data itself — the attacker's goal is simply to gather information, such as through traffic analysis or wiretapping. These are difficult to detect because the data remains unchanged. Active attacks, on the other hand, involve actual modification of data or disruption of system operations — this includes masquerading as another user, replay attacks, denial-of-service attacks, and unauthorized modification of data. Active attacks are easier to detect but harder to prevent entirely. On the bottom, we see real-world examples: Wi-Fi eavesdropping is a classic passive attack, while DDoS attacks on web servers and session hijacking are active attacks that directly disrupt or compromise a system.</a:t>
            </a:r>
            <a:endParaRPr lang="zh-CN" altLang="en-US"/>
          </a:p>
        </p:txBody>
      </p:sp>
      <p:sp>
        <p:nvSpPr>
          <p:cNvPr id="81" name="Rectangle"/>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charset="0"/>
              </a:rPr>
              <a:t>56</a:t>
            </a:fld>
            <a:endParaRPr lang="zh-CN" altLang="en-US"/>
          </a:p>
        </p:txBody>
      </p:sp>
    </p:spTree>
    <p:extLst>
      <p:ext uri="{BB962C8B-B14F-4D97-AF65-F5344CB8AC3E}">
        <p14:creationId xmlns:p14="http://schemas.microsoft.com/office/powerpoint/2010/main" val="1746149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57</a:t>
            </a:fld>
            <a:endParaRPr lang="zh-CN" altLang="en-US" sz="1200">
              <a:latin typeface="Calibri" charset="0"/>
              <a:ea typeface="等线" charset="0"/>
              <a:cs typeface="Calibri" charset="0"/>
            </a:endParaRPr>
          </a:p>
        </p:txBody>
      </p:sp>
      <p:sp>
        <p:nvSpPr>
          <p:cNvPr id="110" name="Rectangle"/>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57</a:t>
            </a:fld>
            <a:endParaRPr lang="zh-CN" altLang="en-US" sz="1200">
              <a:latin typeface="Calibri" charset="0"/>
              <a:ea typeface="等线" charset="0"/>
              <a:cs typeface="Calibri" charset="0"/>
            </a:endParaRPr>
          </a:p>
        </p:txBody>
      </p:sp>
      <p:sp>
        <p:nvSpPr>
          <p:cNvPr id="111"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112"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This slide covers key threats and how organizations assess risk. Malware includes viruses, worms, trojans, and ransomware designed to damage or exploit systems. Phishing uses deceptive emails or messages to trick users into revealing sensitive credentials — it remains one of the most common attack vectors today. Insider threats come from employees or trusted individuals who misuse their authorized access, whether maliciously or accidentally. Risk assessment is the structured process of identifying, analyzing, and prioritizing these risks so organizations know where to focus their defenses first. At the bottom, we show a simplified risk formula: Risk equals Threat multiplied by Vulnerability multiplied by Impact — meaning the actual risk depends on how likely a threat is, how exposed the system is, and how severe the consequences would be.</a:t>
            </a:r>
            <a:endParaRPr lang="zh-CN" altLang="en-US"/>
          </a:p>
        </p:txBody>
      </p:sp>
      <p:sp>
        <p:nvSpPr>
          <p:cNvPr id="113" name="Rectangle"/>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charset="0"/>
              </a:rPr>
              <a:t>57</a:t>
            </a:fld>
            <a:endParaRPr lang="zh-CN" altLang="en-US"/>
          </a:p>
        </p:txBody>
      </p:sp>
    </p:spTree>
    <p:extLst>
      <p:ext uri="{BB962C8B-B14F-4D97-AF65-F5344CB8AC3E}">
        <p14:creationId xmlns:p14="http://schemas.microsoft.com/office/powerpoint/2010/main" val="2047580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58</a:t>
            </a:fld>
            <a:endParaRPr lang="zh-CN" altLang="en-US" sz="1200">
              <a:latin typeface="Calibri" charset="0"/>
              <a:ea typeface="等线" charset="0"/>
              <a:cs typeface="Calibri" charset="0"/>
            </a:endParaRPr>
          </a:p>
        </p:txBody>
      </p:sp>
      <p:sp>
        <p:nvSpPr>
          <p:cNvPr id="132" name="Rectangle"/>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58</a:t>
            </a:fld>
            <a:endParaRPr lang="zh-CN" altLang="en-US" sz="1200">
              <a:latin typeface="Calibri" charset="0"/>
              <a:ea typeface="等线" charset="0"/>
              <a:cs typeface="Calibri" charset="0"/>
            </a:endParaRPr>
          </a:p>
        </p:txBody>
      </p:sp>
      <p:sp>
        <p:nvSpPr>
          <p:cNvPr id="133"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134"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The core objectives of information security are best summarized by the CIA Triad, shown as a triangle diagram on the left. Confidentiality ensures that information is accessible only to those authorized to view it — protected using encryption and access controls. Integrity ensures data remains accurate and hasn't been tampered with, often verified using hash functions and checksums. Availability ensures that systems and data remain accessible to authorized users whenever needed, which is why organizations defend against denial-of-service attacks. Beyond the classic triad, two extended goals are equally important: Authentication, which verifies the identity of a user or system before granting access, and Non-Repudiation, which ensures that a sender cannot later deny having sent a message — typically enforced using digital signatures.</a:t>
            </a:r>
            <a:endParaRPr lang="zh-CN" altLang="en-US"/>
          </a:p>
        </p:txBody>
      </p:sp>
      <p:sp>
        <p:nvSpPr>
          <p:cNvPr id="135" name="Rectangle"/>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charset="0"/>
              </a:rPr>
              <a:t>58</a:t>
            </a:fld>
            <a:endParaRPr lang="zh-CN" altLang="en-US"/>
          </a:p>
        </p:txBody>
      </p:sp>
    </p:spTree>
    <p:extLst>
      <p:ext uri="{BB962C8B-B14F-4D97-AF65-F5344CB8AC3E}">
        <p14:creationId xmlns:p14="http://schemas.microsoft.com/office/powerpoint/2010/main" val="19239882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59</a:t>
            </a:fld>
            <a:endParaRPr lang="zh-CN" altLang="en-US" sz="1200">
              <a:latin typeface="Calibri" charset="0"/>
              <a:ea typeface="等线" charset="0"/>
              <a:cs typeface="Calibri" charset="0"/>
            </a:endParaRPr>
          </a:p>
        </p:txBody>
      </p:sp>
      <p:sp>
        <p:nvSpPr>
          <p:cNvPr id="165" name="Rectangle"/>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59</a:t>
            </a:fld>
            <a:endParaRPr lang="zh-CN" altLang="en-US" sz="1200">
              <a:latin typeface="Calibri" charset="0"/>
              <a:ea typeface="等线" charset="0"/>
              <a:cs typeface="Calibri" charset="0"/>
            </a:endParaRPr>
          </a:p>
        </p:txBody>
      </p:sp>
      <p:sp>
        <p:nvSpPr>
          <p:cNvPr id="166"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167"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To defend against the threats discussed earlier, organizations rely on several prevention techniques. Encryption converts readable data into unreadable ciphertext, protecting confidentiality even if data is intercepted. Firewalls filter incoming and outgoing network traffic based on defined security rules, acting as a barrier between trusted and untrusted networks. Intrusion Detection and Prevention Systems, or IDS and IPS, monitor network activity in real time to detect and block suspicious behavior. Multi-Factor Authentication strengthens identity verification by requiring two or more proofs of identity, such as a password plus an OTP. To ground this in reality, consider the WannaCry ransomware attack of 2017, which exploited an unpatched Windows vulnerability called EternalBlue, spreading to over 150 countries and encrypting files on more than 200,000 computers. This case study underscores why timely patching, firewalls, intrusion detection, and offline backups are essential prevention strategies.</a:t>
            </a:r>
            <a:endParaRPr lang="zh-CN" altLang="en-US"/>
          </a:p>
        </p:txBody>
      </p:sp>
      <p:sp>
        <p:nvSpPr>
          <p:cNvPr id="168" name="Rectangle"/>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charset="0"/>
              </a:rPr>
              <a:t>59</a:t>
            </a:fld>
            <a:endParaRPr lang="zh-CN" altLang="en-US"/>
          </a:p>
        </p:txBody>
      </p:sp>
    </p:spTree>
    <p:extLst>
      <p:ext uri="{BB962C8B-B14F-4D97-AF65-F5344CB8AC3E}">
        <p14:creationId xmlns:p14="http://schemas.microsoft.com/office/powerpoint/2010/main" val="1328537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60</a:t>
            </a:fld>
            <a:endParaRPr lang="zh-CN" altLang="en-US" sz="1200">
              <a:latin typeface="Calibri" charset="0"/>
              <a:ea typeface="等线" charset="0"/>
              <a:cs typeface="Calibri" charset="0"/>
            </a:endParaRPr>
          </a:p>
        </p:txBody>
      </p:sp>
      <p:sp>
        <p:nvSpPr>
          <p:cNvPr id="183" name="Rectangle"/>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60</a:t>
            </a:fld>
            <a:endParaRPr lang="zh-CN" altLang="en-US" sz="1200">
              <a:latin typeface="Calibri" charset="0"/>
              <a:ea typeface="等线" charset="0"/>
              <a:cs typeface="Calibri" charset="0"/>
            </a:endParaRPr>
          </a:p>
        </p:txBody>
      </p:sp>
      <p:sp>
        <p:nvSpPr>
          <p:cNvPr id="184"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185"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We now move to our second topic: Cryptography versus Steganography. Both are techniques used to protect information, but they take fundamentally different approaches. Cryptography is the science of transforming readable information, called plaintext, into an unreadable form called ciphertext, using mathematical algorithms and keys. It protects confidentiality, integrity, and authentication, but the presence of protected data is visible — anyone can see that encrypted data exists, even if they can't read it. Steganography, on the other hand, is the art of hiding the very existence of a secret message. Instead of scrambling the message, it conceals it inside another file — an image, audio clip, video, or even text — so that the cover file appears completely normal to an outside observer. Understanding both techniques, and how they complement each other, is essential for modern digital security.</a:t>
            </a:r>
            <a:endParaRPr lang="zh-CN" altLang="en-US"/>
          </a:p>
        </p:txBody>
      </p:sp>
      <p:sp>
        <p:nvSpPr>
          <p:cNvPr id="186" name="Rectangle"/>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charset="0"/>
              </a:rPr>
              <a:t>60</a:t>
            </a:fld>
            <a:endParaRPr lang="zh-CN" altLang="en-US"/>
          </a:p>
        </p:txBody>
      </p:sp>
    </p:spTree>
    <p:extLst>
      <p:ext uri="{BB962C8B-B14F-4D97-AF65-F5344CB8AC3E}">
        <p14:creationId xmlns:p14="http://schemas.microsoft.com/office/powerpoint/2010/main" val="612179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61</a:t>
            </a:fld>
            <a:endParaRPr lang="zh-CN" altLang="en-US" sz="1200">
              <a:latin typeface="Calibri" charset="0"/>
              <a:ea typeface="等线" charset="0"/>
              <a:cs typeface="Calibri" charset="0"/>
            </a:endParaRPr>
          </a:p>
        </p:txBody>
      </p:sp>
      <p:sp>
        <p:nvSpPr>
          <p:cNvPr id="222" name="Rectangle"/>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61</a:t>
            </a:fld>
            <a:endParaRPr lang="zh-CN" altLang="en-US" sz="1200">
              <a:latin typeface="Calibri" charset="0"/>
              <a:ea typeface="等线" charset="0"/>
              <a:cs typeface="Calibri" charset="0"/>
            </a:endParaRPr>
          </a:p>
        </p:txBody>
      </p:sp>
      <p:sp>
        <p:nvSpPr>
          <p:cNvPr id="223"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224"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Cryptography works through the process shown in this flow diagram: plaintext, the original readable message, is transformed through encryption using a key into ciphertext, an unreadable form. That ciphertext travels across the network, and at the receiving end, decryption using the appropriate key converts it back into the original plaintext. There are two major types of encryption. Symmetric encryption uses the same key for both encryption and decryption — it's fast and efficient for large volumes of data, with AES and DES being common examples, but distributing that shared key securely is a major challenge. Asymmetric encryption uses a mathematically linked public and private key pair — it's slower computationally, but elegantly solves the key distribution problem and enables digital signatures, with RSA and ECC being widely used examples. Together, these techniques power applications we use daily: online banking, HTTPS websites, VPNs, digital signatures, and secure email.</a:t>
            </a:r>
            <a:endParaRPr lang="zh-CN" altLang="en-US"/>
          </a:p>
        </p:txBody>
      </p:sp>
      <p:sp>
        <p:nvSpPr>
          <p:cNvPr id="225" name="Rectangle"/>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charset="0"/>
              </a:rPr>
              <a:t>61</a:t>
            </a:fld>
            <a:endParaRPr lang="zh-CN" altLang="en-US"/>
          </a:p>
        </p:txBody>
      </p:sp>
    </p:spTree>
    <p:extLst>
      <p:ext uri="{BB962C8B-B14F-4D97-AF65-F5344CB8AC3E}">
        <p14:creationId xmlns:p14="http://schemas.microsoft.com/office/powerpoint/2010/main" val="1019699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62</a:t>
            </a:fld>
            <a:endParaRPr lang="zh-CN" altLang="en-US" sz="1200">
              <a:latin typeface="Calibri" charset="0"/>
              <a:ea typeface="等线" charset="0"/>
              <a:cs typeface="Calibri" charset="0"/>
            </a:endParaRPr>
          </a:p>
        </p:txBody>
      </p:sp>
      <p:sp>
        <p:nvSpPr>
          <p:cNvPr id="270" name="Rectangle"/>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62</a:t>
            </a:fld>
            <a:endParaRPr lang="zh-CN" altLang="en-US" sz="1200">
              <a:latin typeface="Calibri" charset="0"/>
              <a:ea typeface="等线" charset="0"/>
              <a:cs typeface="Calibri" charset="0"/>
            </a:endParaRPr>
          </a:p>
        </p:txBody>
      </p:sp>
      <p:sp>
        <p:nvSpPr>
          <p:cNvPr id="271"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272"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Steganography can be implemented across multiple media types. Image steganography is the most common, typically hiding data within the least significant bits of pixel values so the change is imperceptible to the human eye. Audio steganography embeds secret data within the frequencies of an audio signal. Video steganography conceals data across the many frames of a video file, taking advantage of its large data capacity. Text steganography uses more subtle techniques like specific spacing, font variations, or word patterns to hide information within visible text. The working principle, shown in the flow diagram, is consistent across all types: we start with an ordinary cover file, embed the secret data using an embedding algorithm and often a key, producing a stego file that looks completely normal to any observer, and finally the intended recipient uses an extraction process to recover the hidden data.</a:t>
            </a:r>
            <a:endParaRPr lang="zh-CN" altLang="en-US"/>
          </a:p>
        </p:txBody>
      </p:sp>
      <p:sp>
        <p:nvSpPr>
          <p:cNvPr id="273" name="Rectangle"/>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charset="0"/>
              </a:rPr>
              <a:t>62</a:t>
            </a:fld>
            <a:endParaRPr lang="zh-CN" altLang="en-US"/>
          </a:p>
        </p:txBody>
      </p:sp>
    </p:spTree>
    <p:extLst>
      <p:ext uri="{BB962C8B-B14F-4D97-AF65-F5344CB8AC3E}">
        <p14:creationId xmlns:p14="http://schemas.microsoft.com/office/powerpoint/2010/main" val="279217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63</a:t>
            </a:fld>
            <a:endParaRPr lang="zh-CN" altLang="en-US" sz="1200">
              <a:latin typeface="Calibri" charset="0"/>
              <a:ea typeface="等线" charset="0"/>
              <a:cs typeface="Calibri" charset="0"/>
            </a:endParaRPr>
          </a:p>
        </p:txBody>
      </p:sp>
      <p:sp>
        <p:nvSpPr>
          <p:cNvPr id="279" name="Rectangle"/>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63</a:t>
            </a:fld>
            <a:endParaRPr lang="zh-CN" altLang="en-US" sz="1200">
              <a:latin typeface="Calibri" charset="0"/>
              <a:ea typeface="等线" charset="0"/>
              <a:cs typeface="Calibri" charset="0"/>
            </a:endParaRPr>
          </a:p>
        </p:txBody>
      </p:sp>
      <p:sp>
        <p:nvSpPr>
          <p:cNvPr id="280"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281"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This table gives a professional, side-by-side comparison of cryptography and steganography across seven key parameters. In terms of purpose, cryptography aims to make data unreadable to unauthorized users, while steganography aims to hide that the data even exists. Regarding visibility, ciphertext is visible but unreadable, whereas hidden steganographic data is completely invisible within a normal-looking cover file. Their security basis differs too: cryptography relies on the mathematical strength of the key, while steganography relies on the secrecy of the hiding method itself — once discovered, it offers little protection. In terms of speed, steganography is generally faster since it avoids heavy computation. Applications also differ: cryptography secures banking and HTTPS traffic, while steganography is used for covert communication, digital watermarking, and forensic investigations. Each has its own advantages and disadvantages, which is why in practice, the two are often combined for layered protection.</a:t>
            </a:r>
            <a:endParaRPr lang="zh-CN" altLang="en-US"/>
          </a:p>
        </p:txBody>
      </p:sp>
      <p:sp>
        <p:nvSpPr>
          <p:cNvPr id="282" name="Rectangle"/>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charset="0"/>
              </a:rPr>
              <a:t>63</a:t>
            </a:fld>
            <a:endParaRPr lang="zh-CN" altLang="en-US"/>
          </a:p>
        </p:txBody>
      </p:sp>
    </p:spTree>
    <p:extLst>
      <p:ext uri="{BB962C8B-B14F-4D97-AF65-F5344CB8AC3E}">
        <p14:creationId xmlns:p14="http://schemas.microsoft.com/office/powerpoint/2010/main" val="7382957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64</a:t>
            </a:fld>
            <a:endParaRPr lang="zh-CN" altLang="en-US" sz="1200">
              <a:latin typeface="Calibri" charset="0"/>
              <a:ea typeface="等线" charset="0"/>
              <a:cs typeface="Calibri" charset="0"/>
            </a:endParaRPr>
          </a:p>
        </p:txBody>
      </p:sp>
      <p:sp>
        <p:nvSpPr>
          <p:cNvPr id="317" name="Rectangle"/>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64</a:t>
            </a:fld>
            <a:endParaRPr lang="zh-CN" altLang="en-US" sz="1200">
              <a:latin typeface="Calibri" charset="0"/>
              <a:ea typeface="等线" charset="0"/>
              <a:cs typeface="Calibri" charset="0"/>
            </a:endParaRPr>
          </a:p>
        </p:txBody>
      </p:sp>
      <p:sp>
        <p:nvSpPr>
          <p:cNvPr id="318"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319"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Cryptography and steganography together power security across virtually every modern industry. In banking, they secure transactions and protect card data from interception. In healthcare, encryption protects sensitive patient records in compliance with regulations like HIPAA. Military applications rely on classified, encrypted communication and covert steganographic messaging for sensitive operations. Cloud security depends heavily on encrypting data both at rest on servers and in transit across networks. Digital forensics investigators use steganalysis techniques to detect hidden data during criminal investigations. And looking to the future, AI-powered security is an emerging frontier, using machine learning for anomaly detection, automated threat hunting, and even for detecting sophisticated steganographic content that traditional tools might miss. This convergence of classical cryptographic principles with modern AI represents the future scope of this field.</a:t>
            </a:r>
            <a:endParaRPr lang="zh-CN" altLang="en-US"/>
          </a:p>
        </p:txBody>
      </p:sp>
      <p:sp>
        <p:nvSpPr>
          <p:cNvPr id="320" name="Rectangle"/>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charset="0"/>
              </a:rPr>
              <a:t>64</a:t>
            </a:fld>
            <a:endParaRPr lang="zh-CN" altLang="en-US"/>
          </a:p>
        </p:txBody>
      </p:sp>
    </p:spTree>
    <p:extLst>
      <p:ext uri="{BB962C8B-B14F-4D97-AF65-F5344CB8AC3E}">
        <p14:creationId xmlns:p14="http://schemas.microsoft.com/office/powerpoint/2010/main" val="12431044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65</a:t>
            </a:fld>
            <a:endParaRPr lang="zh-CN" altLang="en-US" sz="1200">
              <a:latin typeface="Calibri" charset="0"/>
              <a:ea typeface="等线" charset="0"/>
              <a:cs typeface="Calibri" charset="0"/>
            </a:endParaRPr>
          </a:p>
        </p:txBody>
      </p:sp>
      <p:sp>
        <p:nvSpPr>
          <p:cNvPr id="326" name="Rectangle"/>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65</a:t>
            </a:fld>
            <a:endParaRPr lang="zh-CN" altLang="en-US" sz="1200">
              <a:latin typeface="Calibri" charset="0"/>
              <a:ea typeface="等线" charset="0"/>
              <a:cs typeface="Calibri" charset="0"/>
            </a:endParaRPr>
          </a:p>
        </p:txBody>
      </p:sp>
      <p:sp>
        <p:nvSpPr>
          <p:cNvPr id="327"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328"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Let's summarize the key takeaways from this presentation. Security attacks fall into two categories: passive attacks that eavesdrop without altering data, and active attacks that modify or disrupt systems. The CIA Triad — confidentiality, integrity, and availability — along with authentication and non-repudiation, form the foundational goals that every security system aims to achieve. Preventing attacks requires a combination of encryption, firewalls, intrusion detection and prevention systems, and multi-factor authentication working together. On our second topic, cryptography scrambles data to make it unreadable, while steganography hides the very existence of that data — these are complementary, not competing, techniques. Symmetric and asymmetric encryption each address different trade-offs between speed and secure key distribution. Ultimately, combining cryptography with steganography gives organizations layered, real-world-ready protection against an evolving threat landscape.</a:t>
            </a:r>
            <a:endParaRPr lang="zh-CN" altLang="en-US"/>
          </a:p>
        </p:txBody>
      </p:sp>
      <p:sp>
        <p:nvSpPr>
          <p:cNvPr id="329" name="Rectangle"/>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charset="0"/>
              </a:rPr>
              <a:t>65</a:t>
            </a:fld>
            <a:endParaRPr lang="zh-CN" altLang="en-US"/>
          </a:p>
        </p:txBody>
      </p:sp>
    </p:spTree>
    <p:extLst>
      <p:ext uri="{BB962C8B-B14F-4D97-AF65-F5344CB8AC3E}">
        <p14:creationId xmlns:p14="http://schemas.microsoft.com/office/powerpoint/2010/main" val="13350405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66</a:t>
            </a:fld>
            <a:endParaRPr lang="zh-CN" altLang="en-US" sz="1200">
              <a:latin typeface="Calibri" charset="0"/>
              <a:ea typeface="等线" charset="0"/>
              <a:cs typeface="Calibri" charset="0"/>
            </a:endParaRPr>
          </a:p>
        </p:txBody>
      </p:sp>
      <p:sp>
        <p:nvSpPr>
          <p:cNvPr id="339" name="Rectangle"/>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66</a:t>
            </a:fld>
            <a:endParaRPr lang="zh-CN" altLang="en-US" sz="1200">
              <a:latin typeface="Calibri" charset="0"/>
              <a:ea typeface="等线" charset="0"/>
              <a:cs typeface="Calibri" charset="0"/>
            </a:endParaRPr>
          </a:p>
        </p:txBody>
      </p:sp>
      <p:sp>
        <p:nvSpPr>
          <p:cNvPr id="340"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341"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In conclusion, modern digital systems face constant and evolving security attacks, threats, and risks that demand structured defenses guided by the CIA Triad and extended goals like authentication and non-repudiation. We've seen that cryptography and steganography represent two distinct but complementary approaches to protecting information — one scrambles data mathematically, the other conceals its very existence. Real-world incidents like the WannaCry ransomware attack prove that prevention techniques such as patching, encryption, firewalls, and multi-factor authentication are not optional extras but essential practices. Looking forward, the future of this field lies in integrating AI-driven detection and response with these classical cryptographic foundations. As the illustration suggests, security is best understood as a continuous process of vigilance and improvement, not a one-time product or checkbox.</a:t>
            </a:r>
            <a:endParaRPr lang="zh-CN" altLang="en-US"/>
          </a:p>
        </p:txBody>
      </p:sp>
      <p:sp>
        <p:nvSpPr>
          <p:cNvPr id="342" name="Rectangle"/>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charset="0"/>
              </a:rPr>
              <a:t>66</a:t>
            </a:fld>
            <a:endParaRPr lang="zh-CN" altLang="en-US"/>
          </a:p>
        </p:txBody>
      </p:sp>
    </p:spTree>
    <p:extLst>
      <p:ext uri="{BB962C8B-B14F-4D97-AF65-F5344CB8AC3E}">
        <p14:creationId xmlns:p14="http://schemas.microsoft.com/office/powerpoint/2010/main" val="19536666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67</a:t>
            </a:fld>
            <a:endParaRPr lang="zh-CN" altLang="en-US" sz="1200">
              <a:latin typeface="Calibri" charset="0"/>
              <a:ea typeface="等线" charset="0"/>
              <a:cs typeface="Calibri" charset="0"/>
            </a:endParaRPr>
          </a:p>
        </p:txBody>
      </p:sp>
      <p:sp>
        <p:nvSpPr>
          <p:cNvPr id="348" name="Rectangle"/>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67</a:t>
            </a:fld>
            <a:endParaRPr lang="zh-CN" altLang="en-US" sz="1200">
              <a:latin typeface="Calibri" charset="0"/>
              <a:ea typeface="等线" charset="0"/>
              <a:cs typeface="Calibri" charset="0"/>
            </a:endParaRPr>
          </a:p>
        </p:txBody>
      </p:sp>
      <p:sp>
        <p:nvSpPr>
          <p:cNvPr id="349"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350"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These are the academic and industry references that informed this presentation, following IEEE citation style. Our primary textbook reference is William Stallings' well-known text, Cryptography and Network Security: Principles and Practice. We've also drawn on official NIST Special Publications and Federal Information Processing Standards for server security and digital signature standards, Microsoft's official documentation on cryptography best practices, IEEE's peer-reviewed journal on information forensics and security, a foundational IEEE paper on steganography by Johnson and Jajodia, and the ENISA Threat Landscape Report for current real-world threat data. These sources ensure the technical accuracy and credibility of the concepts presented today.</a:t>
            </a:r>
            <a:endParaRPr lang="zh-CN" altLang="en-US"/>
          </a:p>
        </p:txBody>
      </p:sp>
      <p:sp>
        <p:nvSpPr>
          <p:cNvPr id="351" name="Rectangle"/>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charset="0"/>
              </a:rPr>
              <a:t>67</a:t>
            </a:fld>
            <a:endParaRPr lang="zh-CN" altLang="en-US"/>
          </a:p>
        </p:txBody>
      </p:sp>
    </p:spTree>
    <p:extLst>
      <p:ext uri="{BB962C8B-B14F-4D97-AF65-F5344CB8AC3E}">
        <p14:creationId xmlns:p14="http://schemas.microsoft.com/office/powerpoint/2010/main" val="3481415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68</a:t>
            </a:fld>
            <a:endParaRPr lang="zh-CN" altLang="en-US" sz="1200">
              <a:latin typeface="Calibri" charset="0"/>
              <a:ea typeface="等线" charset="0"/>
              <a:cs typeface="Calibri" charset="0"/>
            </a:endParaRPr>
          </a:p>
        </p:txBody>
      </p:sp>
      <p:sp>
        <p:nvSpPr>
          <p:cNvPr id="359" name="Rectangle"/>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68</a:t>
            </a:fld>
            <a:endParaRPr lang="zh-CN" altLang="en-US" sz="1200">
              <a:latin typeface="Calibri" charset="0"/>
              <a:ea typeface="等线" charset="0"/>
              <a:cs typeface="Calibri" charset="0"/>
            </a:endParaRPr>
          </a:p>
        </p:txBody>
      </p:sp>
      <p:sp>
        <p:nvSpPr>
          <p:cNvPr id="360"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361"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Thank you all for your time and attention. That brings us to the end of this presentation on Cryptography and Network Security, covering security attacks, threats, and the CIA triad, as well as a detailed comparison between cryptography and steganography. I'm happy to take any questions or discuss any of these topics further.</a:t>
            </a:r>
            <a:endParaRPr lang="zh-CN" altLang="en-US"/>
          </a:p>
        </p:txBody>
      </p:sp>
      <p:sp>
        <p:nvSpPr>
          <p:cNvPr id="362" name="Rectangle"/>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charset="0"/>
              </a:rPr>
              <a:t>68</a:t>
            </a:fld>
            <a:endParaRPr lang="zh-CN" altLang="en-US"/>
          </a:p>
        </p:txBody>
      </p:sp>
    </p:spTree>
    <p:extLst>
      <p:ext uri="{BB962C8B-B14F-4D97-AF65-F5344CB8AC3E}">
        <p14:creationId xmlns:p14="http://schemas.microsoft.com/office/powerpoint/2010/main" val="1575631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ext box"/>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Text box"/>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742298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9864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108038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19952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a:t>单击此处编辑母版标题样式</a:t>
            </a:r>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510733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17657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0186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16836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850979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9148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74530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rgbClr val="0B1E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169547"/>
      </p:ext>
    </p:extLst>
  </p:cSld>
  <p:clrMapOvr>
    <a:masterClrMapping/>
  </p:clrMapOvr>
  <p:hf sldNum="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0310966"/>
      </p:ext>
    </p:extLst>
  </p:cSld>
  <p:clrMapOvr>
    <a:masterClrMapping/>
  </p:clrMapOvr>
  <p:hf sldNum="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1294907"/>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lvl1pPr algn="ctr" defTabSz="914400" eaLnBrk="1" fontAlgn="auto" latinLnBrk="0" hangingPunct="1">
        <a:spcBef>
          <a:spcPts val="0"/>
        </a:spcBef>
        <a:buNone/>
        <a:defRPr sz="4400" kern="1200">
          <a:solidFill>
            <a:schemeClr val="tx1"/>
          </a:solidFill>
          <a:latin typeface="Calibri Light" charset="0"/>
          <a:ea typeface="等线 Light" charset="0"/>
          <a:cs typeface="Calibri Light" charset="0"/>
        </a:defRPr>
      </a:lvl1pPr>
    </p:titleStyle>
    <p:bodyStyle>
      <a:lvl1pPr marL="342900" indent="-342900" algn="l" defTabSz="914400" eaLnBrk="1" fontAlgn="auto" latinLnBrk="0" hangingPunct="1">
        <a:spcBef>
          <a:spcPct val="20000"/>
        </a:spcBef>
        <a:buFont typeface="Arial" pitchFamily="34" charset="0"/>
        <a:buChar char="•"/>
        <a:defRPr sz="3200" kern="1200">
          <a:solidFill>
            <a:schemeClr val="tx1"/>
          </a:solidFill>
          <a:latin typeface="Calibri" charset="0"/>
          <a:ea typeface="等线" charset="0"/>
          <a:cs typeface="Calibri" charset="0"/>
        </a:defRPr>
      </a:lvl1pPr>
      <a:lvl2pPr marL="742950" indent="-285750" algn="l" defTabSz="914400" eaLnBrk="1" fontAlgn="auto" latinLnBrk="0" hangingPunct="1">
        <a:spcBef>
          <a:spcPct val="20000"/>
        </a:spcBef>
        <a:buFont typeface="Arial" pitchFamily="34" charset="0"/>
        <a:buChar char="–"/>
        <a:defRPr sz="2800" kern="1200">
          <a:solidFill>
            <a:schemeClr val="tx1"/>
          </a:solidFill>
          <a:latin typeface="Calibri" charset="0"/>
          <a:ea typeface="等线" charset="0"/>
          <a:cs typeface="Calibri" charset="0"/>
        </a:defRPr>
      </a:lvl2pPr>
      <a:lvl3pPr marL="1143000" indent="-228600" algn="l" defTabSz="914400" eaLnBrk="1" fontAlgn="auto" latinLnBrk="0" hangingPunct="1">
        <a:spcBef>
          <a:spcPct val="20000"/>
        </a:spcBef>
        <a:buFont typeface="Arial" pitchFamily="34" charset="0"/>
        <a:buChar char="•"/>
        <a:defRPr sz="2400" kern="1200">
          <a:solidFill>
            <a:schemeClr val="tx1"/>
          </a:solidFill>
          <a:latin typeface="Calibri" charset="0"/>
          <a:ea typeface="等线" charset="0"/>
          <a:cs typeface="Calibri" charset="0"/>
        </a:defRPr>
      </a:lvl3pPr>
      <a:lvl4pPr marL="1600200" indent="-228600" algn="l" defTabSz="914400" eaLnBrk="1" fontAlgn="auto" latinLnBrk="0" hangingPunct="1">
        <a:spcBef>
          <a:spcPct val="20000"/>
        </a:spcBef>
        <a:buFont typeface="Arial" pitchFamily="34" charset="0"/>
        <a:buChar char="–"/>
        <a:defRPr sz="2000" kern="1200">
          <a:solidFill>
            <a:schemeClr val="tx1"/>
          </a:solidFill>
          <a:latin typeface="Calibri" charset="0"/>
          <a:ea typeface="等线" charset="0"/>
          <a:cs typeface="Calibri" charset="0"/>
        </a:defRPr>
      </a:lvl4pPr>
      <a:lvl5pPr marL="2057400" indent="-228600" algn="l" defTabSz="914400" eaLnBrk="1" fontAlgn="auto" latinLnBrk="0" hangingPunct="1">
        <a:spcBef>
          <a:spcPct val="20000"/>
        </a:spcBef>
        <a:buFont typeface="Arial" pitchFamily="34" charset="0"/>
        <a:buChar char="»"/>
        <a:defRPr sz="2000" kern="1200">
          <a:solidFill>
            <a:schemeClr val="tx1"/>
          </a:solidFill>
          <a:latin typeface="Calibri" charset="0"/>
          <a:ea typeface="等线" charset="0"/>
          <a:cs typeface="Calibri" charset="0"/>
        </a:defRPr>
      </a:lvl5pPr>
      <a:lvl6pPr marL="2514600" indent="-228600" algn="l" defTabSz="914400" eaLnBrk="1" fontAlgn="auto" latinLnBrk="0" hangingPunct="1">
        <a:spcBef>
          <a:spcPct val="20000"/>
        </a:spcBef>
        <a:buFont typeface="Arial" pitchFamily="34" charset="0"/>
        <a:buChar char="•"/>
        <a:defRPr sz="2000" kern="1200">
          <a:solidFill>
            <a:schemeClr val="tx1"/>
          </a:solidFill>
          <a:latin typeface="Calibri" charset="0"/>
          <a:ea typeface="等线" charset="0"/>
          <a:cs typeface="Calibri" charset="0"/>
        </a:defRPr>
      </a:lvl6pPr>
      <a:lvl7pPr marL="2971800" indent="-228600" algn="l" defTabSz="914400" eaLnBrk="1" fontAlgn="auto" latinLnBrk="0" hangingPunct="1">
        <a:spcBef>
          <a:spcPct val="20000"/>
        </a:spcBef>
        <a:buFont typeface="Arial" pitchFamily="34" charset="0"/>
        <a:buChar char="•"/>
        <a:defRPr sz="2000" kern="1200">
          <a:solidFill>
            <a:schemeClr val="tx1"/>
          </a:solidFill>
          <a:latin typeface="Calibri" charset="0"/>
          <a:ea typeface="等线" charset="0"/>
          <a:cs typeface="Calibri" charset="0"/>
        </a:defRPr>
      </a:lvl7pPr>
      <a:lvl8pPr marL="3429000" indent="-228600" algn="l" defTabSz="914400" eaLnBrk="1" fontAlgn="auto" latinLnBrk="0" hangingPunct="1">
        <a:spcBef>
          <a:spcPct val="20000"/>
        </a:spcBef>
        <a:buFont typeface="Arial" pitchFamily="34" charset="0"/>
        <a:buChar char="•"/>
        <a:defRPr sz="2000" kern="1200">
          <a:solidFill>
            <a:schemeClr val="tx1"/>
          </a:solidFill>
          <a:latin typeface="Calibri" charset="0"/>
          <a:ea typeface="等线" charset="0"/>
          <a:cs typeface="Calibri" charset="0"/>
        </a:defRPr>
      </a:lvl8pPr>
      <a:lvl9pPr marL="3429000" indent="-228600" algn="l" defTabSz="914400" eaLnBrk="1" fontAlgn="auto" latinLnBrk="0" hangingPunct="1">
        <a:spcBef>
          <a:spcPct val="20000"/>
        </a:spcBef>
        <a:buFont typeface="Arial" pitchFamily="34" charset="0"/>
        <a:buChar char="•"/>
        <a:defRPr sz="2000" kern="1200">
          <a:solidFill>
            <a:schemeClr val="tx1"/>
          </a:solidFill>
          <a:latin typeface="Calibri" charset="0"/>
          <a:ea typeface="等线" charset="0"/>
          <a:cs typeface="Calibri"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image" Target="../media/image8.png"/></Relationships>
</file>

<file path=ppt/slides/_rels/slide5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11.png"/></Relationships>
</file>

<file path=ppt/slides/_rels/slide5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61.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2.png"/></Relationships>
</file>

<file path=ppt/slides/_rels/slide6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8.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24.png"/><Relationship Id="rId10" Type="http://schemas.openxmlformats.org/officeDocument/2006/relationships/image" Target="../media/image22.png"/><Relationship Id="rId4" Type="http://schemas.openxmlformats.org/officeDocument/2006/relationships/image" Target="../media/image23.png"/><Relationship Id="rId9" Type="http://schemas.openxmlformats.org/officeDocument/2006/relationships/image" Target="../media/image25.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E3D"/>
        </a:solidFill>
        <a:effectLst/>
      </p:bgPr>
    </p:bg>
    <p:spTree>
      <p:nvGrpSpPr>
        <p:cNvPr id="1" name=""/>
        <p:cNvGrpSpPr/>
        <p:nvPr/>
      </p:nvGrpSpPr>
      <p:grpSpPr>
        <a:xfrm>
          <a:off x="0" y="0"/>
          <a:ext cx="0" cy="0"/>
          <a:chOff x="0" y="0"/>
          <a:chExt cx="0" cy="0"/>
        </a:xfrm>
      </p:grpSpPr>
      <p:sp>
        <p:nvSpPr>
          <p:cNvPr id="8" name="Oval"/>
          <p:cNvSpPr>
            <a:spLocks/>
          </p:cNvSpPr>
          <p:nvPr/>
        </p:nvSpPr>
        <p:spPr>
          <a:xfrm>
            <a:off x="8961120" y="274320"/>
            <a:ext cx="54863" cy="54863"/>
          </a:xfrm>
          <a:prstGeom prst="ellipse">
            <a:avLst/>
          </a:prstGeom>
          <a:solidFill>
            <a:srgbClr val="60A5FA"/>
          </a:solidFill>
          <a:ln w="12700" cap="flat" cmpd="sng">
            <a:noFill/>
            <a:prstDash val="solid"/>
            <a:miter/>
          </a:ln>
        </p:spPr>
      </p:sp>
      <p:sp>
        <p:nvSpPr>
          <p:cNvPr id="9" name="Oval"/>
          <p:cNvSpPr>
            <a:spLocks/>
          </p:cNvSpPr>
          <p:nvPr/>
        </p:nvSpPr>
        <p:spPr>
          <a:xfrm>
            <a:off x="9464040" y="2011679"/>
            <a:ext cx="54863" cy="54862"/>
          </a:xfrm>
          <a:prstGeom prst="ellipse">
            <a:avLst/>
          </a:prstGeom>
          <a:solidFill>
            <a:srgbClr val="60A5FA"/>
          </a:solidFill>
          <a:ln w="12700" cap="flat" cmpd="sng">
            <a:noFill/>
            <a:prstDash val="solid"/>
            <a:miter/>
          </a:ln>
        </p:spPr>
      </p:sp>
      <p:sp>
        <p:nvSpPr>
          <p:cNvPr id="10" name="Oval"/>
          <p:cNvSpPr>
            <a:spLocks/>
          </p:cNvSpPr>
          <p:nvPr/>
        </p:nvSpPr>
        <p:spPr>
          <a:xfrm>
            <a:off x="9966960" y="3749040"/>
            <a:ext cx="54864" cy="54864"/>
          </a:xfrm>
          <a:prstGeom prst="ellipse">
            <a:avLst/>
          </a:prstGeom>
          <a:solidFill>
            <a:srgbClr val="60A5FA"/>
          </a:solidFill>
          <a:ln w="12700" cap="flat" cmpd="sng">
            <a:noFill/>
            <a:prstDash val="solid"/>
            <a:miter/>
          </a:ln>
        </p:spPr>
      </p:sp>
      <p:sp>
        <p:nvSpPr>
          <p:cNvPr id="11" name="Oval"/>
          <p:cNvSpPr>
            <a:spLocks/>
          </p:cNvSpPr>
          <p:nvPr/>
        </p:nvSpPr>
        <p:spPr>
          <a:xfrm>
            <a:off x="10469880" y="274320"/>
            <a:ext cx="54864" cy="54863"/>
          </a:xfrm>
          <a:prstGeom prst="ellipse">
            <a:avLst/>
          </a:prstGeom>
          <a:solidFill>
            <a:srgbClr val="60A5FA"/>
          </a:solidFill>
          <a:ln w="12700" cap="flat" cmpd="sng">
            <a:noFill/>
            <a:prstDash val="solid"/>
            <a:miter/>
          </a:ln>
        </p:spPr>
      </p:sp>
      <p:sp>
        <p:nvSpPr>
          <p:cNvPr id="12" name="Oval"/>
          <p:cNvSpPr>
            <a:spLocks/>
          </p:cNvSpPr>
          <p:nvPr/>
        </p:nvSpPr>
        <p:spPr>
          <a:xfrm>
            <a:off x="10972800" y="2011679"/>
            <a:ext cx="54864" cy="54862"/>
          </a:xfrm>
          <a:prstGeom prst="ellipse">
            <a:avLst/>
          </a:prstGeom>
          <a:solidFill>
            <a:srgbClr val="60A5FA"/>
          </a:solidFill>
          <a:ln w="12700" cap="flat" cmpd="sng">
            <a:noFill/>
            <a:prstDash val="solid"/>
            <a:miter/>
          </a:ln>
        </p:spPr>
      </p:sp>
      <p:sp>
        <p:nvSpPr>
          <p:cNvPr id="13" name="Oval"/>
          <p:cNvSpPr>
            <a:spLocks/>
          </p:cNvSpPr>
          <p:nvPr/>
        </p:nvSpPr>
        <p:spPr>
          <a:xfrm>
            <a:off x="11475720" y="3749040"/>
            <a:ext cx="54864" cy="54864"/>
          </a:xfrm>
          <a:prstGeom prst="ellipse">
            <a:avLst/>
          </a:prstGeom>
          <a:solidFill>
            <a:srgbClr val="60A5FA"/>
          </a:solidFill>
          <a:ln w="12700" cap="flat" cmpd="sng">
            <a:noFill/>
            <a:prstDash val="solid"/>
            <a:miter/>
          </a:ln>
        </p:spPr>
      </p:sp>
      <p:sp>
        <p:nvSpPr>
          <p:cNvPr id="14" name="Oval"/>
          <p:cNvSpPr>
            <a:spLocks/>
          </p:cNvSpPr>
          <p:nvPr/>
        </p:nvSpPr>
        <p:spPr>
          <a:xfrm>
            <a:off x="8778240" y="-1463040"/>
            <a:ext cx="5029200" cy="5029200"/>
          </a:xfrm>
          <a:prstGeom prst="ellipse">
            <a:avLst/>
          </a:prstGeom>
          <a:solidFill>
            <a:srgbClr val="142B52"/>
          </a:solidFill>
          <a:ln w="12700" cap="flat" cmpd="sng">
            <a:noFill/>
            <a:prstDash val="solid"/>
            <a:miter/>
          </a:ln>
        </p:spPr>
      </p:sp>
      <p:sp>
        <p:nvSpPr>
          <p:cNvPr id="15" name="Oval"/>
          <p:cNvSpPr>
            <a:spLocks/>
          </p:cNvSpPr>
          <p:nvPr/>
        </p:nvSpPr>
        <p:spPr>
          <a:xfrm>
            <a:off x="10241281" y="3840480"/>
            <a:ext cx="3657600" cy="3657600"/>
          </a:xfrm>
          <a:prstGeom prst="ellipse">
            <a:avLst/>
          </a:prstGeom>
          <a:solidFill>
            <a:srgbClr val="12274A"/>
          </a:solidFill>
          <a:ln w="12700" cap="flat" cmpd="sng">
            <a:noFill/>
            <a:prstDash val="solid"/>
            <a:miter/>
          </a:ln>
        </p:spPr>
      </p:sp>
      <p:sp>
        <p:nvSpPr>
          <p:cNvPr id="16" name="Oval"/>
          <p:cNvSpPr>
            <a:spLocks/>
          </p:cNvSpPr>
          <p:nvPr/>
        </p:nvSpPr>
        <p:spPr>
          <a:xfrm>
            <a:off x="685800" y="685800"/>
            <a:ext cx="777240" cy="777240"/>
          </a:xfrm>
          <a:prstGeom prst="ellipse">
            <a:avLst/>
          </a:prstGeom>
          <a:solidFill>
            <a:srgbClr val="2563EB"/>
          </a:solidFill>
          <a:ln w="12700" cap="flat" cmpd="sng">
            <a:noFill/>
            <a:prstDash val="solid"/>
            <a:miter/>
          </a:ln>
        </p:spPr>
      </p:sp>
      <p:pic>
        <p:nvPicPr>
          <p:cNvPr id="17" name="Image" descr="/home/claude/deck/assets/shield_check.png"/>
          <p:cNvPicPr>
            <a:picLocks noChangeAspect="1"/>
          </p:cNvPicPr>
          <p:nvPr/>
        </p:nvPicPr>
        <p:blipFill>
          <a:blip r:embed="rId3" cstate="print"/>
          <a:stretch>
            <a:fillRect/>
          </a:stretch>
        </p:blipFill>
        <p:spPr>
          <a:xfrm>
            <a:off x="841248" y="841248"/>
            <a:ext cx="466344" cy="466344"/>
          </a:xfrm>
          <a:prstGeom prst="rect">
            <a:avLst/>
          </a:prstGeom>
          <a:noFill/>
          <a:ln w="12700" cap="flat" cmpd="sng">
            <a:noFill/>
            <a:prstDash val="solid"/>
            <a:miter/>
          </a:ln>
        </p:spPr>
      </p:pic>
      <p:sp>
        <p:nvSpPr>
          <p:cNvPr id="18" name="Rectangle"/>
          <p:cNvSpPr>
            <a:spLocks/>
          </p:cNvSpPr>
          <p:nvPr/>
        </p:nvSpPr>
        <p:spPr>
          <a:xfrm>
            <a:off x="685800" y="1691639"/>
            <a:ext cx="7315200" cy="36576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400" b="1" i="0" u="none" strike="noStrike" kern="0" cap="none" spc="300" baseline="0">
                <a:solidFill>
                  <a:srgbClr val="60A5FA"/>
                </a:solidFill>
                <a:latin typeface="Calibri" charset="0"/>
                <a:ea typeface="Calibri" charset="0"/>
                <a:cs typeface="Calibri" charset="0"/>
              </a:rPr>
              <a:t>TECHNICAL PRESENTATION</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19" name="Rectangle"/>
          <p:cNvSpPr>
            <a:spLocks/>
          </p:cNvSpPr>
          <p:nvPr/>
        </p:nvSpPr>
        <p:spPr>
          <a:xfrm>
            <a:off x="640080" y="2057400"/>
            <a:ext cx="9601200" cy="173736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4000"/>
              </a:lnSpc>
              <a:spcBef>
                <a:spcPts val="0"/>
              </a:spcBef>
              <a:spcAft>
                <a:spcPts val="0"/>
              </a:spcAft>
              <a:buNone/>
            </a:pPr>
            <a:r>
              <a:rPr lang="en-US" altLang="zh-CN" sz="4600" b="1" i="0" u="none" strike="noStrike" kern="1200" cap="none" spc="0" baseline="0">
                <a:solidFill>
                  <a:srgbClr val="FFFFFF"/>
                </a:solidFill>
                <a:latin typeface="Cambria" pitchFamily="34" charset="0"/>
                <a:ea typeface="Cambria" pitchFamily="34" charset="0"/>
                <a:cs typeface="Cambria" pitchFamily="34" charset="0"/>
              </a:rPr>
              <a:t>CSA5116-Cryptography and</a:t>
            </a:r>
            <a:endParaRPr lang="en-US" altLang="zh-CN" sz="4600" b="0" i="0" u="none" strike="noStrike" kern="1200" cap="none" spc="0" baseline="0">
              <a:solidFill>
                <a:schemeClr val="tx1"/>
              </a:solidFill>
              <a:latin typeface="Calibri" charset="0"/>
              <a:ea typeface="等线" charset="0"/>
              <a:cs typeface="Calibri" charset="0"/>
            </a:endParaRPr>
          </a:p>
          <a:p>
            <a:pPr marL="0" indent="0" algn="l">
              <a:lnSpc>
                <a:spcPct val="104000"/>
              </a:lnSpc>
              <a:spcBef>
                <a:spcPts val="0"/>
              </a:spcBef>
              <a:spcAft>
                <a:spcPts val="0"/>
              </a:spcAft>
              <a:buNone/>
            </a:pPr>
            <a:r>
              <a:rPr lang="en-US" altLang="zh-CN" sz="4600" b="1" i="0" u="none" strike="noStrike" kern="1200" cap="none" spc="0" baseline="0">
                <a:solidFill>
                  <a:srgbClr val="FFFFFF"/>
                </a:solidFill>
                <a:latin typeface="Cambria" pitchFamily="34" charset="0"/>
                <a:ea typeface="Cambria" pitchFamily="34" charset="0"/>
                <a:cs typeface="Cambria" pitchFamily="34" charset="0"/>
              </a:rPr>
              <a:t>Network Security</a:t>
            </a:r>
            <a:endParaRPr lang="zh-CN" altLang="en-US" sz="4600" b="0" i="0" u="none" strike="noStrike" kern="1200" cap="none" spc="0" baseline="0">
              <a:solidFill>
                <a:schemeClr val="tx1"/>
              </a:solidFill>
              <a:latin typeface="Calibri" charset="0"/>
              <a:ea typeface="等线" charset="0"/>
              <a:cs typeface="Calibri" charset="0"/>
            </a:endParaRPr>
          </a:p>
        </p:txBody>
      </p:sp>
      <p:sp>
        <p:nvSpPr>
          <p:cNvPr id="20" name="Rectangle"/>
          <p:cNvSpPr>
            <a:spLocks/>
          </p:cNvSpPr>
          <p:nvPr/>
        </p:nvSpPr>
        <p:spPr>
          <a:xfrm>
            <a:off x="685800" y="3794760"/>
            <a:ext cx="9875520" cy="91440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35000"/>
              </a:lnSpc>
              <a:spcBef>
                <a:spcPts val="0"/>
              </a:spcBef>
              <a:spcAft>
                <a:spcPts val="0"/>
              </a:spcAft>
              <a:buNone/>
            </a:pPr>
            <a:r>
              <a:rPr lang="en-US" altLang="zh-CN" sz="1450" b="1" i="0" u="none" strike="noStrike" kern="1200" cap="none" spc="0" baseline="0">
                <a:solidFill>
                  <a:srgbClr val="60A5FA"/>
                </a:solidFill>
                <a:latin typeface="Calibri" charset="0"/>
                <a:ea typeface="Calibri" charset="0"/>
                <a:cs typeface="Calibri" charset="0"/>
              </a:rPr>
              <a:t>Topic 1: </a:t>
            </a:r>
            <a:r>
              <a:rPr lang="en-US" altLang="zh-CN" sz="1450" b="0" i="0" u="none" strike="noStrike" kern="1200" cap="none" spc="0" baseline="0">
                <a:solidFill>
                  <a:srgbClr val="D7E3FA"/>
                </a:solidFill>
                <a:latin typeface="Calibri" charset="0"/>
                <a:ea typeface="Calibri" charset="0"/>
                <a:cs typeface="Calibri" charset="0"/>
              </a:rPr>
              <a:t>Security Attacks, Threats, Risks and Their Impact on Security Goals
</a:t>
            </a:r>
            <a:r>
              <a:rPr lang="en-US" altLang="zh-CN" sz="1450" b="1" i="0" u="none" strike="noStrike" kern="1200" cap="none" spc="0" baseline="0">
                <a:solidFill>
                  <a:srgbClr val="60A5FA"/>
                </a:solidFill>
                <a:latin typeface="Calibri" charset="0"/>
                <a:ea typeface="Calibri" charset="0"/>
                <a:cs typeface="Calibri" charset="0"/>
              </a:rPr>
              <a:t>Topic 2: </a:t>
            </a:r>
            <a:r>
              <a:rPr lang="en-US" altLang="zh-CN" sz="1450" b="0" i="0" u="none" strike="noStrike" kern="1200" cap="none" spc="0" baseline="0">
                <a:solidFill>
                  <a:srgbClr val="D7E3FA"/>
                </a:solidFill>
                <a:latin typeface="Calibri" charset="0"/>
                <a:ea typeface="Calibri" charset="0"/>
                <a:cs typeface="Calibri" charset="0"/>
              </a:rPr>
              <a:t>Steganography vs Cryptography: Hidden Security in the Digital World</a:t>
            </a:r>
            <a:endParaRPr lang="zh-CN" altLang="en-US" sz="1450" b="0" i="0" u="none" strike="noStrike" kern="1200" cap="none" spc="0" baseline="0">
              <a:solidFill>
                <a:schemeClr val="tx1"/>
              </a:solidFill>
              <a:latin typeface="Calibri" charset="0"/>
              <a:ea typeface="等线" charset="0"/>
              <a:cs typeface="Calibri" charset="0"/>
            </a:endParaRPr>
          </a:p>
        </p:txBody>
      </p:sp>
      <p:sp>
        <p:nvSpPr>
          <p:cNvPr id="21" name="Rounded rectangle"/>
          <p:cNvSpPr>
            <a:spLocks/>
          </p:cNvSpPr>
          <p:nvPr/>
        </p:nvSpPr>
        <p:spPr>
          <a:xfrm>
            <a:off x="685800" y="4892040"/>
            <a:ext cx="7863840" cy="1508758"/>
          </a:xfrm>
          <a:prstGeom prst="roundRect">
            <a:avLst>
              <a:gd name="adj" fmla="val 4847"/>
            </a:avLst>
          </a:prstGeom>
          <a:solidFill>
            <a:srgbClr val="132A4F"/>
          </a:solidFill>
          <a:ln w="12700" cap="flat" cmpd="sng">
            <a:noFill/>
            <a:prstDash val="solid"/>
            <a:miter/>
          </a:ln>
          <a:effectLst>
            <a:outerShdw blurRad="101600" dist="38100" dir="5400000" algn="bl" rotWithShape="0">
              <a:srgbClr val="1F2937">
                <a:alpha val="17647"/>
              </a:srgbClr>
            </a:outerShdw>
          </a:effectLst>
        </p:spPr>
      </p:sp>
      <p:sp>
        <p:nvSpPr>
          <p:cNvPr id="22" name="Rectangle"/>
          <p:cNvSpPr>
            <a:spLocks/>
          </p:cNvSpPr>
          <p:nvPr/>
        </p:nvSpPr>
        <p:spPr>
          <a:xfrm>
            <a:off x="868680" y="5029200"/>
            <a:ext cx="365760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0" cap="none" spc="100" baseline="0">
                <a:solidFill>
                  <a:srgbClr val="60A5FA"/>
                </a:solidFill>
                <a:latin typeface="Calibri" charset="0"/>
                <a:ea typeface="Calibri" charset="0"/>
                <a:cs typeface="Calibri" charset="0"/>
              </a:rPr>
              <a:t>STUDENT NAME</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23" name="Rectangle"/>
          <p:cNvSpPr>
            <a:spLocks/>
          </p:cNvSpPr>
          <p:nvPr/>
        </p:nvSpPr>
        <p:spPr>
          <a:xfrm>
            <a:off x="868680" y="5285232"/>
            <a:ext cx="3657600" cy="292606"/>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350" b="0" i="0" u="none" strike="noStrike" kern="1200" cap="none" spc="0" baseline="0">
                <a:solidFill>
                  <a:srgbClr val="FFFFFF"/>
                </a:solidFill>
                <a:latin typeface="Calibri" charset="0"/>
                <a:ea typeface="Calibri" charset="0"/>
                <a:cs typeface="Calibri" charset="0"/>
              </a:rPr>
              <a:t>Preethika M</a:t>
            </a:r>
            <a:endParaRPr lang="zh-CN" altLang="en-US" sz="1350" b="0" i="0" u="none" strike="noStrike" kern="1200" cap="none" spc="0" baseline="0">
              <a:solidFill>
                <a:schemeClr val="tx1"/>
              </a:solidFill>
              <a:latin typeface="Calibri" charset="0"/>
              <a:ea typeface="等线" charset="0"/>
              <a:cs typeface="Calibri" charset="0"/>
            </a:endParaRPr>
          </a:p>
        </p:txBody>
      </p:sp>
      <p:sp>
        <p:nvSpPr>
          <p:cNvPr id="24" name="Rectangle"/>
          <p:cNvSpPr>
            <a:spLocks/>
          </p:cNvSpPr>
          <p:nvPr/>
        </p:nvSpPr>
        <p:spPr>
          <a:xfrm>
            <a:off x="4800600" y="5029200"/>
            <a:ext cx="365760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0" cap="none" spc="100" baseline="0">
                <a:solidFill>
                  <a:srgbClr val="60A5FA"/>
                </a:solidFill>
                <a:latin typeface="Calibri" charset="0"/>
                <a:ea typeface="Calibri" charset="0"/>
                <a:cs typeface="Calibri" charset="0"/>
              </a:rPr>
              <a:t>REGISTER NUMBER</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25" name="Rectangle"/>
          <p:cNvSpPr>
            <a:spLocks/>
          </p:cNvSpPr>
          <p:nvPr/>
        </p:nvSpPr>
        <p:spPr>
          <a:xfrm>
            <a:off x="4800600" y="5285232"/>
            <a:ext cx="3657600" cy="292606"/>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350" b="0" i="0" u="none" strike="noStrike" kern="1200" cap="none" spc="0" baseline="0">
                <a:solidFill>
                  <a:srgbClr val="FFFFFF"/>
                </a:solidFill>
                <a:latin typeface="Calibri" charset="0"/>
                <a:ea typeface="等线" charset="0"/>
                <a:cs typeface="Calibri" charset="0"/>
              </a:rPr>
              <a:t>192511216</a:t>
            </a:r>
            <a:endParaRPr lang="zh-CN" altLang="en-US" sz="1350" b="0" i="0" u="none" strike="noStrike" kern="1200" cap="none" spc="0" baseline="0">
              <a:solidFill>
                <a:srgbClr val="FFFFFF"/>
              </a:solidFill>
              <a:latin typeface="Calibri" charset="0"/>
              <a:ea typeface="等线" charset="0"/>
              <a:cs typeface="Calibri" charset="0"/>
            </a:endParaRPr>
          </a:p>
        </p:txBody>
      </p:sp>
      <p:sp>
        <p:nvSpPr>
          <p:cNvPr id="26" name="Rectangle"/>
          <p:cNvSpPr>
            <a:spLocks/>
          </p:cNvSpPr>
          <p:nvPr/>
        </p:nvSpPr>
        <p:spPr>
          <a:xfrm>
            <a:off x="868680" y="5742432"/>
            <a:ext cx="365760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0" cap="none" spc="100" baseline="0">
                <a:solidFill>
                  <a:srgbClr val="60A5FA"/>
                </a:solidFill>
                <a:latin typeface="Calibri" charset="0"/>
                <a:ea typeface="Calibri" charset="0"/>
                <a:cs typeface="Calibri" charset="0"/>
              </a:rPr>
              <a:t>DEPARTMENT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27" name="Rectangle"/>
          <p:cNvSpPr>
            <a:spLocks/>
          </p:cNvSpPr>
          <p:nvPr/>
        </p:nvSpPr>
        <p:spPr>
          <a:xfrm>
            <a:off x="868680" y="5998464"/>
            <a:ext cx="3657600" cy="292606"/>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350" b="0" i="0" u="none" strike="noStrike" kern="1200" cap="none" spc="0" baseline="0">
                <a:solidFill>
                  <a:srgbClr val="FFFFFF"/>
                </a:solidFill>
                <a:latin typeface="Calibri" charset="0"/>
                <a:ea typeface="Calibri" charset="0"/>
                <a:cs typeface="Calibri" charset="0"/>
              </a:rPr>
              <a:t>AI &amp; Machine Learning</a:t>
            </a:r>
            <a:endParaRPr lang="zh-CN" altLang="en-US" sz="1350" b="0" i="0" u="none" strike="noStrike" kern="1200" cap="none" spc="0" baseline="0">
              <a:solidFill>
                <a:schemeClr val="tx1"/>
              </a:solidFill>
              <a:latin typeface="Calibri" charset="0"/>
              <a:ea typeface="等线" charset="0"/>
              <a:cs typeface="Calibri" charset="0"/>
            </a:endParaRPr>
          </a:p>
        </p:txBody>
      </p:sp>
      <p:sp>
        <p:nvSpPr>
          <p:cNvPr id="28" name="Rectangle"/>
          <p:cNvSpPr>
            <a:spLocks/>
          </p:cNvSpPr>
          <p:nvPr/>
        </p:nvSpPr>
        <p:spPr>
          <a:xfrm>
            <a:off x="4800600" y="5742432"/>
            <a:ext cx="365760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0" cap="none" spc="100" baseline="0">
                <a:solidFill>
                  <a:srgbClr val="60A5FA"/>
                </a:solidFill>
                <a:latin typeface="Calibri" charset="0"/>
                <a:ea typeface="Calibri" charset="0"/>
                <a:cs typeface="Calibri" charset="0"/>
              </a:rPr>
              <a:t>COLLEGE</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29" name="Rectangle"/>
          <p:cNvSpPr>
            <a:spLocks/>
          </p:cNvSpPr>
          <p:nvPr/>
        </p:nvSpPr>
        <p:spPr>
          <a:xfrm>
            <a:off x="4800600" y="5998464"/>
            <a:ext cx="3657600" cy="292606"/>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350" b="0" i="0" u="none" strike="noStrike" kern="1200" cap="none" spc="0" baseline="0">
                <a:solidFill>
                  <a:srgbClr val="FFFFFF"/>
                </a:solidFill>
                <a:latin typeface="Calibri" charset="0"/>
                <a:ea typeface="Calibri" charset="0"/>
                <a:cs typeface="Calibri" charset="0"/>
              </a:rPr>
              <a:t>Saveetha School of Engineering, SIMATS</a:t>
            </a:r>
            <a:endParaRPr lang="zh-CN" altLang="en-US" sz="1350" b="0" i="0" u="none" strike="noStrike" kern="1200" cap="none" spc="0" baseline="0">
              <a:solidFill>
                <a:schemeClr val="tx1"/>
              </a:solidFill>
              <a:latin typeface="Calibri" charset="0"/>
              <a:ea typeface="等线" charset="0"/>
              <a:cs typeface="Calibri" charset="0"/>
            </a:endParaRPr>
          </a:p>
        </p:txBody>
      </p:sp>
      <p:sp>
        <p:nvSpPr>
          <p:cNvPr id="30" name="Rectangle"/>
          <p:cNvSpPr>
            <a:spLocks/>
          </p:cNvSpPr>
          <p:nvPr/>
        </p:nvSpPr>
        <p:spPr>
          <a:xfrm>
            <a:off x="605789" y="6404993"/>
            <a:ext cx="548640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900" b="0" i="1" u="none" strike="noStrike" kern="1200" cap="none" spc="0" baseline="0">
                <a:solidFill>
                  <a:srgbClr val="8FA3C4"/>
                </a:solidFill>
                <a:latin typeface="Calibri" charset="0"/>
                <a:ea typeface="Calibri" charset="0"/>
                <a:cs typeface="Calibri" charset="0"/>
              </a:rPr>
              <a:t>Cryptography &amp; Network Security</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31" name="Rectangle"/>
          <p:cNvSpPr>
            <a:spLocks/>
          </p:cNvSpPr>
          <p:nvPr/>
        </p:nvSpPr>
        <p:spPr>
          <a:xfrm>
            <a:off x="11338560" y="6528816"/>
            <a:ext cx="36576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r>
              <a:rPr lang="en-US" altLang="zh-CN" sz="900" b="0" i="0" u="none" strike="noStrike" kern="1200" cap="none" spc="0" baseline="0">
                <a:solidFill>
                  <a:srgbClr val="8FA3C4"/>
                </a:solidFill>
                <a:latin typeface="Calibri" charset="0"/>
                <a:ea typeface="Calibri" charset="0"/>
                <a:cs typeface="Calibri" charset="0"/>
              </a:rPr>
              <a:t>1</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32" name="Rectangle" descr="*#TXT_SIGN#*"/>
          <p:cNvSpPr>
            <a:spLocks/>
          </p:cNvSpPr>
          <p:nvPr/>
        </p:nvSpPr>
        <p:spPr>
          <a:xfrm rot="21581088" flipH="1">
            <a:off x="5004167" y="1048054"/>
            <a:ext cx="2253565" cy="419099"/>
          </a:xfrm>
          <a:prstGeom prst="rect">
            <a:avLst/>
          </a:prstGeom>
          <a:noFill/>
          <a:ln w="12700" cap="flat" cmpd="sng">
            <a:noFill/>
            <a:prstDash val="solid"/>
            <a:miter/>
          </a:ln>
        </p:spPr>
        <p:txBody>
          <a:bodyPr vert="horz" wrap="square" lIns="76200" tIns="76200" rIns="76200" bIns="76200" anchor="t" anchorCtr="0">
            <a:prstTxWarp prst="textNoShape">
              <a:avLst/>
            </a:prstTxWarp>
            <a:spAutoFit/>
          </a:bodyPr>
          <a:lstStyle/>
          <a:p>
            <a:pPr marL="0" indent="0" algn="l">
              <a:lnSpc>
                <a:spcPct val="100000"/>
              </a:lnSpc>
              <a:spcBef>
                <a:spcPts val="0"/>
              </a:spcBef>
              <a:spcAft>
                <a:spcPts val="0"/>
              </a:spcAft>
              <a:buNone/>
            </a:pPr>
            <a:r>
              <a:rPr lang="en-US" altLang="zh-CN" sz="1800" b="0" i="0" u="none" strike="noStrike" kern="1200" cap="none" spc="0" baseline="0">
                <a:solidFill>
                  <a:srgbClr val="FFFFFF"/>
                </a:solidFill>
                <a:latin typeface="Droid Sans" charset="0"/>
                <a:ea typeface="宋体" charset="0"/>
                <a:cs typeface="Lucida Sans" charset="0"/>
              </a:rPr>
              <a:t>CO1 AT3</a:t>
            </a:r>
            <a:endParaRPr lang="zh-CN" altLang="en-US" sz="1800" b="0" i="0" u="none" strike="noStrike" kern="1200" cap="none" spc="0" baseline="0">
              <a:solidFill>
                <a:srgbClr val="FFFFFF"/>
              </a:solidFill>
              <a:latin typeface="AndroidClock"/>
              <a:ea typeface="AndroidClock"/>
              <a:cs typeface="Lucida Sans" charset="0"/>
            </a:endParaRPr>
          </a:p>
        </p:txBody>
      </p:sp>
    </p:spTree>
    <p:extLst>
      <p:ext uri="{BB962C8B-B14F-4D97-AF65-F5344CB8AC3E}">
        <p14:creationId xmlns:p14="http://schemas.microsoft.com/office/powerpoint/2010/main" val="959535586"/>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Rectangle"/>
          <p:cNvSpPr>
            <a:spLocks/>
          </p:cNvSpPr>
          <p:nvPr/>
        </p:nvSpPr>
        <p:spPr>
          <a:xfrm>
            <a:off x="548640" y="320040"/>
            <a:ext cx="7315200" cy="32004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charset="0"/>
                <a:ea typeface="Calibri" charset="0"/>
                <a:cs typeface="Calibri" charset="0"/>
              </a:rPr>
              <a:t>TOPIC 1 · FOUNDATIONS</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38" name="Rectangle"/>
          <p:cNvSpPr>
            <a:spLocks/>
          </p:cNvSpPr>
          <p:nvPr/>
        </p:nvSpPr>
        <p:spPr>
          <a:xfrm>
            <a:off x="548640" y="566928"/>
            <a:ext cx="11064240" cy="7315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Introduction to Information Security</a:t>
            </a:r>
            <a:endParaRPr lang="zh-CN" altLang="en-US" sz="3200" b="0" i="0" u="none" strike="noStrike" kern="1200" cap="none" spc="0" baseline="0">
              <a:solidFill>
                <a:schemeClr val="tx1"/>
              </a:solidFill>
              <a:latin typeface="Calibri" charset="0"/>
              <a:ea typeface="等线" charset="0"/>
              <a:cs typeface="Calibri" charset="0"/>
            </a:endParaRPr>
          </a:p>
        </p:txBody>
      </p:sp>
      <p:sp>
        <p:nvSpPr>
          <p:cNvPr id="39" name="Rectangle"/>
          <p:cNvSpPr>
            <a:spLocks/>
          </p:cNvSpPr>
          <p:nvPr/>
        </p:nvSpPr>
        <p:spPr>
          <a:xfrm>
            <a:off x="548640" y="1417320"/>
            <a:ext cx="6309360" cy="5029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342900" indent="-342900" algn="l">
              <a:lnSpc>
                <a:spcPct val="115000"/>
              </a:lnSpc>
              <a:spcBef>
                <a:spcPts val="0"/>
              </a:spcBef>
              <a:spcAft>
                <a:spcPts val="864"/>
              </a:spcAft>
              <a:buClrTx/>
              <a:buChar char="▪"/>
            </a:pPr>
            <a:r>
              <a:rPr lang="en-US" altLang="zh-CN" sz="1550" b="0" i="0" u="none" strike="noStrike" kern="1200" cap="none" spc="0" baseline="0">
                <a:solidFill>
                  <a:srgbClr val="1F2937"/>
                </a:solidFill>
                <a:latin typeface="Calibri" charset="0"/>
                <a:ea typeface="Calibri" charset="0"/>
                <a:cs typeface="Calibri" charset="0"/>
              </a:rPr>
              <a:t>Information Security protects data and systems from unauthorized access, disclosure, disruption, or destruction.</a:t>
            </a:r>
            <a:endParaRPr lang="en-US" altLang="zh-CN" sz="155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864"/>
              </a:spcAft>
              <a:buClrTx/>
              <a:buChar char="▪"/>
            </a:pPr>
            <a:r>
              <a:rPr lang="en-US" altLang="zh-CN" sz="1550" b="0" i="0" u="none" strike="noStrike" kern="1200" cap="none" spc="0" baseline="0">
                <a:solidFill>
                  <a:srgbClr val="1F2937"/>
                </a:solidFill>
                <a:latin typeface="Calibri" charset="0"/>
                <a:ea typeface="Calibri" charset="0"/>
                <a:cs typeface="Calibri" charset="0"/>
              </a:rPr>
              <a:t>Covers three pillars: people, processes, and technology working together.</a:t>
            </a:r>
            <a:endParaRPr lang="en-US" altLang="zh-CN" sz="155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864"/>
              </a:spcAft>
              <a:buClrTx/>
              <a:buChar char="▪"/>
            </a:pPr>
            <a:r>
              <a:rPr lang="en-US" altLang="zh-CN" sz="1550" b="0" i="0" u="none" strike="noStrike" kern="1200" cap="none" spc="0" baseline="0">
                <a:solidFill>
                  <a:srgbClr val="1F2937"/>
                </a:solidFill>
                <a:latin typeface="Calibri" charset="0"/>
                <a:ea typeface="Calibri" charset="0"/>
                <a:cs typeface="Calibri" charset="0"/>
              </a:rPr>
              <a:t>Applies to data at rest, in transit, and in use across networks, devices, and cloud systems.</a:t>
            </a:r>
            <a:endParaRPr lang="en-US" altLang="zh-CN" sz="155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864"/>
              </a:spcAft>
              <a:buClrTx/>
              <a:buChar char="▪"/>
            </a:pPr>
            <a:r>
              <a:rPr lang="en-US" altLang="zh-CN" sz="1550" b="0" i="0" u="none" strike="noStrike" kern="1200" cap="none" spc="0" baseline="0">
                <a:solidFill>
                  <a:srgbClr val="1F2937"/>
                </a:solidFill>
                <a:latin typeface="Calibri" charset="0"/>
                <a:ea typeface="Calibri" charset="0"/>
                <a:cs typeface="Calibri" charset="0"/>
              </a:rPr>
              <a:t>Growing importance driven by digital banking, e-commerce, healthcare records, and IoT devices.</a:t>
            </a:r>
            <a:endParaRPr lang="en-US" altLang="zh-CN" sz="155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864"/>
              </a:spcAft>
              <a:buClrTx/>
              <a:buChar char="▪"/>
            </a:pPr>
            <a:r>
              <a:rPr lang="en-US" altLang="zh-CN" sz="1550" b="0" i="0" u="none" strike="noStrike" kern="1200" cap="none" spc="0" baseline="0">
                <a:solidFill>
                  <a:srgbClr val="1F2937"/>
                </a:solidFill>
                <a:latin typeface="Calibri" charset="0"/>
                <a:ea typeface="Calibri" charset="0"/>
                <a:cs typeface="Calibri" charset="0"/>
              </a:rPr>
              <a:t>Foundation for building trust in digital communication and online transactions.</a:t>
            </a:r>
            <a:endParaRPr lang="en-US" altLang="zh-CN" sz="155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864"/>
              </a:spcAft>
              <a:buClrTx/>
              <a:buChar char="▪"/>
            </a:pPr>
            <a:r>
              <a:rPr lang="en-US" altLang="zh-CN" sz="1550" b="0" i="0" u="none" strike="noStrike" kern="1200" cap="none" spc="0" baseline="0">
                <a:solidFill>
                  <a:srgbClr val="1F2937"/>
                </a:solidFill>
                <a:latin typeface="Calibri" charset="0"/>
                <a:ea typeface="Calibri" charset="0"/>
                <a:cs typeface="Calibri" charset="0"/>
              </a:rPr>
              <a:t>Framed by international standards such as ISO/IEC 27001 and NIST SP 800-53.</a:t>
            </a:r>
            <a:endParaRPr lang="zh-CN" altLang="en-US" sz="1550" b="0" i="0" u="none" strike="noStrike" kern="1200" cap="none" spc="0" baseline="0">
              <a:solidFill>
                <a:schemeClr val="tx1"/>
              </a:solidFill>
              <a:latin typeface="Calibri" charset="0"/>
              <a:ea typeface="等线" charset="0"/>
              <a:cs typeface="Calibri" charset="0"/>
            </a:endParaRPr>
          </a:p>
        </p:txBody>
      </p:sp>
      <p:sp>
        <p:nvSpPr>
          <p:cNvPr id="40" name="Oval"/>
          <p:cNvSpPr>
            <a:spLocks/>
          </p:cNvSpPr>
          <p:nvPr/>
        </p:nvSpPr>
        <p:spPr>
          <a:xfrm>
            <a:off x="7132320" y="1554480"/>
            <a:ext cx="4206238" cy="4206240"/>
          </a:xfrm>
          <a:prstGeom prst="ellipse">
            <a:avLst/>
          </a:prstGeom>
          <a:solidFill>
            <a:srgbClr val="DCE7FB"/>
          </a:solidFill>
          <a:ln w="12700" cap="flat" cmpd="sng">
            <a:noFill/>
            <a:prstDash val="solid"/>
            <a:miter/>
          </a:ln>
        </p:spPr>
      </p:sp>
      <p:sp>
        <p:nvSpPr>
          <p:cNvPr id="41" name="Oval"/>
          <p:cNvSpPr>
            <a:spLocks/>
          </p:cNvSpPr>
          <p:nvPr/>
        </p:nvSpPr>
        <p:spPr>
          <a:xfrm>
            <a:off x="7635240" y="2057400"/>
            <a:ext cx="3200400" cy="3200400"/>
          </a:xfrm>
          <a:prstGeom prst="ellipse">
            <a:avLst/>
          </a:prstGeom>
          <a:solidFill>
            <a:srgbClr val="AFC9F5"/>
          </a:solidFill>
          <a:ln w="12700" cap="flat" cmpd="sng">
            <a:noFill/>
            <a:prstDash val="solid"/>
            <a:miter/>
          </a:ln>
        </p:spPr>
      </p:sp>
      <p:sp>
        <p:nvSpPr>
          <p:cNvPr id="42" name="Oval"/>
          <p:cNvSpPr>
            <a:spLocks/>
          </p:cNvSpPr>
          <p:nvPr/>
        </p:nvSpPr>
        <p:spPr>
          <a:xfrm>
            <a:off x="8138160" y="2560320"/>
            <a:ext cx="2194559" cy="2194560"/>
          </a:xfrm>
          <a:prstGeom prst="ellipse">
            <a:avLst/>
          </a:prstGeom>
          <a:solidFill>
            <a:srgbClr val="2563EB"/>
          </a:solidFill>
          <a:ln w="12700" cap="flat" cmpd="sng">
            <a:noFill/>
            <a:prstDash val="solid"/>
            <a:miter/>
          </a:ln>
        </p:spPr>
      </p:sp>
      <p:pic>
        <p:nvPicPr>
          <p:cNvPr id="43" name="Image" descr="/home/claude/deck/assets/shield_check.png"/>
          <p:cNvPicPr>
            <a:picLocks noChangeAspect="1"/>
          </p:cNvPicPr>
          <p:nvPr/>
        </p:nvPicPr>
        <p:blipFill>
          <a:blip r:embed="rId3" cstate="print"/>
          <a:stretch>
            <a:fillRect/>
          </a:stretch>
        </p:blipFill>
        <p:spPr>
          <a:xfrm>
            <a:off x="8778240" y="3200400"/>
            <a:ext cx="914400" cy="914400"/>
          </a:xfrm>
          <a:prstGeom prst="rect">
            <a:avLst/>
          </a:prstGeom>
          <a:noFill/>
          <a:ln w="12700" cap="flat" cmpd="sng">
            <a:noFill/>
            <a:prstDash val="solid"/>
            <a:miter/>
          </a:ln>
        </p:spPr>
      </p:pic>
      <p:sp>
        <p:nvSpPr>
          <p:cNvPr id="44" name="Rectangle"/>
          <p:cNvSpPr>
            <a:spLocks/>
          </p:cNvSpPr>
          <p:nvPr/>
        </p:nvSpPr>
        <p:spPr>
          <a:xfrm>
            <a:off x="7955280" y="5074920"/>
            <a:ext cx="2560318" cy="18288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250" b="1" i="0" u="none" strike="noStrike" kern="1200" cap="none" spc="0" baseline="0">
                <a:solidFill>
                  <a:srgbClr val="1F2937"/>
                </a:solidFill>
                <a:latin typeface="Calibri" charset="0"/>
                <a:ea typeface="Calibri" charset="0"/>
                <a:cs typeface="Calibri" charset="0"/>
              </a:rPr>
              <a:t>Layered</a:t>
            </a:r>
            <a:endParaRPr lang="en-US" altLang="zh-CN" sz="1250" b="0" i="0" u="none" strike="noStrike" kern="1200" cap="none" spc="0" baseline="0">
              <a:solidFill>
                <a:schemeClr val="tx1"/>
              </a:solidFill>
              <a:latin typeface="Calibri" charset="0"/>
              <a:ea typeface="等线" charset="0"/>
              <a:cs typeface="Calibri" charset="0"/>
            </a:endParaRPr>
          </a:p>
          <a:p>
            <a:pPr marL="0" indent="0" algn="ctr">
              <a:lnSpc>
                <a:spcPct val="100000"/>
              </a:lnSpc>
              <a:spcBef>
                <a:spcPts val="0"/>
              </a:spcBef>
              <a:spcAft>
                <a:spcPts val="0"/>
              </a:spcAft>
              <a:buNone/>
            </a:pPr>
            <a:r>
              <a:rPr lang="en-US" altLang="zh-CN" sz="1250" b="1" i="0" u="none" strike="noStrike" kern="1200" cap="none" spc="0" baseline="0">
                <a:solidFill>
                  <a:srgbClr val="1F2937"/>
                </a:solidFill>
                <a:latin typeface="Calibri" charset="0"/>
                <a:ea typeface="Calibri" charset="0"/>
                <a:cs typeface="Calibri" charset="0"/>
              </a:rPr>
              <a:t>Defense</a:t>
            </a:r>
            <a:endParaRPr lang="zh-CN" altLang="en-US" sz="1250" b="0" i="0" u="none" strike="noStrike" kern="1200" cap="none" spc="0" baseline="0">
              <a:solidFill>
                <a:schemeClr val="tx1"/>
              </a:solidFill>
              <a:latin typeface="Calibri" charset="0"/>
              <a:ea typeface="等线" charset="0"/>
              <a:cs typeface="Calibri" charset="0"/>
            </a:endParaRPr>
          </a:p>
        </p:txBody>
      </p:sp>
      <p:sp>
        <p:nvSpPr>
          <p:cNvPr id="45" name="Rectangle"/>
          <p:cNvSpPr>
            <a:spLocks/>
          </p:cNvSpPr>
          <p:nvPr/>
        </p:nvSpPr>
        <p:spPr>
          <a:xfrm>
            <a:off x="548640" y="6528816"/>
            <a:ext cx="548640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charset="0"/>
                <a:ea typeface="Calibri" charset="0"/>
                <a:cs typeface="Calibri" charset="0"/>
              </a:rPr>
              <a:t>Cryptography &amp; Network Security</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46" name="Rectangle"/>
          <p:cNvSpPr>
            <a:spLocks/>
          </p:cNvSpPr>
          <p:nvPr/>
        </p:nvSpPr>
        <p:spPr>
          <a:xfrm>
            <a:off x="11338560" y="6528816"/>
            <a:ext cx="36576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charset="0"/>
                <a:ea typeface="Calibri" charset="0"/>
                <a:cs typeface="Calibri" charset="0"/>
              </a:rPr>
              <a:t>2</a:t>
            </a:r>
            <a:endParaRPr lang="zh-CN" altLang="en-US" sz="9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631126068"/>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4592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6246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4836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1267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08275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9344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359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3885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0223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5247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57198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348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42287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71870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5686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16819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09868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55897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65514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29633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9726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75037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71392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2606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83375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91352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05640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43622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47903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09745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45191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43179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79054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76400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29686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36990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94333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46513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46880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95624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23365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95956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64894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51938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18666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23393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12417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346209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93269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52549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19819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74370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667931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Rectangle"/>
          <p:cNvSpPr>
            <a:spLocks/>
          </p:cNvSpPr>
          <p:nvPr/>
        </p:nvSpPr>
        <p:spPr>
          <a:xfrm>
            <a:off x="548640" y="320040"/>
            <a:ext cx="7315200" cy="32004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charset="0"/>
                <a:ea typeface="Calibri" charset="0"/>
                <a:cs typeface="Calibri" charset="0"/>
              </a:rPr>
              <a:t>TOPIC 1 · ATTACKS</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52" name="Rectangle"/>
          <p:cNvSpPr>
            <a:spLocks/>
          </p:cNvSpPr>
          <p:nvPr/>
        </p:nvSpPr>
        <p:spPr>
          <a:xfrm>
            <a:off x="548640" y="566928"/>
            <a:ext cx="11064240" cy="7315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Security Attacks</a:t>
            </a:r>
            <a:endParaRPr lang="zh-CN" altLang="en-US" sz="3200" b="0" i="0" u="none" strike="noStrike" kern="1200" cap="none" spc="0" baseline="0">
              <a:solidFill>
                <a:schemeClr val="tx1"/>
              </a:solidFill>
              <a:latin typeface="Calibri" charset="0"/>
              <a:ea typeface="等线" charset="0"/>
              <a:cs typeface="Calibri" charset="0"/>
            </a:endParaRPr>
          </a:p>
        </p:txBody>
      </p:sp>
      <p:sp>
        <p:nvSpPr>
          <p:cNvPr id="53" name="Rounded rectangle"/>
          <p:cNvSpPr>
            <a:spLocks/>
          </p:cNvSpPr>
          <p:nvPr/>
        </p:nvSpPr>
        <p:spPr>
          <a:xfrm>
            <a:off x="548640" y="1417320"/>
            <a:ext cx="5257800" cy="3246120"/>
          </a:xfrm>
          <a:prstGeom prst="roundRect">
            <a:avLst>
              <a:gd name="adj" fmla="val 2254"/>
            </a:avLst>
          </a:prstGeom>
          <a:solidFill>
            <a:srgbClr val="E8F0FE"/>
          </a:solidFill>
          <a:ln w="12700" cap="flat" cmpd="sng">
            <a:noFill/>
            <a:prstDash val="solid"/>
            <a:miter/>
          </a:ln>
          <a:effectLst>
            <a:outerShdw blurRad="101600" dist="38100" dir="5400000" algn="bl" rotWithShape="0">
              <a:srgbClr val="1F2937">
                <a:alpha val="17647"/>
              </a:srgbClr>
            </a:outerShdw>
          </a:effectLst>
        </p:spPr>
      </p:sp>
      <p:sp>
        <p:nvSpPr>
          <p:cNvPr id="54" name="Oval"/>
          <p:cNvSpPr>
            <a:spLocks/>
          </p:cNvSpPr>
          <p:nvPr/>
        </p:nvSpPr>
        <p:spPr>
          <a:xfrm>
            <a:off x="822960" y="1691639"/>
            <a:ext cx="566928" cy="566928"/>
          </a:xfrm>
          <a:prstGeom prst="ellipse">
            <a:avLst/>
          </a:prstGeom>
          <a:solidFill>
            <a:srgbClr val="2563EB"/>
          </a:solidFill>
          <a:ln w="12700" cap="flat" cmpd="sng">
            <a:noFill/>
            <a:prstDash val="solid"/>
            <a:miter/>
          </a:ln>
        </p:spPr>
      </p:sp>
      <p:pic>
        <p:nvPicPr>
          <p:cNvPr id="55" name="Image" descr="/home/claude/deck/assets/eye.png"/>
          <p:cNvPicPr>
            <a:picLocks noChangeAspect="1"/>
          </p:cNvPicPr>
          <p:nvPr/>
        </p:nvPicPr>
        <p:blipFill>
          <a:blip r:embed="rId3" cstate="print"/>
          <a:stretch>
            <a:fillRect/>
          </a:stretch>
        </p:blipFill>
        <p:spPr>
          <a:xfrm>
            <a:off x="942015" y="1810695"/>
            <a:ext cx="328818" cy="328817"/>
          </a:xfrm>
          <a:prstGeom prst="rect">
            <a:avLst/>
          </a:prstGeom>
          <a:noFill/>
          <a:ln w="12700" cap="flat" cmpd="sng">
            <a:noFill/>
            <a:prstDash val="solid"/>
            <a:miter/>
          </a:ln>
        </p:spPr>
      </p:pic>
      <p:sp>
        <p:nvSpPr>
          <p:cNvPr id="56" name="Rectangle"/>
          <p:cNvSpPr>
            <a:spLocks/>
          </p:cNvSpPr>
          <p:nvPr/>
        </p:nvSpPr>
        <p:spPr>
          <a:xfrm>
            <a:off x="1554480" y="1709928"/>
            <a:ext cx="4023359" cy="45720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800" b="1" i="0" u="none" strike="noStrike" kern="1200" cap="none" spc="0" baseline="0">
                <a:solidFill>
                  <a:srgbClr val="1F2937"/>
                </a:solidFill>
                <a:latin typeface="Cambria" pitchFamily="34" charset="0"/>
                <a:ea typeface="Cambria" pitchFamily="34" charset="0"/>
                <a:cs typeface="Cambria" pitchFamily="34" charset="0"/>
              </a:rPr>
              <a:t>Passive Attacks</a:t>
            </a:r>
            <a:endParaRPr lang="zh-CN" altLang="en-US" sz="1800" b="0" i="0" u="none" strike="noStrike" kern="1200" cap="none" spc="0" baseline="0">
              <a:solidFill>
                <a:schemeClr val="tx1"/>
              </a:solidFill>
              <a:latin typeface="Calibri" charset="0"/>
              <a:ea typeface="等线" charset="0"/>
              <a:cs typeface="Calibri" charset="0"/>
            </a:endParaRPr>
          </a:p>
        </p:txBody>
      </p:sp>
      <p:sp>
        <p:nvSpPr>
          <p:cNvPr id="57" name="Rectangle"/>
          <p:cNvSpPr>
            <a:spLocks/>
          </p:cNvSpPr>
          <p:nvPr/>
        </p:nvSpPr>
        <p:spPr>
          <a:xfrm>
            <a:off x="822960" y="2331720"/>
            <a:ext cx="4709160" cy="5029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342900" indent="-342900" algn="l">
              <a:lnSpc>
                <a:spcPct val="115000"/>
              </a:lnSpc>
              <a:spcBef>
                <a:spcPts val="0"/>
              </a:spcBef>
              <a:spcAft>
                <a:spcPts val="864"/>
              </a:spcAft>
              <a:buClrTx/>
              <a:buChar char="▪"/>
            </a:pPr>
            <a:r>
              <a:rPr lang="en-US" altLang="zh-CN" sz="1350" b="0" i="0" u="none" strike="noStrike" kern="1200" cap="none" spc="0" baseline="0">
                <a:solidFill>
                  <a:srgbClr val="1F2937"/>
                </a:solidFill>
                <a:latin typeface="Calibri" charset="0"/>
                <a:ea typeface="Calibri" charset="0"/>
                <a:cs typeface="Calibri" charset="0"/>
              </a:rPr>
              <a:t>Monitor or eavesdrop without altering data</a:t>
            </a:r>
            <a:endParaRPr lang="en-US" altLang="zh-CN" sz="135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864"/>
              </a:spcAft>
              <a:buClrTx/>
              <a:buChar char="▪"/>
            </a:pPr>
            <a:r>
              <a:rPr lang="en-US" altLang="zh-CN" sz="1350" b="0" i="0" u="none" strike="noStrike" kern="1200" cap="none" spc="0" baseline="0">
                <a:solidFill>
                  <a:srgbClr val="1F2937"/>
                </a:solidFill>
                <a:latin typeface="Calibri" charset="0"/>
                <a:ea typeface="Calibri" charset="0"/>
                <a:cs typeface="Calibri" charset="0"/>
              </a:rPr>
              <a:t>Goal: obtain information in transit</a:t>
            </a:r>
            <a:endParaRPr lang="en-US" altLang="zh-CN" sz="135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864"/>
              </a:spcAft>
              <a:buClrTx/>
              <a:buChar char="▪"/>
            </a:pPr>
            <a:r>
              <a:rPr lang="en-US" altLang="zh-CN" sz="1350" b="0" i="0" u="none" strike="noStrike" kern="1200" cap="none" spc="0" baseline="0">
                <a:solidFill>
                  <a:srgbClr val="1F2937"/>
                </a:solidFill>
                <a:latin typeface="Calibri" charset="0"/>
                <a:ea typeface="Calibri" charset="0"/>
                <a:cs typeface="Calibri" charset="0"/>
              </a:rPr>
              <a:t>Hard to detect since data isn't modified</a:t>
            </a:r>
            <a:endParaRPr lang="en-US" altLang="zh-CN" sz="135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864"/>
              </a:spcAft>
              <a:buClrTx/>
              <a:buChar char="▪"/>
            </a:pPr>
            <a:r>
              <a:rPr lang="en-US" altLang="zh-CN" sz="1350" b="0" i="0" u="none" strike="noStrike" kern="1200" cap="none" spc="0" baseline="0">
                <a:solidFill>
                  <a:srgbClr val="1F2937"/>
                </a:solidFill>
                <a:latin typeface="Calibri" charset="0"/>
                <a:ea typeface="Calibri" charset="0"/>
                <a:cs typeface="Calibri" charset="0"/>
              </a:rPr>
              <a:t>Examples: traffic analysis, wiretapping</a:t>
            </a:r>
            <a:endParaRPr lang="zh-CN" altLang="en-US" sz="1350" b="0" i="0" u="none" strike="noStrike" kern="1200" cap="none" spc="0" baseline="0">
              <a:solidFill>
                <a:schemeClr val="tx1"/>
              </a:solidFill>
              <a:latin typeface="Calibri" charset="0"/>
              <a:ea typeface="等线" charset="0"/>
              <a:cs typeface="Calibri" charset="0"/>
            </a:endParaRPr>
          </a:p>
        </p:txBody>
      </p:sp>
      <p:sp>
        <p:nvSpPr>
          <p:cNvPr id="58" name="Rounded rectangle"/>
          <p:cNvSpPr>
            <a:spLocks/>
          </p:cNvSpPr>
          <p:nvPr/>
        </p:nvSpPr>
        <p:spPr>
          <a:xfrm>
            <a:off x="6126478" y="1417320"/>
            <a:ext cx="5257799" cy="3246120"/>
          </a:xfrm>
          <a:prstGeom prst="roundRect">
            <a:avLst>
              <a:gd name="adj" fmla="val 2254"/>
            </a:avLst>
          </a:prstGeom>
          <a:solidFill>
            <a:srgbClr val="FDECEC"/>
          </a:solidFill>
          <a:ln w="12700" cap="flat" cmpd="sng">
            <a:noFill/>
            <a:prstDash val="solid"/>
            <a:miter/>
          </a:ln>
          <a:effectLst>
            <a:outerShdw blurRad="101600" dist="38100" dir="5400000" algn="bl" rotWithShape="0">
              <a:srgbClr val="1F2937">
                <a:alpha val="17647"/>
              </a:srgbClr>
            </a:outerShdw>
          </a:effectLst>
        </p:spPr>
      </p:sp>
      <p:sp>
        <p:nvSpPr>
          <p:cNvPr id="59" name="Oval"/>
          <p:cNvSpPr>
            <a:spLocks/>
          </p:cNvSpPr>
          <p:nvPr/>
        </p:nvSpPr>
        <p:spPr>
          <a:xfrm>
            <a:off x="6400800" y="1691639"/>
            <a:ext cx="566927" cy="566928"/>
          </a:xfrm>
          <a:prstGeom prst="ellipse">
            <a:avLst/>
          </a:prstGeom>
          <a:solidFill>
            <a:srgbClr val="DC2626"/>
          </a:solidFill>
          <a:ln w="12700" cap="flat" cmpd="sng">
            <a:noFill/>
            <a:prstDash val="solid"/>
            <a:miter/>
          </a:ln>
        </p:spPr>
      </p:sp>
      <p:pic>
        <p:nvPicPr>
          <p:cNvPr id="60" name="Image" descr="/home/claude/deck/assets/zap.png"/>
          <p:cNvPicPr>
            <a:picLocks noChangeAspect="1"/>
          </p:cNvPicPr>
          <p:nvPr/>
        </p:nvPicPr>
        <p:blipFill>
          <a:blip r:embed="rId4" cstate="print"/>
          <a:stretch>
            <a:fillRect/>
          </a:stretch>
        </p:blipFill>
        <p:spPr>
          <a:xfrm>
            <a:off x="6519854" y="1810695"/>
            <a:ext cx="328816" cy="328817"/>
          </a:xfrm>
          <a:prstGeom prst="rect">
            <a:avLst/>
          </a:prstGeom>
          <a:noFill/>
          <a:ln w="12700" cap="flat" cmpd="sng">
            <a:noFill/>
            <a:prstDash val="solid"/>
            <a:miter/>
          </a:ln>
        </p:spPr>
      </p:pic>
      <p:sp>
        <p:nvSpPr>
          <p:cNvPr id="61" name="Rectangle"/>
          <p:cNvSpPr>
            <a:spLocks/>
          </p:cNvSpPr>
          <p:nvPr/>
        </p:nvSpPr>
        <p:spPr>
          <a:xfrm>
            <a:off x="7132320" y="1709928"/>
            <a:ext cx="4023359" cy="45720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800" b="1" i="0" u="none" strike="noStrike" kern="1200" cap="none" spc="0" baseline="0">
                <a:solidFill>
                  <a:srgbClr val="1F2937"/>
                </a:solidFill>
                <a:latin typeface="Cambria" pitchFamily="34" charset="0"/>
                <a:ea typeface="Cambria" pitchFamily="34" charset="0"/>
                <a:cs typeface="Cambria" pitchFamily="34" charset="0"/>
              </a:rPr>
              <a:t>Active Attacks</a:t>
            </a:r>
            <a:endParaRPr lang="zh-CN" altLang="en-US" sz="1800" b="0" i="0" u="none" strike="noStrike" kern="1200" cap="none" spc="0" baseline="0">
              <a:solidFill>
                <a:schemeClr val="tx1"/>
              </a:solidFill>
              <a:latin typeface="Calibri" charset="0"/>
              <a:ea typeface="等线" charset="0"/>
              <a:cs typeface="Calibri" charset="0"/>
            </a:endParaRPr>
          </a:p>
        </p:txBody>
      </p:sp>
      <p:sp>
        <p:nvSpPr>
          <p:cNvPr id="62" name="Rectangle"/>
          <p:cNvSpPr>
            <a:spLocks/>
          </p:cNvSpPr>
          <p:nvPr/>
        </p:nvSpPr>
        <p:spPr>
          <a:xfrm>
            <a:off x="6400800" y="2331720"/>
            <a:ext cx="4709159" cy="5029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342900" indent="-342900" algn="l">
              <a:lnSpc>
                <a:spcPct val="115000"/>
              </a:lnSpc>
              <a:spcBef>
                <a:spcPts val="0"/>
              </a:spcBef>
              <a:spcAft>
                <a:spcPts val="864"/>
              </a:spcAft>
              <a:buClrTx/>
              <a:buChar char="▪"/>
            </a:pPr>
            <a:r>
              <a:rPr lang="en-US" altLang="zh-CN" sz="1350" b="0" i="0" u="none" strike="noStrike" kern="1200" cap="none" spc="0" baseline="0">
                <a:solidFill>
                  <a:srgbClr val="1F2937"/>
                </a:solidFill>
                <a:latin typeface="Calibri" charset="0"/>
                <a:ea typeface="Calibri" charset="0"/>
                <a:cs typeface="Calibri" charset="0"/>
              </a:rPr>
              <a:t>Modify data or disrupt system operations</a:t>
            </a:r>
            <a:endParaRPr lang="en-US" altLang="zh-CN" sz="135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864"/>
              </a:spcAft>
              <a:buClrTx/>
              <a:buChar char="▪"/>
            </a:pPr>
            <a:r>
              <a:rPr lang="en-US" altLang="zh-CN" sz="1350" b="0" i="0" u="none" strike="noStrike" kern="1200" cap="none" spc="0" baseline="0">
                <a:solidFill>
                  <a:srgbClr val="1F2937"/>
                </a:solidFill>
                <a:latin typeface="Calibri" charset="0"/>
                <a:ea typeface="Calibri" charset="0"/>
                <a:cs typeface="Calibri" charset="0"/>
              </a:rPr>
              <a:t>Goal: alter, delete, or forge information</a:t>
            </a:r>
            <a:endParaRPr lang="en-US" altLang="zh-CN" sz="135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864"/>
              </a:spcAft>
              <a:buClrTx/>
              <a:buChar char="▪"/>
            </a:pPr>
            <a:r>
              <a:rPr lang="en-US" altLang="zh-CN" sz="1350" b="0" i="0" u="none" strike="noStrike" kern="1200" cap="none" spc="0" baseline="0">
                <a:solidFill>
                  <a:srgbClr val="1F2937"/>
                </a:solidFill>
                <a:latin typeface="Calibri" charset="0"/>
                <a:ea typeface="Calibri" charset="0"/>
                <a:cs typeface="Calibri" charset="0"/>
              </a:rPr>
              <a:t>Easier to detect, harder to prevent</a:t>
            </a:r>
            <a:endParaRPr lang="en-US" altLang="zh-CN" sz="135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864"/>
              </a:spcAft>
              <a:buClrTx/>
              <a:buChar char="▪"/>
            </a:pPr>
            <a:r>
              <a:rPr lang="en-US" altLang="zh-CN" sz="1350" b="0" i="0" u="none" strike="noStrike" kern="1200" cap="none" spc="0" baseline="0">
                <a:solidFill>
                  <a:srgbClr val="1F2937"/>
                </a:solidFill>
                <a:latin typeface="Calibri" charset="0"/>
                <a:ea typeface="Calibri" charset="0"/>
                <a:cs typeface="Calibri" charset="0"/>
              </a:rPr>
              <a:t>Examples: masquerade, replay, DoS, modification</a:t>
            </a:r>
            <a:endParaRPr lang="zh-CN" altLang="en-US" sz="1350" b="0" i="0" u="none" strike="noStrike" kern="1200" cap="none" spc="0" baseline="0">
              <a:solidFill>
                <a:schemeClr val="tx1"/>
              </a:solidFill>
              <a:latin typeface="Calibri" charset="0"/>
              <a:ea typeface="等线" charset="0"/>
              <a:cs typeface="Calibri" charset="0"/>
            </a:endParaRPr>
          </a:p>
        </p:txBody>
      </p:sp>
      <p:sp>
        <p:nvSpPr>
          <p:cNvPr id="63" name="Rectangle"/>
          <p:cNvSpPr>
            <a:spLocks/>
          </p:cNvSpPr>
          <p:nvPr/>
        </p:nvSpPr>
        <p:spPr>
          <a:xfrm>
            <a:off x="548640" y="4892040"/>
            <a:ext cx="4572000" cy="27431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100" b="1" i="0" u="none" strike="noStrike" kern="0" cap="none" spc="150" baseline="0">
                <a:solidFill>
                  <a:srgbClr val="64748B"/>
                </a:solidFill>
                <a:latin typeface="Calibri" charset="0"/>
                <a:ea typeface="Calibri" charset="0"/>
                <a:cs typeface="Calibri" charset="0"/>
              </a:rPr>
              <a:t>REAL-WORLD EXAMPLES</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64" name="Oval"/>
          <p:cNvSpPr>
            <a:spLocks/>
          </p:cNvSpPr>
          <p:nvPr/>
        </p:nvSpPr>
        <p:spPr>
          <a:xfrm>
            <a:off x="548640" y="5257800"/>
            <a:ext cx="457200" cy="457200"/>
          </a:xfrm>
          <a:prstGeom prst="ellipse">
            <a:avLst/>
          </a:prstGeom>
          <a:solidFill>
            <a:srgbClr val="1F2937"/>
          </a:solidFill>
          <a:ln w="12700" cap="flat" cmpd="sng">
            <a:noFill/>
            <a:prstDash val="solid"/>
            <a:miter/>
          </a:ln>
        </p:spPr>
      </p:sp>
      <p:pic>
        <p:nvPicPr>
          <p:cNvPr id="65" name="Image" descr="/home/claude/deck/assets/wifi.png"/>
          <p:cNvPicPr>
            <a:picLocks noChangeAspect="1"/>
          </p:cNvPicPr>
          <p:nvPr/>
        </p:nvPicPr>
        <p:blipFill>
          <a:blip r:embed="rId5" cstate="print"/>
          <a:stretch>
            <a:fillRect/>
          </a:stretch>
        </p:blipFill>
        <p:spPr>
          <a:xfrm>
            <a:off x="651510" y="5360670"/>
            <a:ext cx="251459" cy="251458"/>
          </a:xfrm>
          <a:prstGeom prst="rect">
            <a:avLst/>
          </a:prstGeom>
          <a:noFill/>
          <a:ln w="12700" cap="flat" cmpd="sng">
            <a:noFill/>
            <a:prstDash val="solid"/>
            <a:miter/>
          </a:ln>
        </p:spPr>
      </p:pic>
      <p:sp>
        <p:nvSpPr>
          <p:cNvPr id="66" name="Rectangle"/>
          <p:cNvSpPr>
            <a:spLocks/>
          </p:cNvSpPr>
          <p:nvPr/>
        </p:nvSpPr>
        <p:spPr>
          <a:xfrm>
            <a:off x="1143000" y="5239512"/>
            <a:ext cx="3017519" cy="27431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250" b="1" i="0" u="none" strike="noStrike" kern="1200" cap="none" spc="0" baseline="0">
                <a:solidFill>
                  <a:srgbClr val="1F2937"/>
                </a:solidFill>
                <a:latin typeface="Calibri" charset="0"/>
                <a:ea typeface="Calibri" charset="0"/>
                <a:cs typeface="Calibri" charset="0"/>
              </a:rPr>
              <a:t>Wi-Fi Eavesdropping</a:t>
            </a:r>
            <a:endParaRPr lang="zh-CN" altLang="en-US" sz="1250" b="0" i="0" u="none" strike="noStrike" kern="1200" cap="none" spc="0" baseline="0">
              <a:solidFill>
                <a:schemeClr val="tx1"/>
              </a:solidFill>
              <a:latin typeface="Calibri" charset="0"/>
              <a:ea typeface="等线" charset="0"/>
              <a:cs typeface="Calibri" charset="0"/>
            </a:endParaRPr>
          </a:p>
        </p:txBody>
      </p:sp>
      <p:sp>
        <p:nvSpPr>
          <p:cNvPr id="67" name="Rectangle"/>
          <p:cNvSpPr>
            <a:spLocks/>
          </p:cNvSpPr>
          <p:nvPr/>
        </p:nvSpPr>
        <p:spPr>
          <a:xfrm>
            <a:off x="1143000" y="5486400"/>
            <a:ext cx="3017519"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2563EB"/>
                </a:solidFill>
                <a:latin typeface="Calibri" charset="0"/>
                <a:ea typeface="Calibri" charset="0"/>
                <a:cs typeface="Calibri" charset="0"/>
              </a:rPr>
              <a:t>Passive</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68" name="Oval"/>
          <p:cNvSpPr>
            <a:spLocks/>
          </p:cNvSpPr>
          <p:nvPr/>
        </p:nvSpPr>
        <p:spPr>
          <a:xfrm>
            <a:off x="4297680" y="5257800"/>
            <a:ext cx="457200" cy="457200"/>
          </a:xfrm>
          <a:prstGeom prst="ellipse">
            <a:avLst/>
          </a:prstGeom>
          <a:solidFill>
            <a:srgbClr val="1F2937"/>
          </a:solidFill>
          <a:ln w="12700" cap="flat" cmpd="sng">
            <a:noFill/>
            <a:prstDash val="solid"/>
            <a:miter/>
          </a:ln>
        </p:spPr>
      </p:sp>
      <p:pic>
        <p:nvPicPr>
          <p:cNvPr id="69" name="Image" descr="/home/claude/deck/assets/server.png"/>
          <p:cNvPicPr>
            <a:picLocks noChangeAspect="1"/>
          </p:cNvPicPr>
          <p:nvPr/>
        </p:nvPicPr>
        <p:blipFill>
          <a:blip r:embed="rId6" cstate="print"/>
          <a:stretch>
            <a:fillRect/>
          </a:stretch>
        </p:blipFill>
        <p:spPr>
          <a:xfrm>
            <a:off x="4400550" y="5360670"/>
            <a:ext cx="251459" cy="251458"/>
          </a:xfrm>
          <a:prstGeom prst="rect">
            <a:avLst/>
          </a:prstGeom>
          <a:noFill/>
          <a:ln w="12700" cap="flat" cmpd="sng">
            <a:noFill/>
            <a:prstDash val="solid"/>
            <a:miter/>
          </a:ln>
        </p:spPr>
      </p:pic>
      <p:sp>
        <p:nvSpPr>
          <p:cNvPr id="70" name="Rectangle"/>
          <p:cNvSpPr>
            <a:spLocks/>
          </p:cNvSpPr>
          <p:nvPr/>
        </p:nvSpPr>
        <p:spPr>
          <a:xfrm>
            <a:off x="4892040" y="5239512"/>
            <a:ext cx="3017519" cy="27431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250" b="1" i="0" u="none" strike="noStrike" kern="1200" cap="none" spc="0" baseline="0">
                <a:solidFill>
                  <a:srgbClr val="1F2937"/>
                </a:solidFill>
                <a:latin typeface="Calibri" charset="0"/>
                <a:ea typeface="Calibri" charset="0"/>
                <a:cs typeface="Calibri" charset="0"/>
              </a:rPr>
              <a:t>DDoS on Web Servers</a:t>
            </a:r>
            <a:endParaRPr lang="zh-CN" altLang="en-US" sz="1250" b="0" i="0" u="none" strike="noStrike" kern="1200" cap="none" spc="0" baseline="0">
              <a:solidFill>
                <a:schemeClr val="tx1"/>
              </a:solidFill>
              <a:latin typeface="Calibri" charset="0"/>
              <a:ea typeface="等线" charset="0"/>
              <a:cs typeface="Calibri" charset="0"/>
            </a:endParaRPr>
          </a:p>
        </p:txBody>
      </p:sp>
      <p:sp>
        <p:nvSpPr>
          <p:cNvPr id="71" name="Rectangle"/>
          <p:cNvSpPr>
            <a:spLocks/>
          </p:cNvSpPr>
          <p:nvPr/>
        </p:nvSpPr>
        <p:spPr>
          <a:xfrm>
            <a:off x="4892040" y="5486400"/>
            <a:ext cx="3017519"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DC2626"/>
                </a:solidFill>
                <a:latin typeface="Calibri" charset="0"/>
                <a:ea typeface="Calibri" charset="0"/>
                <a:cs typeface="Calibri" charset="0"/>
              </a:rPr>
              <a:t>Active</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72" name="Oval"/>
          <p:cNvSpPr>
            <a:spLocks/>
          </p:cNvSpPr>
          <p:nvPr/>
        </p:nvSpPr>
        <p:spPr>
          <a:xfrm>
            <a:off x="8046719" y="5257800"/>
            <a:ext cx="457200" cy="457200"/>
          </a:xfrm>
          <a:prstGeom prst="ellipse">
            <a:avLst/>
          </a:prstGeom>
          <a:solidFill>
            <a:srgbClr val="1F2937"/>
          </a:solidFill>
          <a:ln w="12700" cap="flat" cmpd="sng">
            <a:noFill/>
            <a:prstDash val="solid"/>
            <a:miter/>
          </a:ln>
        </p:spPr>
      </p:sp>
      <p:pic>
        <p:nvPicPr>
          <p:cNvPr id="73" name="Image" descr="/home/claude/deck/assets/user_x.png"/>
          <p:cNvPicPr>
            <a:picLocks noChangeAspect="1"/>
          </p:cNvPicPr>
          <p:nvPr/>
        </p:nvPicPr>
        <p:blipFill>
          <a:blip r:embed="rId7" cstate="print"/>
          <a:stretch>
            <a:fillRect/>
          </a:stretch>
        </p:blipFill>
        <p:spPr>
          <a:xfrm>
            <a:off x="8149589" y="5360670"/>
            <a:ext cx="251458" cy="251458"/>
          </a:xfrm>
          <a:prstGeom prst="rect">
            <a:avLst/>
          </a:prstGeom>
          <a:noFill/>
          <a:ln w="12700" cap="flat" cmpd="sng">
            <a:noFill/>
            <a:prstDash val="solid"/>
            <a:miter/>
          </a:ln>
        </p:spPr>
      </p:pic>
      <p:sp>
        <p:nvSpPr>
          <p:cNvPr id="74" name="Rectangle"/>
          <p:cNvSpPr>
            <a:spLocks/>
          </p:cNvSpPr>
          <p:nvPr/>
        </p:nvSpPr>
        <p:spPr>
          <a:xfrm>
            <a:off x="8641080" y="5239512"/>
            <a:ext cx="3017519" cy="27431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250" b="1" i="0" u="none" strike="noStrike" kern="1200" cap="none" spc="0" baseline="0">
                <a:solidFill>
                  <a:srgbClr val="1F2937"/>
                </a:solidFill>
                <a:latin typeface="Calibri" charset="0"/>
                <a:ea typeface="Calibri" charset="0"/>
                <a:cs typeface="Calibri" charset="0"/>
              </a:rPr>
              <a:t>Session Hijacking</a:t>
            </a:r>
            <a:endParaRPr lang="zh-CN" altLang="en-US" sz="1250" b="0" i="0" u="none" strike="noStrike" kern="1200" cap="none" spc="0" baseline="0">
              <a:solidFill>
                <a:schemeClr val="tx1"/>
              </a:solidFill>
              <a:latin typeface="Calibri" charset="0"/>
              <a:ea typeface="等线" charset="0"/>
              <a:cs typeface="Calibri" charset="0"/>
            </a:endParaRPr>
          </a:p>
        </p:txBody>
      </p:sp>
      <p:sp>
        <p:nvSpPr>
          <p:cNvPr id="75" name="Rectangle"/>
          <p:cNvSpPr>
            <a:spLocks/>
          </p:cNvSpPr>
          <p:nvPr/>
        </p:nvSpPr>
        <p:spPr>
          <a:xfrm>
            <a:off x="8641080" y="5486400"/>
            <a:ext cx="3017519"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DC2626"/>
                </a:solidFill>
                <a:latin typeface="Calibri" charset="0"/>
                <a:ea typeface="Calibri" charset="0"/>
                <a:cs typeface="Calibri" charset="0"/>
              </a:rPr>
              <a:t>Active</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76" name="Rectangle"/>
          <p:cNvSpPr>
            <a:spLocks/>
          </p:cNvSpPr>
          <p:nvPr/>
        </p:nvSpPr>
        <p:spPr>
          <a:xfrm>
            <a:off x="548640" y="6528816"/>
            <a:ext cx="548640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charset="0"/>
                <a:ea typeface="Calibri" charset="0"/>
                <a:cs typeface="Calibri" charset="0"/>
              </a:rPr>
              <a:t>Cryptography &amp; Network Security</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77" name="Rectangle"/>
          <p:cNvSpPr>
            <a:spLocks/>
          </p:cNvSpPr>
          <p:nvPr/>
        </p:nvSpPr>
        <p:spPr>
          <a:xfrm>
            <a:off x="11338560" y="6528816"/>
            <a:ext cx="36576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charset="0"/>
                <a:ea typeface="Calibri" charset="0"/>
                <a:cs typeface="Calibri" charset="0"/>
              </a:rPr>
              <a:t>3</a:t>
            </a:r>
            <a:endParaRPr lang="zh-CN" altLang="en-US" sz="9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49988144"/>
      </p:ext>
    </p:extLst>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 name="Rectangle"/>
          <p:cNvSpPr>
            <a:spLocks/>
          </p:cNvSpPr>
          <p:nvPr/>
        </p:nvSpPr>
        <p:spPr>
          <a:xfrm>
            <a:off x="548640" y="320040"/>
            <a:ext cx="7315200" cy="32004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charset="0"/>
                <a:ea typeface="Calibri" charset="0"/>
                <a:cs typeface="Calibri" charset="0"/>
              </a:rPr>
              <a:t>TOPIC 1 · THREATS</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83" name="Rectangle"/>
          <p:cNvSpPr>
            <a:spLocks/>
          </p:cNvSpPr>
          <p:nvPr/>
        </p:nvSpPr>
        <p:spPr>
          <a:xfrm>
            <a:off x="548640" y="566928"/>
            <a:ext cx="11064240" cy="7315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Threats and Risks</a:t>
            </a:r>
            <a:endParaRPr lang="zh-CN" altLang="en-US" sz="3200" b="0" i="0" u="none" strike="noStrike" kern="1200" cap="none" spc="0" baseline="0">
              <a:solidFill>
                <a:schemeClr val="tx1"/>
              </a:solidFill>
              <a:latin typeface="Calibri" charset="0"/>
              <a:ea typeface="等线" charset="0"/>
              <a:cs typeface="Calibri" charset="0"/>
            </a:endParaRPr>
          </a:p>
        </p:txBody>
      </p:sp>
      <p:sp>
        <p:nvSpPr>
          <p:cNvPr id="84" name="Rounded rectangle"/>
          <p:cNvSpPr>
            <a:spLocks/>
          </p:cNvSpPr>
          <p:nvPr/>
        </p:nvSpPr>
        <p:spPr>
          <a:xfrm>
            <a:off x="548640" y="1508758"/>
            <a:ext cx="2697479" cy="2834640"/>
          </a:xfrm>
          <a:prstGeom prst="roundRect">
            <a:avLst>
              <a:gd name="adj" fmla="val 2712"/>
            </a:avLst>
          </a:prstGeom>
          <a:solidFill>
            <a:srgbClr val="F3F4F6"/>
          </a:solidFill>
          <a:ln w="12700" cap="flat" cmpd="sng">
            <a:noFill/>
            <a:prstDash val="solid"/>
            <a:miter/>
          </a:ln>
          <a:effectLst>
            <a:outerShdw blurRad="101600" dist="38100" dir="5400000" algn="bl" rotWithShape="0">
              <a:srgbClr val="1F2937">
                <a:alpha val="17647"/>
              </a:srgbClr>
            </a:outerShdw>
          </a:effectLst>
        </p:spPr>
      </p:sp>
      <p:sp>
        <p:nvSpPr>
          <p:cNvPr id="85" name="Oval"/>
          <p:cNvSpPr>
            <a:spLocks/>
          </p:cNvSpPr>
          <p:nvPr/>
        </p:nvSpPr>
        <p:spPr>
          <a:xfrm>
            <a:off x="1568196" y="1828800"/>
            <a:ext cx="658368" cy="658368"/>
          </a:xfrm>
          <a:prstGeom prst="ellipse">
            <a:avLst/>
          </a:prstGeom>
          <a:solidFill>
            <a:srgbClr val="DC2626"/>
          </a:solidFill>
          <a:ln w="12700" cap="flat" cmpd="sng">
            <a:noFill/>
            <a:prstDash val="solid"/>
            <a:miter/>
          </a:ln>
        </p:spPr>
      </p:sp>
      <p:pic>
        <p:nvPicPr>
          <p:cNvPr id="86" name="Image" descr="/home/claude/deck/assets/bug.png"/>
          <p:cNvPicPr>
            <a:picLocks noChangeAspect="1"/>
          </p:cNvPicPr>
          <p:nvPr/>
        </p:nvPicPr>
        <p:blipFill>
          <a:blip r:embed="rId3" cstate="print"/>
          <a:stretch>
            <a:fillRect/>
          </a:stretch>
        </p:blipFill>
        <p:spPr>
          <a:xfrm>
            <a:off x="1716329" y="1976933"/>
            <a:ext cx="362102" cy="362102"/>
          </a:xfrm>
          <a:prstGeom prst="rect">
            <a:avLst/>
          </a:prstGeom>
          <a:noFill/>
          <a:ln w="12700" cap="flat" cmpd="sng">
            <a:noFill/>
            <a:prstDash val="solid"/>
            <a:miter/>
          </a:ln>
        </p:spPr>
      </p:pic>
      <p:sp>
        <p:nvSpPr>
          <p:cNvPr id="87" name="Rectangle"/>
          <p:cNvSpPr>
            <a:spLocks/>
          </p:cNvSpPr>
          <p:nvPr/>
        </p:nvSpPr>
        <p:spPr>
          <a:xfrm>
            <a:off x="685800" y="2651760"/>
            <a:ext cx="2423160" cy="36575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500" b="1" i="0" u="none" strike="noStrike" kern="1200" cap="none" spc="0" baseline="0">
                <a:solidFill>
                  <a:srgbClr val="1F2937"/>
                </a:solidFill>
                <a:latin typeface="Cambria" pitchFamily="34" charset="0"/>
                <a:ea typeface="Cambria" pitchFamily="34" charset="0"/>
                <a:cs typeface="Cambria" pitchFamily="34" charset="0"/>
              </a:rPr>
              <a:t>Malware</a:t>
            </a:r>
            <a:endParaRPr lang="zh-CN" altLang="en-US" sz="1500" b="0" i="0" u="none" strike="noStrike" kern="1200" cap="none" spc="0" baseline="0">
              <a:solidFill>
                <a:schemeClr val="tx1"/>
              </a:solidFill>
              <a:latin typeface="Calibri" charset="0"/>
              <a:ea typeface="等线" charset="0"/>
              <a:cs typeface="Calibri" charset="0"/>
            </a:endParaRPr>
          </a:p>
        </p:txBody>
      </p:sp>
      <p:sp>
        <p:nvSpPr>
          <p:cNvPr id="88" name="Rectangle"/>
          <p:cNvSpPr>
            <a:spLocks/>
          </p:cNvSpPr>
          <p:nvPr/>
        </p:nvSpPr>
        <p:spPr>
          <a:xfrm>
            <a:off x="731520" y="3063239"/>
            <a:ext cx="2331720" cy="118872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ctr">
              <a:lnSpc>
                <a:spcPct val="100000"/>
              </a:lnSpc>
              <a:spcBef>
                <a:spcPts val="0"/>
              </a:spcBef>
              <a:spcAft>
                <a:spcPts val="0"/>
              </a:spcAft>
              <a:buNone/>
            </a:pPr>
            <a:r>
              <a:rPr lang="en-US" altLang="zh-CN" sz="1150" b="0" i="0" u="none" strike="noStrike" kern="1200" cap="none" spc="0" baseline="0">
                <a:solidFill>
                  <a:srgbClr val="64748B"/>
                </a:solidFill>
                <a:latin typeface="Calibri" charset="0"/>
                <a:ea typeface="Calibri" charset="0"/>
                <a:cs typeface="Calibri" charset="0"/>
              </a:rPr>
              <a:t>Viruses, worms, trojans, ransomware that damage or exploit systems</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89" name="Rounded rectangle"/>
          <p:cNvSpPr>
            <a:spLocks/>
          </p:cNvSpPr>
          <p:nvPr/>
        </p:nvSpPr>
        <p:spPr>
          <a:xfrm>
            <a:off x="3447288" y="1508758"/>
            <a:ext cx="2697480" cy="2834640"/>
          </a:xfrm>
          <a:prstGeom prst="roundRect">
            <a:avLst>
              <a:gd name="adj" fmla="val 2712"/>
            </a:avLst>
          </a:prstGeom>
          <a:solidFill>
            <a:srgbClr val="F3F4F6"/>
          </a:solidFill>
          <a:ln w="12700" cap="flat" cmpd="sng">
            <a:noFill/>
            <a:prstDash val="solid"/>
            <a:miter/>
          </a:ln>
          <a:effectLst>
            <a:outerShdw blurRad="101600" dist="38100" dir="5400000" algn="bl" rotWithShape="0">
              <a:srgbClr val="1F2937">
                <a:alpha val="17647"/>
              </a:srgbClr>
            </a:outerShdw>
          </a:effectLst>
        </p:spPr>
      </p:sp>
      <p:sp>
        <p:nvSpPr>
          <p:cNvPr id="90" name="Oval"/>
          <p:cNvSpPr>
            <a:spLocks/>
          </p:cNvSpPr>
          <p:nvPr/>
        </p:nvSpPr>
        <p:spPr>
          <a:xfrm>
            <a:off x="4466844" y="1828800"/>
            <a:ext cx="658368" cy="658368"/>
          </a:xfrm>
          <a:prstGeom prst="ellipse">
            <a:avLst/>
          </a:prstGeom>
          <a:solidFill>
            <a:srgbClr val="D97706"/>
          </a:solidFill>
          <a:ln w="12700" cap="flat" cmpd="sng">
            <a:noFill/>
            <a:prstDash val="solid"/>
            <a:miter/>
          </a:ln>
        </p:spPr>
      </p:sp>
      <p:pic>
        <p:nvPicPr>
          <p:cNvPr id="91" name="Image" descr="/home/claude/deck/assets/mail.png"/>
          <p:cNvPicPr>
            <a:picLocks noChangeAspect="1"/>
          </p:cNvPicPr>
          <p:nvPr/>
        </p:nvPicPr>
        <p:blipFill>
          <a:blip r:embed="rId4" cstate="print"/>
          <a:stretch>
            <a:fillRect/>
          </a:stretch>
        </p:blipFill>
        <p:spPr>
          <a:xfrm>
            <a:off x="4614977" y="1976933"/>
            <a:ext cx="362102" cy="362102"/>
          </a:xfrm>
          <a:prstGeom prst="rect">
            <a:avLst/>
          </a:prstGeom>
          <a:noFill/>
          <a:ln w="12700" cap="flat" cmpd="sng">
            <a:noFill/>
            <a:prstDash val="solid"/>
            <a:miter/>
          </a:ln>
        </p:spPr>
      </p:pic>
      <p:sp>
        <p:nvSpPr>
          <p:cNvPr id="92" name="Rectangle"/>
          <p:cNvSpPr>
            <a:spLocks/>
          </p:cNvSpPr>
          <p:nvPr/>
        </p:nvSpPr>
        <p:spPr>
          <a:xfrm>
            <a:off x="3584448" y="2651760"/>
            <a:ext cx="2423160" cy="36575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500" b="1" i="0" u="none" strike="noStrike" kern="1200" cap="none" spc="0" baseline="0">
                <a:solidFill>
                  <a:srgbClr val="1F2937"/>
                </a:solidFill>
                <a:latin typeface="Cambria" pitchFamily="34" charset="0"/>
                <a:ea typeface="Cambria" pitchFamily="34" charset="0"/>
                <a:cs typeface="Cambria" pitchFamily="34" charset="0"/>
              </a:rPr>
              <a:t>Phishing</a:t>
            </a:r>
            <a:endParaRPr lang="zh-CN" altLang="en-US" sz="1500" b="0" i="0" u="none" strike="noStrike" kern="1200" cap="none" spc="0" baseline="0">
              <a:solidFill>
                <a:schemeClr val="tx1"/>
              </a:solidFill>
              <a:latin typeface="Calibri" charset="0"/>
              <a:ea typeface="等线" charset="0"/>
              <a:cs typeface="Calibri" charset="0"/>
            </a:endParaRPr>
          </a:p>
        </p:txBody>
      </p:sp>
      <p:sp>
        <p:nvSpPr>
          <p:cNvPr id="93" name="Rectangle"/>
          <p:cNvSpPr>
            <a:spLocks/>
          </p:cNvSpPr>
          <p:nvPr/>
        </p:nvSpPr>
        <p:spPr>
          <a:xfrm>
            <a:off x="3630167" y="3063239"/>
            <a:ext cx="2331720" cy="118872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ctr">
              <a:lnSpc>
                <a:spcPct val="100000"/>
              </a:lnSpc>
              <a:spcBef>
                <a:spcPts val="0"/>
              </a:spcBef>
              <a:spcAft>
                <a:spcPts val="0"/>
              </a:spcAft>
              <a:buNone/>
            </a:pPr>
            <a:r>
              <a:rPr lang="en-US" altLang="zh-CN" sz="1150" b="0" i="0" u="none" strike="noStrike" kern="1200" cap="none" spc="0" baseline="0">
                <a:solidFill>
                  <a:srgbClr val="64748B"/>
                </a:solidFill>
                <a:latin typeface="Calibri" charset="0"/>
                <a:ea typeface="Calibri" charset="0"/>
                <a:cs typeface="Calibri" charset="0"/>
              </a:rPr>
              <a:t>Deceptive emails/messages tricking users into revealing credentials</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94" name="Rounded rectangle"/>
          <p:cNvSpPr>
            <a:spLocks/>
          </p:cNvSpPr>
          <p:nvPr/>
        </p:nvSpPr>
        <p:spPr>
          <a:xfrm>
            <a:off x="6345936" y="1508758"/>
            <a:ext cx="2697479" cy="2834640"/>
          </a:xfrm>
          <a:prstGeom prst="roundRect">
            <a:avLst>
              <a:gd name="adj" fmla="val 2712"/>
            </a:avLst>
          </a:prstGeom>
          <a:solidFill>
            <a:srgbClr val="F3F4F6"/>
          </a:solidFill>
          <a:ln w="12700" cap="flat" cmpd="sng">
            <a:noFill/>
            <a:prstDash val="solid"/>
            <a:miter/>
          </a:ln>
          <a:effectLst>
            <a:outerShdw blurRad="101600" dist="38100" dir="5400000" algn="bl" rotWithShape="0">
              <a:srgbClr val="1F2937">
                <a:alpha val="17647"/>
              </a:srgbClr>
            </a:outerShdw>
          </a:effectLst>
        </p:spPr>
      </p:sp>
      <p:sp>
        <p:nvSpPr>
          <p:cNvPr id="95" name="Oval"/>
          <p:cNvSpPr>
            <a:spLocks/>
          </p:cNvSpPr>
          <p:nvPr/>
        </p:nvSpPr>
        <p:spPr>
          <a:xfrm>
            <a:off x="7365492" y="1828800"/>
            <a:ext cx="658367" cy="658368"/>
          </a:xfrm>
          <a:prstGeom prst="ellipse">
            <a:avLst/>
          </a:prstGeom>
          <a:solidFill>
            <a:srgbClr val="2563EB"/>
          </a:solidFill>
          <a:ln w="12700" cap="flat" cmpd="sng">
            <a:noFill/>
            <a:prstDash val="solid"/>
            <a:miter/>
          </a:ln>
        </p:spPr>
      </p:sp>
      <p:pic>
        <p:nvPicPr>
          <p:cNvPr id="96" name="Image" descr="/home/claude/deck/assets/user_x.png"/>
          <p:cNvPicPr>
            <a:picLocks noChangeAspect="1"/>
          </p:cNvPicPr>
          <p:nvPr/>
        </p:nvPicPr>
        <p:blipFill>
          <a:blip r:embed="rId5" cstate="print"/>
          <a:stretch>
            <a:fillRect/>
          </a:stretch>
        </p:blipFill>
        <p:spPr>
          <a:xfrm>
            <a:off x="7513625" y="1976933"/>
            <a:ext cx="362102" cy="362102"/>
          </a:xfrm>
          <a:prstGeom prst="rect">
            <a:avLst/>
          </a:prstGeom>
          <a:noFill/>
          <a:ln w="12700" cap="flat" cmpd="sng">
            <a:noFill/>
            <a:prstDash val="solid"/>
            <a:miter/>
          </a:ln>
        </p:spPr>
      </p:pic>
      <p:sp>
        <p:nvSpPr>
          <p:cNvPr id="97" name="Rectangle"/>
          <p:cNvSpPr>
            <a:spLocks/>
          </p:cNvSpPr>
          <p:nvPr/>
        </p:nvSpPr>
        <p:spPr>
          <a:xfrm>
            <a:off x="6483096" y="2651760"/>
            <a:ext cx="2423160" cy="36575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500" b="1" i="0" u="none" strike="noStrike" kern="1200" cap="none" spc="0" baseline="0">
                <a:solidFill>
                  <a:srgbClr val="1F2937"/>
                </a:solidFill>
                <a:latin typeface="Cambria" pitchFamily="34" charset="0"/>
                <a:ea typeface="Cambria" pitchFamily="34" charset="0"/>
                <a:cs typeface="Cambria" pitchFamily="34" charset="0"/>
              </a:rPr>
              <a:t>Insider Threats</a:t>
            </a:r>
            <a:endParaRPr lang="zh-CN" altLang="en-US" sz="1500" b="0" i="0" u="none" strike="noStrike" kern="1200" cap="none" spc="0" baseline="0">
              <a:solidFill>
                <a:schemeClr val="tx1"/>
              </a:solidFill>
              <a:latin typeface="Calibri" charset="0"/>
              <a:ea typeface="等线" charset="0"/>
              <a:cs typeface="Calibri" charset="0"/>
            </a:endParaRPr>
          </a:p>
        </p:txBody>
      </p:sp>
      <p:sp>
        <p:nvSpPr>
          <p:cNvPr id="98" name="Rectangle"/>
          <p:cNvSpPr>
            <a:spLocks/>
          </p:cNvSpPr>
          <p:nvPr/>
        </p:nvSpPr>
        <p:spPr>
          <a:xfrm>
            <a:off x="6528816" y="3063239"/>
            <a:ext cx="2331720" cy="118872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ctr">
              <a:lnSpc>
                <a:spcPct val="100000"/>
              </a:lnSpc>
              <a:spcBef>
                <a:spcPts val="0"/>
              </a:spcBef>
              <a:spcAft>
                <a:spcPts val="0"/>
              </a:spcAft>
              <a:buNone/>
            </a:pPr>
            <a:r>
              <a:rPr lang="en-US" altLang="zh-CN" sz="1150" b="0" i="0" u="none" strike="noStrike" kern="1200" cap="none" spc="0" baseline="0">
                <a:solidFill>
                  <a:srgbClr val="64748B"/>
                </a:solidFill>
                <a:latin typeface="Calibri" charset="0"/>
                <a:ea typeface="Calibri" charset="0"/>
                <a:cs typeface="Calibri" charset="0"/>
              </a:rPr>
              <a:t>Employees or trusted users misusing authorized access</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99" name="Rounded rectangle"/>
          <p:cNvSpPr>
            <a:spLocks/>
          </p:cNvSpPr>
          <p:nvPr/>
        </p:nvSpPr>
        <p:spPr>
          <a:xfrm>
            <a:off x="9244584" y="1508758"/>
            <a:ext cx="2697480" cy="2834640"/>
          </a:xfrm>
          <a:prstGeom prst="roundRect">
            <a:avLst>
              <a:gd name="adj" fmla="val 2712"/>
            </a:avLst>
          </a:prstGeom>
          <a:solidFill>
            <a:srgbClr val="F3F4F6"/>
          </a:solidFill>
          <a:ln w="12700" cap="flat" cmpd="sng">
            <a:noFill/>
            <a:prstDash val="solid"/>
            <a:miter/>
          </a:ln>
          <a:effectLst>
            <a:outerShdw blurRad="101600" dist="38100" dir="5400000" algn="bl" rotWithShape="0">
              <a:srgbClr val="1F2937">
                <a:alpha val="17647"/>
              </a:srgbClr>
            </a:outerShdw>
          </a:effectLst>
        </p:spPr>
      </p:sp>
      <p:sp>
        <p:nvSpPr>
          <p:cNvPr id="100" name="Oval"/>
          <p:cNvSpPr>
            <a:spLocks/>
          </p:cNvSpPr>
          <p:nvPr/>
        </p:nvSpPr>
        <p:spPr>
          <a:xfrm>
            <a:off x="10264139" y="1828800"/>
            <a:ext cx="658368" cy="658368"/>
          </a:xfrm>
          <a:prstGeom prst="ellipse">
            <a:avLst/>
          </a:prstGeom>
          <a:solidFill>
            <a:srgbClr val="16A34A"/>
          </a:solidFill>
          <a:ln w="12700" cap="flat" cmpd="sng">
            <a:noFill/>
            <a:prstDash val="solid"/>
            <a:miter/>
          </a:ln>
        </p:spPr>
      </p:sp>
      <p:pic>
        <p:nvPicPr>
          <p:cNvPr id="101" name="Image" descr="/home/claude/deck/assets/activity.png"/>
          <p:cNvPicPr>
            <a:picLocks noChangeAspect="1"/>
          </p:cNvPicPr>
          <p:nvPr/>
        </p:nvPicPr>
        <p:blipFill>
          <a:blip r:embed="rId6" cstate="print"/>
          <a:stretch>
            <a:fillRect/>
          </a:stretch>
        </p:blipFill>
        <p:spPr>
          <a:xfrm>
            <a:off x="10412274" y="1976933"/>
            <a:ext cx="362101" cy="362102"/>
          </a:xfrm>
          <a:prstGeom prst="rect">
            <a:avLst/>
          </a:prstGeom>
          <a:noFill/>
          <a:ln w="12700" cap="flat" cmpd="sng">
            <a:noFill/>
            <a:prstDash val="solid"/>
            <a:miter/>
          </a:ln>
        </p:spPr>
      </p:pic>
      <p:sp>
        <p:nvSpPr>
          <p:cNvPr id="102" name="Rectangle"/>
          <p:cNvSpPr>
            <a:spLocks/>
          </p:cNvSpPr>
          <p:nvPr/>
        </p:nvSpPr>
        <p:spPr>
          <a:xfrm>
            <a:off x="9381744" y="2651760"/>
            <a:ext cx="2423160" cy="36575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500" b="1" i="0" u="none" strike="noStrike" kern="1200" cap="none" spc="0" baseline="0">
                <a:solidFill>
                  <a:srgbClr val="1F2937"/>
                </a:solidFill>
                <a:latin typeface="Cambria" pitchFamily="34" charset="0"/>
                <a:ea typeface="Cambria" pitchFamily="34" charset="0"/>
                <a:cs typeface="Cambria" pitchFamily="34" charset="0"/>
              </a:rPr>
              <a:t>Risk Assessment</a:t>
            </a:r>
            <a:endParaRPr lang="zh-CN" altLang="en-US" sz="1500" b="0" i="0" u="none" strike="noStrike" kern="1200" cap="none" spc="0" baseline="0">
              <a:solidFill>
                <a:schemeClr val="tx1"/>
              </a:solidFill>
              <a:latin typeface="Calibri" charset="0"/>
              <a:ea typeface="等线" charset="0"/>
              <a:cs typeface="Calibri" charset="0"/>
            </a:endParaRPr>
          </a:p>
        </p:txBody>
      </p:sp>
      <p:sp>
        <p:nvSpPr>
          <p:cNvPr id="103" name="Rectangle"/>
          <p:cNvSpPr>
            <a:spLocks/>
          </p:cNvSpPr>
          <p:nvPr/>
        </p:nvSpPr>
        <p:spPr>
          <a:xfrm>
            <a:off x="9427464" y="3063239"/>
            <a:ext cx="2331720" cy="118872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ctr">
              <a:lnSpc>
                <a:spcPct val="100000"/>
              </a:lnSpc>
              <a:spcBef>
                <a:spcPts val="0"/>
              </a:spcBef>
              <a:spcAft>
                <a:spcPts val="0"/>
              </a:spcAft>
              <a:buNone/>
            </a:pPr>
            <a:r>
              <a:rPr lang="en-US" altLang="zh-CN" sz="1150" b="0" i="0" u="none" strike="noStrike" kern="1200" cap="none" spc="0" baseline="0">
                <a:solidFill>
                  <a:srgbClr val="64748B"/>
                </a:solidFill>
                <a:latin typeface="Calibri" charset="0"/>
                <a:ea typeface="Calibri" charset="0"/>
                <a:cs typeface="Calibri" charset="0"/>
              </a:rPr>
              <a:t>Identifying, analyzing &amp; prioritizing risks to guide mitigation</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104" name="Rounded rectangle"/>
          <p:cNvSpPr>
            <a:spLocks/>
          </p:cNvSpPr>
          <p:nvPr/>
        </p:nvSpPr>
        <p:spPr>
          <a:xfrm>
            <a:off x="548640" y="4617720"/>
            <a:ext cx="11064240" cy="1691639"/>
          </a:xfrm>
          <a:prstGeom prst="roundRect">
            <a:avLst>
              <a:gd name="adj" fmla="val 4324"/>
            </a:avLst>
          </a:prstGeom>
          <a:solidFill>
            <a:srgbClr val="0E2748"/>
          </a:solidFill>
          <a:ln w="12700" cap="flat" cmpd="sng">
            <a:noFill/>
            <a:prstDash val="solid"/>
            <a:miter/>
          </a:ln>
          <a:effectLst>
            <a:outerShdw blurRad="101600" dist="38100" dir="5400000" algn="bl" rotWithShape="0">
              <a:srgbClr val="1F2937">
                <a:alpha val="17647"/>
              </a:srgbClr>
            </a:outerShdw>
          </a:effectLst>
        </p:spPr>
      </p:sp>
      <p:sp>
        <p:nvSpPr>
          <p:cNvPr id="105" name="Rectangle"/>
          <p:cNvSpPr>
            <a:spLocks/>
          </p:cNvSpPr>
          <p:nvPr/>
        </p:nvSpPr>
        <p:spPr>
          <a:xfrm>
            <a:off x="868680" y="4773168"/>
            <a:ext cx="4572000" cy="27431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100" b="1" i="0" u="none" strike="noStrike" kern="0" cap="none" spc="150" baseline="0">
                <a:solidFill>
                  <a:srgbClr val="60A5FA"/>
                </a:solidFill>
                <a:latin typeface="Calibri" charset="0"/>
                <a:ea typeface="Calibri" charset="0"/>
                <a:cs typeface="Calibri" charset="0"/>
              </a:rPr>
              <a:t>RISK ASSESSMENT FORMULA</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106" name="Rectangle"/>
          <p:cNvSpPr>
            <a:spLocks/>
          </p:cNvSpPr>
          <p:nvPr/>
        </p:nvSpPr>
        <p:spPr>
          <a:xfrm>
            <a:off x="868680" y="5029200"/>
            <a:ext cx="10515600" cy="45720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2000" b="1" i="0" u="none" strike="noStrike" kern="1200" cap="none" spc="0" baseline="0">
                <a:solidFill>
                  <a:srgbClr val="60A5FA"/>
                </a:solidFill>
                <a:latin typeface="Cambria" pitchFamily="34" charset="0"/>
                <a:ea typeface="Cambria" pitchFamily="34" charset="0"/>
                <a:cs typeface="Cambria" pitchFamily="34" charset="0"/>
              </a:rPr>
              <a:t>Risk</a:t>
            </a:r>
            <a:r>
              <a:rPr lang="en-US" altLang="zh-CN" sz="2000" b="0" i="0" u="none" strike="noStrike" kern="1200" cap="none" spc="0" baseline="0">
                <a:solidFill>
                  <a:srgbClr val="FFFFFF"/>
                </a:solidFill>
                <a:latin typeface="Cambria" pitchFamily="34" charset="0"/>
                <a:ea typeface="Cambria" pitchFamily="34" charset="0"/>
                <a:cs typeface="Cambria" pitchFamily="34" charset="0"/>
              </a:rPr>
              <a:t>  =  </a:t>
            </a:r>
            <a:r>
              <a:rPr lang="en-US" altLang="zh-CN" sz="2000" b="1" i="0" u="none" strike="noStrike" kern="1200" cap="none" spc="0" baseline="0">
                <a:solidFill>
                  <a:srgbClr val="F87171"/>
                </a:solidFill>
                <a:latin typeface="Cambria" pitchFamily="34" charset="0"/>
                <a:ea typeface="Cambria" pitchFamily="34" charset="0"/>
                <a:cs typeface="Cambria" pitchFamily="34" charset="0"/>
              </a:rPr>
              <a:t>Threat</a:t>
            </a:r>
            <a:r>
              <a:rPr lang="en-US" altLang="zh-CN" sz="2000" b="0" i="0" u="none" strike="noStrike" kern="1200" cap="none" spc="0" baseline="0">
                <a:solidFill>
                  <a:srgbClr val="FFFFFF"/>
                </a:solidFill>
                <a:latin typeface="Cambria" pitchFamily="34" charset="0"/>
                <a:ea typeface="Cambria" pitchFamily="34" charset="0"/>
                <a:cs typeface="Cambria" pitchFamily="34" charset="0"/>
              </a:rPr>
              <a:t>  ×  </a:t>
            </a:r>
            <a:r>
              <a:rPr lang="en-US" altLang="zh-CN" sz="2000" b="1" i="0" u="none" strike="noStrike" kern="1200" cap="none" spc="0" baseline="0">
                <a:solidFill>
                  <a:srgbClr val="FBBF24"/>
                </a:solidFill>
                <a:latin typeface="Cambria" pitchFamily="34" charset="0"/>
                <a:ea typeface="Cambria" pitchFamily="34" charset="0"/>
                <a:cs typeface="Cambria" pitchFamily="34" charset="0"/>
              </a:rPr>
              <a:t>Vulnerability</a:t>
            </a:r>
            <a:r>
              <a:rPr lang="en-US" altLang="zh-CN" sz="2000" b="0" i="0" u="none" strike="noStrike" kern="1200" cap="none" spc="0" baseline="0">
                <a:solidFill>
                  <a:srgbClr val="FFFFFF"/>
                </a:solidFill>
                <a:latin typeface="Cambria" pitchFamily="34" charset="0"/>
                <a:ea typeface="Cambria" pitchFamily="34" charset="0"/>
                <a:cs typeface="Cambria" pitchFamily="34" charset="0"/>
              </a:rPr>
              <a:t>  ×  </a:t>
            </a:r>
            <a:r>
              <a:rPr lang="en-US" altLang="zh-CN" sz="2000" b="1" i="0" u="none" strike="noStrike" kern="1200" cap="none" spc="0" baseline="0">
                <a:solidFill>
                  <a:srgbClr val="34D399"/>
                </a:solidFill>
                <a:latin typeface="Cambria" pitchFamily="34" charset="0"/>
                <a:ea typeface="Cambria" pitchFamily="34" charset="0"/>
                <a:cs typeface="Cambria" pitchFamily="34" charset="0"/>
              </a:rPr>
              <a:t>Impact</a:t>
            </a:r>
            <a:endParaRPr lang="zh-CN" altLang="en-US" sz="2000" b="0" i="0" u="none" strike="noStrike" kern="1200" cap="none" spc="0" baseline="0">
              <a:solidFill>
                <a:schemeClr val="tx1"/>
              </a:solidFill>
              <a:latin typeface="Calibri" charset="0"/>
              <a:ea typeface="等线" charset="0"/>
              <a:cs typeface="Calibri" charset="0"/>
            </a:endParaRPr>
          </a:p>
        </p:txBody>
      </p:sp>
      <p:sp>
        <p:nvSpPr>
          <p:cNvPr id="107" name="Rectangle"/>
          <p:cNvSpPr>
            <a:spLocks/>
          </p:cNvSpPr>
          <p:nvPr/>
        </p:nvSpPr>
        <p:spPr>
          <a:xfrm>
            <a:off x="868680" y="5532120"/>
            <a:ext cx="10515600" cy="365758"/>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200" b="0" i="1" u="none" strike="noStrike" kern="1200" cap="none" spc="0" baseline="0">
                <a:solidFill>
                  <a:srgbClr val="CBD5E1"/>
                </a:solidFill>
                <a:latin typeface="Calibri" charset="0"/>
                <a:ea typeface="Calibri" charset="0"/>
                <a:cs typeface="Calibri" charset="0"/>
              </a:rPr>
              <a:t>Organizations quantify risk to prioritize which vulnerabilities to remediate first.</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108" name="Rectangle"/>
          <p:cNvSpPr>
            <a:spLocks/>
          </p:cNvSpPr>
          <p:nvPr/>
        </p:nvSpPr>
        <p:spPr>
          <a:xfrm>
            <a:off x="548640" y="6528816"/>
            <a:ext cx="548640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charset="0"/>
                <a:ea typeface="Calibri" charset="0"/>
                <a:cs typeface="Calibri" charset="0"/>
              </a:rPr>
              <a:t>Cryptography &amp; Network Security</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109" name="Rectangle"/>
          <p:cNvSpPr>
            <a:spLocks/>
          </p:cNvSpPr>
          <p:nvPr/>
        </p:nvSpPr>
        <p:spPr>
          <a:xfrm>
            <a:off x="11338560" y="6528816"/>
            <a:ext cx="36576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charset="0"/>
                <a:ea typeface="Calibri" charset="0"/>
                <a:cs typeface="Calibri" charset="0"/>
              </a:rPr>
              <a:t>4</a:t>
            </a:r>
            <a:endParaRPr lang="zh-CN" altLang="en-US" sz="9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313459569"/>
      </p:ext>
    </p:extLst>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 name="Rectangle"/>
          <p:cNvSpPr>
            <a:spLocks/>
          </p:cNvSpPr>
          <p:nvPr/>
        </p:nvSpPr>
        <p:spPr>
          <a:xfrm>
            <a:off x="548640" y="320040"/>
            <a:ext cx="7315200" cy="32004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charset="0"/>
                <a:ea typeface="Calibri" charset="0"/>
                <a:cs typeface="Calibri" charset="0"/>
              </a:rPr>
              <a:t>TOPIC 1 · SECURITY GOALS</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115" name="Rectangle"/>
          <p:cNvSpPr>
            <a:spLocks/>
          </p:cNvSpPr>
          <p:nvPr/>
        </p:nvSpPr>
        <p:spPr>
          <a:xfrm>
            <a:off x="548640" y="566928"/>
            <a:ext cx="11064240" cy="7315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Security Goals — The CIA Triad</a:t>
            </a:r>
            <a:endParaRPr lang="zh-CN" altLang="en-US" sz="3200" b="0" i="0" u="none" strike="noStrike" kern="1200" cap="none" spc="0" baseline="0">
              <a:solidFill>
                <a:schemeClr val="tx1"/>
              </a:solidFill>
              <a:latin typeface="Calibri" charset="0"/>
              <a:ea typeface="等线" charset="0"/>
              <a:cs typeface="Calibri" charset="0"/>
            </a:endParaRPr>
          </a:p>
        </p:txBody>
      </p:sp>
      <p:sp>
        <p:nvSpPr>
          <p:cNvPr id="116" name="Straight line"/>
          <p:cNvSpPr>
            <a:spLocks/>
          </p:cNvSpPr>
          <p:nvPr/>
        </p:nvSpPr>
        <p:spPr>
          <a:xfrm flipV="1">
            <a:off x="1828800" y="2327147"/>
            <a:ext cx="1244497" cy="2256277"/>
          </a:xfrm>
          <a:prstGeom prst="line">
            <a:avLst/>
          </a:prstGeom>
          <a:noFill/>
          <a:ln w="31750" cap="flat" cmpd="sng">
            <a:solidFill>
              <a:srgbClr val="2563EB"/>
            </a:solidFill>
            <a:prstDash val="solid"/>
            <a:round/>
          </a:ln>
        </p:spPr>
      </p:sp>
      <p:sp>
        <p:nvSpPr>
          <p:cNvPr id="117" name="Straight line"/>
          <p:cNvSpPr>
            <a:spLocks/>
          </p:cNvSpPr>
          <p:nvPr/>
        </p:nvSpPr>
        <p:spPr>
          <a:xfrm>
            <a:off x="1741522" y="4802886"/>
            <a:ext cx="3009196" cy="0"/>
          </a:xfrm>
          <a:prstGeom prst="line">
            <a:avLst/>
          </a:prstGeom>
          <a:noFill/>
          <a:ln w="31750" cap="flat" cmpd="sng">
            <a:solidFill>
              <a:srgbClr val="2563EB"/>
            </a:solidFill>
            <a:prstDash val="solid"/>
            <a:round/>
          </a:ln>
        </p:spPr>
      </p:sp>
      <p:sp>
        <p:nvSpPr>
          <p:cNvPr id="118" name="Straight line"/>
          <p:cNvSpPr>
            <a:spLocks/>
          </p:cNvSpPr>
          <p:nvPr/>
        </p:nvSpPr>
        <p:spPr>
          <a:xfrm>
            <a:off x="3246119" y="2327148"/>
            <a:ext cx="1504598" cy="2475738"/>
          </a:xfrm>
          <a:prstGeom prst="line">
            <a:avLst/>
          </a:prstGeom>
          <a:noFill/>
          <a:ln w="31750" cap="flat" cmpd="sng">
            <a:solidFill>
              <a:srgbClr val="2563EB"/>
            </a:solidFill>
            <a:prstDash val="solid"/>
            <a:round/>
          </a:ln>
        </p:spPr>
      </p:sp>
      <p:sp>
        <p:nvSpPr>
          <p:cNvPr id="119" name="Oval"/>
          <p:cNvSpPr>
            <a:spLocks/>
          </p:cNvSpPr>
          <p:nvPr/>
        </p:nvSpPr>
        <p:spPr>
          <a:xfrm>
            <a:off x="2862072" y="1943100"/>
            <a:ext cx="768096" cy="768096"/>
          </a:xfrm>
          <a:prstGeom prst="ellipse">
            <a:avLst/>
          </a:prstGeom>
          <a:solidFill>
            <a:srgbClr val="2563EB"/>
          </a:solidFill>
          <a:ln w="12700" cap="flat" cmpd="sng">
            <a:noFill/>
            <a:prstDash val="solid"/>
            <a:miter/>
          </a:ln>
        </p:spPr>
      </p:sp>
      <p:pic>
        <p:nvPicPr>
          <p:cNvPr id="120" name="Image" descr="/home/claude/deck/assets/eye_off.png"/>
          <p:cNvPicPr>
            <a:picLocks noChangeAspect="1"/>
          </p:cNvPicPr>
          <p:nvPr/>
        </p:nvPicPr>
        <p:blipFill>
          <a:blip r:embed="rId3" cstate="print"/>
          <a:stretch>
            <a:fillRect/>
          </a:stretch>
        </p:blipFill>
        <p:spPr>
          <a:xfrm>
            <a:off x="3034894" y="2115922"/>
            <a:ext cx="422452" cy="422453"/>
          </a:xfrm>
          <a:prstGeom prst="rect">
            <a:avLst/>
          </a:prstGeom>
          <a:noFill/>
          <a:ln w="12700" cap="flat" cmpd="sng">
            <a:noFill/>
            <a:prstDash val="solid"/>
            <a:miter/>
          </a:ln>
        </p:spPr>
      </p:pic>
      <p:sp>
        <p:nvSpPr>
          <p:cNvPr id="121" name="Oval"/>
          <p:cNvSpPr>
            <a:spLocks/>
          </p:cNvSpPr>
          <p:nvPr/>
        </p:nvSpPr>
        <p:spPr>
          <a:xfrm>
            <a:off x="1357474" y="4418838"/>
            <a:ext cx="768095" cy="768095"/>
          </a:xfrm>
          <a:prstGeom prst="ellipse">
            <a:avLst/>
          </a:prstGeom>
          <a:solidFill>
            <a:srgbClr val="16A34A"/>
          </a:solidFill>
          <a:ln w="12700" cap="flat" cmpd="sng">
            <a:noFill/>
            <a:prstDash val="solid"/>
            <a:miter/>
          </a:ln>
        </p:spPr>
      </p:sp>
      <p:pic>
        <p:nvPicPr>
          <p:cNvPr id="122" name="Image" descr="/home/claude/deck/assets/check.png"/>
          <p:cNvPicPr>
            <a:picLocks noChangeAspect="1"/>
          </p:cNvPicPr>
          <p:nvPr/>
        </p:nvPicPr>
        <p:blipFill>
          <a:blip r:embed="rId4" cstate="print"/>
          <a:stretch>
            <a:fillRect/>
          </a:stretch>
        </p:blipFill>
        <p:spPr>
          <a:xfrm>
            <a:off x="1530296" y="4591660"/>
            <a:ext cx="422452" cy="422451"/>
          </a:xfrm>
          <a:prstGeom prst="rect">
            <a:avLst/>
          </a:prstGeom>
          <a:noFill/>
          <a:ln w="12700" cap="flat" cmpd="sng">
            <a:noFill/>
            <a:prstDash val="solid"/>
            <a:miter/>
          </a:ln>
        </p:spPr>
      </p:pic>
      <p:sp>
        <p:nvSpPr>
          <p:cNvPr id="123" name="Oval"/>
          <p:cNvSpPr>
            <a:spLocks/>
          </p:cNvSpPr>
          <p:nvPr/>
        </p:nvSpPr>
        <p:spPr>
          <a:xfrm>
            <a:off x="4366670" y="4418838"/>
            <a:ext cx="768095" cy="768095"/>
          </a:xfrm>
          <a:prstGeom prst="ellipse">
            <a:avLst/>
          </a:prstGeom>
          <a:solidFill>
            <a:srgbClr val="D97706"/>
          </a:solidFill>
          <a:ln w="12700" cap="flat" cmpd="sng">
            <a:noFill/>
            <a:prstDash val="solid"/>
            <a:miter/>
          </a:ln>
        </p:spPr>
      </p:sp>
      <p:pic>
        <p:nvPicPr>
          <p:cNvPr id="124" name="Image" descr="/home/claude/deck/assets/activity.png"/>
          <p:cNvPicPr>
            <a:picLocks noChangeAspect="1"/>
          </p:cNvPicPr>
          <p:nvPr/>
        </p:nvPicPr>
        <p:blipFill>
          <a:blip r:embed="rId5" cstate="print"/>
          <a:stretch>
            <a:fillRect/>
          </a:stretch>
        </p:blipFill>
        <p:spPr>
          <a:xfrm>
            <a:off x="4539491" y="4591660"/>
            <a:ext cx="422453" cy="422451"/>
          </a:xfrm>
          <a:prstGeom prst="rect">
            <a:avLst/>
          </a:prstGeom>
          <a:noFill/>
          <a:ln w="12700" cap="flat" cmpd="sng">
            <a:noFill/>
            <a:prstDash val="solid"/>
            <a:miter/>
          </a:ln>
        </p:spPr>
      </p:pic>
      <p:sp>
        <p:nvSpPr>
          <p:cNvPr id="125" name="Rectangle"/>
          <p:cNvSpPr>
            <a:spLocks/>
          </p:cNvSpPr>
          <p:nvPr/>
        </p:nvSpPr>
        <p:spPr>
          <a:xfrm>
            <a:off x="2057400" y="1367028"/>
            <a:ext cx="2377440" cy="320038"/>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250" b="1" i="0" u="none" strike="noStrike" kern="1200" cap="none" spc="0" baseline="0">
                <a:solidFill>
                  <a:srgbClr val="1F2937"/>
                </a:solidFill>
                <a:latin typeface="Calibri" charset="0"/>
                <a:ea typeface="Calibri" charset="0"/>
                <a:cs typeface="Calibri" charset="0"/>
              </a:rPr>
              <a:t>Confidentiality</a:t>
            </a:r>
            <a:endParaRPr lang="zh-CN" altLang="en-US" sz="1250" b="0" i="0" u="none" strike="noStrike" kern="1200" cap="none" spc="0" baseline="0">
              <a:solidFill>
                <a:schemeClr val="tx1"/>
              </a:solidFill>
              <a:latin typeface="Calibri" charset="0"/>
              <a:ea typeface="等线" charset="0"/>
              <a:cs typeface="Calibri" charset="0"/>
            </a:endParaRPr>
          </a:p>
        </p:txBody>
      </p:sp>
      <p:sp>
        <p:nvSpPr>
          <p:cNvPr id="126" name="Rectangle"/>
          <p:cNvSpPr>
            <a:spLocks/>
          </p:cNvSpPr>
          <p:nvPr/>
        </p:nvSpPr>
        <p:spPr>
          <a:xfrm>
            <a:off x="461362" y="5241798"/>
            <a:ext cx="2011679" cy="32004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250" b="1" i="0" u="none" strike="noStrike" kern="1200" cap="none" spc="0" baseline="0">
                <a:solidFill>
                  <a:srgbClr val="1F2937"/>
                </a:solidFill>
                <a:latin typeface="Calibri" charset="0"/>
                <a:ea typeface="Calibri" charset="0"/>
                <a:cs typeface="Calibri" charset="0"/>
              </a:rPr>
              <a:t>Integrity</a:t>
            </a:r>
            <a:endParaRPr lang="zh-CN" altLang="en-US" sz="1250" b="0" i="0" u="none" strike="noStrike" kern="1200" cap="none" spc="0" baseline="0">
              <a:solidFill>
                <a:schemeClr val="tx1"/>
              </a:solidFill>
              <a:latin typeface="Calibri" charset="0"/>
              <a:ea typeface="等线" charset="0"/>
              <a:cs typeface="Calibri" charset="0"/>
            </a:endParaRPr>
          </a:p>
        </p:txBody>
      </p:sp>
      <p:sp>
        <p:nvSpPr>
          <p:cNvPr id="127" name="Rectangle"/>
          <p:cNvSpPr>
            <a:spLocks/>
          </p:cNvSpPr>
          <p:nvPr/>
        </p:nvSpPr>
        <p:spPr>
          <a:xfrm>
            <a:off x="4019198" y="5241798"/>
            <a:ext cx="2011679" cy="32004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250" b="1" i="0" u="none" strike="noStrike" kern="1200" cap="none" spc="0" baseline="0">
                <a:solidFill>
                  <a:srgbClr val="1F2937"/>
                </a:solidFill>
                <a:latin typeface="Calibri" charset="0"/>
                <a:ea typeface="Calibri" charset="0"/>
                <a:cs typeface="Calibri" charset="0"/>
              </a:rPr>
              <a:t>Availability</a:t>
            </a:r>
            <a:endParaRPr lang="zh-CN" altLang="en-US" sz="1250" b="0" i="0" u="none" strike="noStrike" kern="1200" cap="none" spc="0" baseline="0">
              <a:solidFill>
                <a:schemeClr val="tx1"/>
              </a:solidFill>
              <a:latin typeface="Calibri" charset="0"/>
              <a:ea typeface="等线" charset="0"/>
              <a:cs typeface="Calibri" charset="0"/>
            </a:endParaRPr>
          </a:p>
        </p:txBody>
      </p:sp>
      <p:sp>
        <p:nvSpPr>
          <p:cNvPr id="128" name="Rectangle"/>
          <p:cNvSpPr>
            <a:spLocks/>
          </p:cNvSpPr>
          <p:nvPr/>
        </p:nvSpPr>
        <p:spPr>
          <a:xfrm>
            <a:off x="2697480" y="3749040"/>
            <a:ext cx="1097280" cy="45720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2000" b="1" i="0" u="none" strike="noStrike" kern="1200" cap="none" spc="0" baseline="0">
                <a:solidFill>
                  <a:srgbClr val="2563EB"/>
                </a:solidFill>
                <a:latin typeface="Cambria" pitchFamily="34" charset="0"/>
                <a:ea typeface="Cambria" pitchFamily="34" charset="0"/>
                <a:cs typeface="Cambria" pitchFamily="34" charset="0"/>
              </a:rPr>
              <a:t>CIA</a:t>
            </a:r>
            <a:endParaRPr lang="zh-CN" altLang="en-US" sz="2000" b="0" i="0" u="none" strike="noStrike" kern="1200" cap="none" spc="0" baseline="0">
              <a:solidFill>
                <a:schemeClr val="tx1"/>
              </a:solidFill>
              <a:latin typeface="Calibri" charset="0"/>
              <a:ea typeface="等线" charset="0"/>
              <a:cs typeface="Calibri" charset="0"/>
            </a:endParaRPr>
          </a:p>
        </p:txBody>
      </p:sp>
      <p:sp>
        <p:nvSpPr>
          <p:cNvPr id="129" name="Rectangle"/>
          <p:cNvSpPr>
            <a:spLocks/>
          </p:cNvSpPr>
          <p:nvPr/>
        </p:nvSpPr>
        <p:spPr>
          <a:xfrm>
            <a:off x="6675120" y="1463040"/>
            <a:ext cx="4937760" cy="5029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342900" indent="-342900" algn="l">
              <a:lnSpc>
                <a:spcPct val="115000"/>
              </a:lnSpc>
              <a:spcBef>
                <a:spcPts val="0"/>
              </a:spcBef>
              <a:spcAft>
                <a:spcPts val="1152"/>
              </a:spcAft>
              <a:buClrTx/>
              <a:buChar char="▪"/>
            </a:pPr>
            <a:r>
              <a:rPr lang="en-US" altLang="zh-CN" sz="1400" b="0" i="0" u="none" strike="noStrike" kern="1200" cap="none" spc="0" baseline="0">
                <a:solidFill>
                  <a:srgbClr val="1F2937"/>
                </a:solidFill>
                <a:latin typeface="Calibri" charset="0"/>
                <a:ea typeface="Calibri" charset="0"/>
                <a:cs typeface="Calibri" charset="0"/>
              </a:rPr>
              <a:t>Confidentiality — data accessible only to authorized parties</a:t>
            </a:r>
            <a:endParaRPr lang="en-US" altLang="zh-CN" sz="140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1152"/>
              </a:spcAft>
              <a:buClrTx/>
              <a:buChar char="▪"/>
            </a:pPr>
            <a:r>
              <a:rPr lang="en-US" altLang="zh-CN" sz="1400" b="0" i="0" u="none" strike="noStrike" kern="1200" cap="none" spc="0" baseline="0">
                <a:solidFill>
                  <a:srgbClr val="1F2937"/>
                </a:solidFill>
                <a:latin typeface="Calibri" charset="0"/>
                <a:ea typeface="Calibri" charset="0"/>
                <a:cs typeface="Calibri" charset="0"/>
              </a:rPr>
              <a:t>Integrity — data remains accurate and unaltered</a:t>
            </a:r>
            <a:endParaRPr lang="en-US" altLang="zh-CN" sz="140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1152"/>
              </a:spcAft>
              <a:buClrTx/>
              <a:buChar char="▪"/>
            </a:pPr>
            <a:r>
              <a:rPr lang="en-US" altLang="zh-CN" sz="1400" b="0" i="0" u="none" strike="noStrike" kern="1200" cap="none" spc="0" baseline="0">
                <a:solidFill>
                  <a:srgbClr val="1F2937"/>
                </a:solidFill>
                <a:latin typeface="Calibri" charset="0"/>
                <a:ea typeface="Calibri" charset="0"/>
                <a:cs typeface="Calibri" charset="0"/>
              </a:rPr>
              <a:t>Availability — systems and data accessible when needed</a:t>
            </a:r>
            <a:endParaRPr lang="en-US" altLang="zh-CN" sz="140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1152"/>
              </a:spcAft>
              <a:buClrTx/>
              <a:buChar char="▪"/>
            </a:pPr>
            <a:r>
              <a:rPr lang="en-US" altLang="zh-CN" sz="1400" b="0" i="0" u="none" strike="noStrike" kern="1200" cap="none" spc="0" baseline="0">
                <a:solidFill>
                  <a:srgbClr val="1F2937"/>
                </a:solidFill>
                <a:latin typeface="Calibri" charset="0"/>
                <a:ea typeface="Calibri" charset="0"/>
                <a:cs typeface="Calibri" charset="0"/>
              </a:rPr>
              <a:t>Authentication — verifying identity of users/systems</a:t>
            </a:r>
            <a:endParaRPr lang="en-US" altLang="zh-CN" sz="140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1152"/>
              </a:spcAft>
              <a:buClrTx/>
              <a:buChar char="▪"/>
            </a:pPr>
            <a:r>
              <a:rPr lang="en-US" altLang="zh-CN" sz="1400" b="0" i="0" u="none" strike="noStrike" kern="1200" cap="none" spc="0" baseline="0">
                <a:solidFill>
                  <a:srgbClr val="1F2937"/>
                </a:solidFill>
                <a:latin typeface="Calibri" charset="0"/>
                <a:ea typeface="Calibri" charset="0"/>
                <a:cs typeface="Calibri" charset="0"/>
              </a:rPr>
              <a:t>Non-Repudiation — sender cannot deny sending a message</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130" name="Rectangle"/>
          <p:cNvSpPr>
            <a:spLocks/>
          </p:cNvSpPr>
          <p:nvPr/>
        </p:nvSpPr>
        <p:spPr>
          <a:xfrm>
            <a:off x="548640" y="6528816"/>
            <a:ext cx="548640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charset="0"/>
                <a:ea typeface="Calibri" charset="0"/>
                <a:cs typeface="Calibri" charset="0"/>
              </a:rPr>
              <a:t>Cryptography &amp; Network Security</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131" name="Rectangle"/>
          <p:cNvSpPr>
            <a:spLocks/>
          </p:cNvSpPr>
          <p:nvPr/>
        </p:nvSpPr>
        <p:spPr>
          <a:xfrm>
            <a:off x="11338560" y="6528816"/>
            <a:ext cx="36576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charset="0"/>
                <a:ea typeface="Calibri" charset="0"/>
                <a:cs typeface="Calibri" charset="0"/>
              </a:rPr>
              <a:t>5</a:t>
            </a:r>
            <a:endParaRPr lang="zh-CN" altLang="en-US" sz="9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144205103"/>
      </p:ext>
    </p:extLst>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6" name="Rectangle"/>
          <p:cNvSpPr>
            <a:spLocks/>
          </p:cNvSpPr>
          <p:nvPr/>
        </p:nvSpPr>
        <p:spPr>
          <a:xfrm>
            <a:off x="548640" y="320040"/>
            <a:ext cx="7315200" cy="32004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charset="0"/>
                <a:ea typeface="Calibri" charset="0"/>
                <a:cs typeface="Calibri" charset="0"/>
              </a:rPr>
              <a:t>TOPIC 1 · DEFENSE</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137" name="Rectangle"/>
          <p:cNvSpPr>
            <a:spLocks/>
          </p:cNvSpPr>
          <p:nvPr/>
        </p:nvSpPr>
        <p:spPr>
          <a:xfrm>
            <a:off x="548640" y="566928"/>
            <a:ext cx="11064240" cy="7315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Prevention Techniques</a:t>
            </a:r>
            <a:endParaRPr lang="zh-CN" altLang="en-US" sz="3200" b="0" i="0" u="none" strike="noStrike" kern="1200" cap="none" spc="0" baseline="0">
              <a:solidFill>
                <a:schemeClr val="tx1"/>
              </a:solidFill>
              <a:latin typeface="Calibri" charset="0"/>
              <a:ea typeface="等线" charset="0"/>
              <a:cs typeface="Calibri" charset="0"/>
            </a:endParaRPr>
          </a:p>
        </p:txBody>
      </p:sp>
      <p:sp>
        <p:nvSpPr>
          <p:cNvPr id="138" name="Rounded rectangle"/>
          <p:cNvSpPr>
            <a:spLocks/>
          </p:cNvSpPr>
          <p:nvPr/>
        </p:nvSpPr>
        <p:spPr>
          <a:xfrm>
            <a:off x="548640" y="1463040"/>
            <a:ext cx="2697479" cy="2331720"/>
          </a:xfrm>
          <a:prstGeom prst="roundRect">
            <a:avLst>
              <a:gd name="adj" fmla="val 3138"/>
            </a:avLst>
          </a:prstGeom>
          <a:solidFill>
            <a:srgbClr val="E8F0FE"/>
          </a:solidFill>
          <a:ln w="12700" cap="flat" cmpd="sng">
            <a:noFill/>
            <a:prstDash val="solid"/>
            <a:miter/>
          </a:ln>
          <a:effectLst>
            <a:outerShdw blurRad="101600" dist="38100" dir="5400000" algn="bl" rotWithShape="0">
              <a:srgbClr val="1F2937">
                <a:alpha val="17647"/>
              </a:srgbClr>
            </a:outerShdw>
          </a:effectLst>
        </p:spPr>
      </p:sp>
      <p:sp>
        <p:nvSpPr>
          <p:cNvPr id="139" name="Oval"/>
          <p:cNvSpPr>
            <a:spLocks/>
          </p:cNvSpPr>
          <p:nvPr/>
        </p:nvSpPr>
        <p:spPr>
          <a:xfrm>
            <a:off x="1577340" y="1719072"/>
            <a:ext cx="640080" cy="640079"/>
          </a:xfrm>
          <a:prstGeom prst="ellipse">
            <a:avLst/>
          </a:prstGeom>
          <a:solidFill>
            <a:srgbClr val="FFFFFF"/>
          </a:solidFill>
          <a:ln w="12700" cap="flat" cmpd="sng">
            <a:noFill/>
            <a:prstDash val="solid"/>
            <a:miter/>
          </a:ln>
        </p:spPr>
      </p:sp>
      <p:pic>
        <p:nvPicPr>
          <p:cNvPr id="140" name="Image" descr="/home/claude/deck/assets/lock_blue.png"/>
          <p:cNvPicPr>
            <a:picLocks noChangeAspect="1"/>
          </p:cNvPicPr>
          <p:nvPr/>
        </p:nvPicPr>
        <p:blipFill>
          <a:blip r:embed="rId3" cstate="print"/>
          <a:stretch>
            <a:fillRect/>
          </a:stretch>
        </p:blipFill>
        <p:spPr>
          <a:xfrm>
            <a:off x="1625346" y="1767078"/>
            <a:ext cx="544066" cy="544068"/>
          </a:xfrm>
          <a:prstGeom prst="rect">
            <a:avLst/>
          </a:prstGeom>
          <a:noFill/>
          <a:ln w="12700" cap="flat" cmpd="sng">
            <a:noFill/>
            <a:prstDash val="solid"/>
            <a:miter/>
          </a:ln>
        </p:spPr>
      </p:pic>
      <p:sp>
        <p:nvSpPr>
          <p:cNvPr id="141" name="Rectangle"/>
          <p:cNvSpPr>
            <a:spLocks/>
          </p:cNvSpPr>
          <p:nvPr/>
        </p:nvSpPr>
        <p:spPr>
          <a:xfrm>
            <a:off x="685800" y="2514600"/>
            <a:ext cx="2423160" cy="36575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450" b="1" i="0" u="none" strike="noStrike" kern="1200" cap="none" spc="0" baseline="0">
                <a:solidFill>
                  <a:srgbClr val="1F2937"/>
                </a:solidFill>
                <a:latin typeface="Cambria" pitchFamily="34" charset="0"/>
                <a:ea typeface="Cambria" pitchFamily="34" charset="0"/>
                <a:cs typeface="Cambria" pitchFamily="34" charset="0"/>
              </a:rPr>
              <a:t>Encryption</a:t>
            </a:r>
            <a:endParaRPr lang="zh-CN" altLang="en-US" sz="1450" b="0" i="0" u="none" strike="noStrike" kern="1200" cap="none" spc="0" baseline="0">
              <a:solidFill>
                <a:schemeClr val="tx1"/>
              </a:solidFill>
              <a:latin typeface="Calibri" charset="0"/>
              <a:ea typeface="等线" charset="0"/>
              <a:cs typeface="Calibri" charset="0"/>
            </a:endParaRPr>
          </a:p>
        </p:txBody>
      </p:sp>
      <p:sp>
        <p:nvSpPr>
          <p:cNvPr id="142" name="Rectangle"/>
          <p:cNvSpPr>
            <a:spLocks/>
          </p:cNvSpPr>
          <p:nvPr/>
        </p:nvSpPr>
        <p:spPr>
          <a:xfrm>
            <a:off x="731520" y="2907792"/>
            <a:ext cx="2331720" cy="82296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100" b="0" i="0" u="none" strike="noStrike" kern="1200" cap="none" spc="0" baseline="0">
                <a:solidFill>
                  <a:srgbClr val="64748B"/>
                </a:solidFill>
                <a:latin typeface="Calibri" charset="0"/>
                <a:ea typeface="Calibri" charset="0"/>
                <a:cs typeface="Calibri" charset="0"/>
              </a:rPr>
              <a:t>Converts data into unreadable ciphertext to protect confidentiality</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143" name="Rounded rectangle"/>
          <p:cNvSpPr>
            <a:spLocks/>
          </p:cNvSpPr>
          <p:nvPr/>
        </p:nvSpPr>
        <p:spPr>
          <a:xfrm>
            <a:off x="3447288" y="1463040"/>
            <a:ext cx="2697480" cy="2331720"/>
          </a:xfrm>
          <a:prstGeom prst="roundRect">
            <a:avLst>
              <a:gd name="adj" fmla="val 3138"/>
            </a:avLst>
          </a:prstGeom>
          <a:solidFill>
            <a:srgbClr val="E8F0FE"/>
          </a:solidFill>
          <a:ln w="12700" cap="flat" cmpd="sng">
            <a:noFill/>
            <a:prstDash val="solid"/>
            <a:miter/>
          </a:ln>
          <a:effectLst>
            <a:outerShdw blurRad="101600" dist="38100" dir="5400000" algn="bl" rotWithShape="0">
              <a:srgbClr val="1F2937">
                <a:alpha val="17647"/>
              </a:srgbClr>
            </a:outerShdw>
          </a:effectLst>
        </p:spPr>
      </p:sp>
      <p:sp>
        <p:nvSpPr>
          <p:cNvPr id="144" name="Oval"/>
          <p:cNvSpPr>
            <a:spLocks/>
          </p:cNvSpPr>
          <p:nvPr/>
        </p:nvSpPr>
        <p:spPr>
          <a:xfrm>
            <a:off x="4475988" y="1719072"/>
            <a:ext cx="640078" cy="640079"/>
          </a:xfrm>
          <a:prstGeom prst="ellipse">
            <a:avLst/>
          </a:prstGeom>
          <a:solidFill>
            <a:srgbClr val="FFFFFF"/>
          </a:solidFill>
          <a:ln w="12700" cap="flat" cmpd="sng">
            <a:noFill/>
            <a:prstDash val="solid"/>
            <a:miter/>
          </a:ln>
        </p:spPr>
      </p:sp>
      <p:pic>
        <p:nvPicPr>
          <p:cNvPr id="145" name="Image" descr="/home/claude/deck/assets/shield_blue.png"/>
          <p:cNvPicPr>
            <a:picLocks noChangeAspect="1"/>
          </p:cNvPicPr>
          <p:nvPr/>
        </p:nvPicPr>
        <p:blipFill>
          <a:blip r:embed="rId4" cstate="print"/>
          <a:stretch>
            <a:fillRect/>
          </a:stretch>
        </p:blipFill>
        <p:spPr>
          <a:xfrm>
            <a:off x="4523994" y="1767078"/>
            <a:ext cx="544068" cy="544068"/>
          </a:xfrm>
          <a:prstGeom prst="rect">
            <a:avLst/>
          </a:prstGeom>
          <a:noFill/>
          <a:ln w="12700" cap="flat" cmpd="sng">
            <a:noFill/>
            <a:prstDash val="solid"/>
            <a:miter/>
          </a:ln>
        </p:spPr>
      </p:pic>
      <p:sp>
        <p:nvSpPr>
          <p:cNvPr id="146" name="Rectangle"/>
          <p:cNvSpPr>
            <a:spLocks/>
          </p:cNvSpPr>
          <p:nvPr/>
        </p:nvSpPr>
        <p:spPr>
          <a:xfrm>
            <a:off x="3584448" y="2514600"/>
            <a:ext cx="2423160" cy="36575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450" b="1" i="0" u="none" strike="noStrike" kern="1200" cap="none" spc="0" baseline="0">
                <a:solidFill>
                  <a:srgbClr val="1F2937"/>
                </a:solidFill>
                <a:latin typeface="Cambria" pitchFamily="34" charset="0"/>
                <a:ea typeface="Cambria" pitchFamily="34" charset="0"/>
                <a:cs typeface="Cambria" pitchFamily="34" charset="0"/>
              </a:rPr>
              <a:t>Firewalls</a:t>
            </a:r>
            <a:endParaRPr lang="zh-CN" altLang="en-US" sz="1450" b="0" i="0" u="none" strike="noStrike" kern="1200" cap="none" spc="0" baseline="0">
              <a:solidFill>
                <a:schemeClr val="tx1"/>
              </a:solidFill>
              <a:latin typeface="Calibri" charset="0"/>
              <a:ea typeface="等线" charset="0"/>
              <a:cs typeface="Calibri" charset="0"/>
            </a:endParaRPr>
          </a:p>
        </p:txBody>
      </p:sp>
      <p:sp>
        <p:nvSpPr>
          <p:cNvPr id="147" name="Rectangle"/>
          <p:cNvSpPr>
            <a:spLocks/>
          </p:cNvSpPr>
          <p:nvPr/>
        </p:nvSpPr>
        <p:spPr>
          <a:xfrm>
            <a:off x="3630167" y="2907792"/>
            <a:ext cx="2331720" cy="82296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100" b="0" i="0" u="none" strike="noStrike" kern="1200" cap="none" spc="0" baseline="0">
                <a:solidFill>
                  <a:srgbClr val="64748B"/>
                </a:solidFill>
                <a:latin typeface="Calibri" charset="0"/>
                <a:ea typeface="Calibri" charset="0"/>
                <a:cs typeface="Calibri" charset="0"/>
              </a:rPr>
              <a:t>Filters incoming/outgoing traffic based on security rules</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148" name="Rounded rectangle"/>
          <p:cNvSpPr>
            <a:spLocks/>
          </p:cNvSpPr>
          <p:nvPr/>
        </p:nvSpPr>
        <p:spPr>
          <a:xfrm>
            <a:off x="6345936" y="1463040"/>
            <a:ext cx="2697479" cy="2331720"/>
          </a:xfrm>
          <a:prstGeom prst="roundRect">
            <a:avLst>
              <a:gd name="adj" fmla="val 3138"/>
            </a:avLst>
          </a:prstGeom>
          <a:solidFill>
            <a:srgbClr val="E8F0FE"/>
          </a:solidFill>
          <a:ln w="12700" cap="flat" cmpd="sng">
            <a:noFill/>
            <a:prstDash val="solid"/>
            <a:miter/>
          </a:ln>
          <a:effectLst>
            <a:outerShdw blurRad="101600" dist="38100" dir="5400000" algn="bl" rotWithShape="0">
              <a:srgbClr val="1F2937">
                <a:alpha val="17647"/>
              </a:srgbClr>
            </a:outerShdw>
          </a:effectLst>
        </p:spPr>
      </p:sp>
      <p:sp>
        <p:nvSpPr>
          <p:cNvPr id="149" name="Oval"/>
          <p:cNvSpPr>
            <a:spLocks/>
          </p:cNvSpPr>
          <p:nvPr/>
        </p:nvSpPr>
        <p:spPr>
          <a:xfrm>
            <a:off x="7374636" y="1719072"/>
            <a:ext cx="640080" cy="640079"/>
          </a:xfrm>
          <a:prstGeom prst="ellipse">
            <a:avLst/>
          </a:prstGeom>
          <a:solidFill>
            <a:srgbClr val="FFFFFF"/>
          </a:solidFill>
          <a:ln w="12700" cap="flat" cmpd="sng">
            <a:noFill/>
            <a:prstDash val="solid"/>
            <a:miter/>
          </a:ln>
        </p:spPr>
      </p:sp>
      <p:pic>
        <p:nvPicPr>
          <p:cNvPr id="150" name="Image" descr="/home/claude/deck/assets/search_blue.png"/>
          <p:cNvPicPr>
            <a:picLocks noChangeAspect="1"/>
          </p:cNvPicPr>
          <p:nvPr/>
        </p:nvPicPr>
        <p:blipFill>
          <a:blip r:embed="rId5" cstate="print"/>
          <a:stretch>
            <a:fillRect/>
          </a:stretch>
        </p:blipFill>
        <p:spPr>
          <a:xfrm>
            <a:off x="7422642" y="1767078"/>
            <a:ext cx="544067" cy="544068"/>
          </a:xfrm>
          <a:prstGeom prst="rect">
            <a:avLst/>
          </a:prstGeom>
          <a:noFill/>
          <a:ln w="12700" cap="flat" cmpd="sng">
            <a:noFill/>
            <a:prstDash val="solid"/>
            <a:miter/>
          </a:ln>
        </p:spPr>
      </p:pic>
      <p:sp>
        <p:nvSpPr>
          <p:cNvPr id="151" name="Rectangle"/>
          <p:cNvSpPr>
            <a:spLocks/>
          </p:cNvSpPr>
          <p:nvPr/>
        </p:nvSpPr>
        <p:spPr>
          <a:xfrm>
            <a:off x="6483096" y="2514600"/>
            <a:ext cx="2423160" cy="36575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450" b="1" i="0" u="none" strike="noStrike" kern="1200" cap="none" spc="0" baseline="0">
                <a:solidFill>
                  <a:srgbClr val="1F2937"/>
                </a:solidFill>
                <a:latin typeface="Cambria" pitchFamily="34" charset="0"/>
                <a:ea typeface="Cambria" pitchFamily="34" charset="0"/>
                <a:cs typeface="Cambria" pitchFamily="34" charset="0"/>
              </a:rPr>
              <a:t>IDS / IPS</a:t>
            </a:r>
            <a:endParaRPr lang="zh-CN" altLang="en-US" sz="1450" b="0" i="0" u="none" strike="noStrike" kern="1200" cap="none" spc="0" baseline="0">
              <a:solidFill>
                <a:schemeClr val="tx1"/>
              </a:solidFill>
              <a:latin typeface="Calibri" charset="0"/>
              <a:ea typeface="等线" charset="0"/>
              <a:cs typeface="Calibri" charset="0"/>
            </a:endParaRPr>
          </a:p>
        </p:txBody>
      </p:sp>
      <p:sp>
        <p:nvSpPr>
          <p:cNvPr id="152" name="Rectangle"/>
          <p:cNvSpPr>
            <a:spLocks/>
          </p:cNvSpPr>
          <p:nvPr/>
        </p:nvSpPr>
        <p:spPr>
          <a:xfrm>
            <a:off x="6528816" y="2907792"/>
            <a:ext cx="2331720" cy="82296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100" b="0" i="0" u="none" strike="noStrike" kern="1200" cap="none" spc="0" baseline="0">
                <a:solidFill>
                  <a:srgbClr val="64748B"/>
                </a:solidFill>
                <a:latin typeface="Calibri" charset="0"/>
                <a:ea typeface="Calibri" charset="0"/>
                <a:cs typeface="Calibri" charset="0"/>
              </a:rPr>
              <a:t>Detects and blocks suspicious network activity in real time</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153" name="Rounded rectangle"/>
          <p:cNvSpPr>
            <a:spLocks/>
          </p:cNvSpPr>
          <p:nvPr/>
        </p:nvSpPr>
        <p:spPr>
          <a:xfrm>
            <a:off x="9244584" y="1463040"/>
            <a:ext cx="2697480" cy="2331720"/>
          </a:xfrm>
          <a:prstGeom prst="roundRect">
            <a:avLst>
              <a:gd name="adj" fmla="val 3138"/>
            </a:avLst>
          </a:prstGeom>
          <a:solidFill>
            <a:srgbClr val="E8F0FE"/>
          </a:solidFill>
          <a:ln w="12700" cap="flat" cmpd="sng">
            <a:noFill/>
            <a:prstDash val="solid"/>
            <a:miter/>
          </a:ln>
          <a:effectLst>
            <a:outerShdw blurRad="101600" dist="38100" dir="5400000" algn="bl" rotWithShape="0">
              <a:srgbClr val="1F2937">
                <a:alpha val="17647"/>
              </a:srgbClr>
            </a:outerShdw>
          </a:effectLst>
        </p:spPr>
      </p:sp>
      <p:sp>
        <p:nvSpPr>
          <p:cNvPr id="154" name="Oval"/>
          <p:cNvSpPr>
            <a:spLocks/>
          </p:cNvSpPr>
          <p:nvPr/>
        </p:nvSpPr>
        <p:spPr>
          <a:xfrm>
            <a:off x="10273284" y="1719072"/>
            <a:ext cx="640080" cy="640079"/>
          </a:xfrm>
          <a:prstGeom prst="ellipse">
            <a:avLst/>
          </a:prstGeom>
          <a:solidFill>
            <a:srgbClr val="FFFFFF"/>
          </a:solidFill>
          <a:ln w="12700" cap="flat" cmpd="sng">
            <a:noFill/>
            <a:prstDash val="solid"/>
            <a:miter/>
          </a:ln>
        </p:spPr>
      </p:sp>
      <p:pic>
        <p:nvPicPr>
          <p:cNvPr id="155" name="Image" descr="/home/claude/deck/assets/fingerprint_blue.png"/>
          <p:cNvPicPr>
            <a:picLocks noChangeAspect="1"/>
          </p:cNvPicPr>
          <p:nvPr/>
        </p:nvPicPr>
        <p:blipFill>
          <a:blip r:embed="rId6" cstate="print"/>
          <a:stretch>
            <a:fillRect/>
          </a:stretch>
        </p:blipFill>
        <p:spPr>
          <a:xfrm>
            <a:off x="10321291" y="1767078"/>
            <a:ext cx="544066" cy="544068"/>
          </a:xfrm>
          <a:prstGeom prst="rect">
            <a:avLst/>
          </a:prstGeom>
          <a:noFill/>
          <a:ln w="12700" cap="flat" cmpd="sng">
            <a:noFill/>
            <a:prstDash val="solid"/>
            <a:miter/>
          </a:ln>
        </p:spPr>
      </p:pic>
      <p:sp>
        <p:nvSpPr>
          <p:cNvPr id="156" name="Rectangle"/>
          <p:cNvSpPr>
            <a:spLocks/>
          </p:cNvSpPr>
          <p:nvPr/>
        </p:nvSpPr>
        <p:spPr>
          <a:xfrm>
            <a:off x="9381744" y="2514600"/>
            <a:ext cx="2423160" cy="36575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450" b="1" i="0" u="none" strike="noStrike" kern="1200" cap="none" spc="0" baseline="0">
                <a:solidFill>
                  <a:srgbClr val="1F2937"/>
                </a:solidFill>
                <a:latin typeface="Cambria" pitchFamily="34" charset="0"/>
                <a:ea typeface="Cambria" pitchFamily="34" charset="0"/>
                <a:cs typeface="Cambria" pitchFamily="34" charset="0"/>
              </a:rPr>
              <a:t>Multi-Factor Auth</a:t>
            </a:r>
            <a:endParaRPr lang="zh-CN" altLang="en-US" sz="1450" b="0" i="0" u="none" strike="noStrike" kern="1200" cap="none" spc="0" baseline="0">
              <a:solidFill>
                <a:schemeClr val="tx1"/>
              </a:solidFill>
              <a:latin typeface="Calibri" charset="0"/>
              <a:ea typeface="等线" charset="0"/>
              <a:cs typeface="Calibri" charset="0"/>
            </a:endParaRPr>
          </a:p>
        </p:txBody>
      </p:sp>
      <p:sp>
        <p:nvSpPr>
          <p:cNvPr id="157" name="Rectangle"/>
          <p:cNvSpPr>
            <a:spLocks/>
          </p:cNvSpPr>
          <p:nvPr/>
        </p:nvSpPr>
        <p:spPr>
          <a:xfrm>
            <a:off x="9427464" y="2907792"/>
            <a:ext cx="2331720" cy="82296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100" b="0" i="0" u="none" strike="noStrike" kern="1200" cap="none" spc="0" baseline="0">
                <a:solidFill>
                  <a:srgbClr val="64748B"/>
                </a:solidFill>
                <a:latin typeface="Calibri" charset="0"/>
                <a:ea typeface="Calibri" charset="0"/>
                <a:cs typeface="Calibri" charset="0"/>
              </a:rPr>
              <a:t>Requires 2+ verification factors to confirm user identity</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158" name="Rounded rectangle"/>
          <p:cNvSpPr>
            <a:spLocks/>
          </p:cNvSpPr>
          <p:nvPr/>
        </p:nvSpPr>
        <p:spPr>
          <a:xfrm>
            <a:off x="548640" y="4023359"/>
            <a:ext cx="11064240" cy="2011678"/>
          </a:xfrm>
          <a:prstGeom prst="roundRect">
            <a:avLst>
              <a:gd name="adj" fmla="val 3634"/>
            </a:avLst>
          </a:prstGeom>
          <a:solidFill>
            <a:srgbClr val="1F2937"/>
          </a:solidFill>
          <a:ln w="12700" cap="flat" cmpd="sng">
            <a:noFill/>
            <a:prstDash val="solid"/>
            <a:miter/>
          </a:ln>
          <a:effectLst>
            <a:outerShdw blurRad="101600" dist="38100" dir="5400000" algn="bl" rotWithShape="0">
              <a:srgbClr val="1F2937">
                <a:alpha val="17647"/>
              </a:srgbClr>
            </a:outerShdw>
          </a:effectLst>
        </p:spPr>
      </p:sp>
      <p:sp>
        <p:nvSpPr>
          <p:cNvPr id="159" name="Oval"/>
          <p:cNvSpPr>
            <a:spLocks/>
          </p:cNvSpPr>
          <p:nvPr/>
        </p:nvSpPr>
        <p:spPr>
          <a:xfrm>
            <a:off x="868680" y="4297680"/>
            <a:ext cx="594360" cy="594360"/>
          </a:xfrm>
          <a:prstGeom prst="ellipse">
            <a:avLst/>
          </a:prstGeom>
          <a:solidFill>
            <a:srgbClr val="DC2626"/>
          </a:solidFill>
          <a:ln w="12700" cap="flat" cmpd="sng">
            <a:noFill/>
            <a:prstDash val="solid"/>
            <a:miter/>
          </a:ln>
        </p:spPr>
      </p:sp>
      <p:pic>
        <p:nvPicPr>
          <p:cNvPr id="160" name="Image" descr="/home/claude/deck/assets/alert.png"/>
          <p:cNvPicPr>
            <a:picLocks noChangeAspect="1"/>
          </p:cNvPicPr>
          <p:nvPr/>
        </p:nvPicPr>
        <p:blipFill>
          <a:blip r:embed="rId7" cstate="print"/>
          <a:stretch>
            <a:fillRect/>
          </a:stretch>
        </p:blipFill>
        <p:spPr>
          <a:xfrm>
            <a:off x="1002411" y="4431411"/>
            <a:ext cx="326898" cy="326898"/>
          </a:xfrm>
          <a:prstGeom prst="rect">
            <a:avLst/>
          </a:prstGeom>
          <a:noFill/>
          <a:ln w="12700" cap="flat" cmpd="sng">
            <a:noFill/>
            <a:prstDash val="solid"/>
            <a:miter/>
          </a:ln>
        </p:spPr>
      </p:pic>
      <p:sp>
        <p:nvSpPr>
          <p:cNvPr id="161" name="Rectangle"/>
          <p:cNvSpPr>
            <a:spLocks/>
          </p:cNvSpPr>
          <p:nvPr/>
        </p:nvSpPr>
        <p:spPr>
          <a:xfrm>
            <a:off x="1600200" y="4279392"/>
            <a:ext cx="9144000" cy="32004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300" b="1" i="0" u="none" strike="noStrike" kern="0" cap="none" spc="50" baseline="0">
                <a:solidFill>
                  <a:srgbClr val="FBBF24"/>
                </a:solidFill>
                <a:latin typeface="Calibri" charset="0"/>
                <a:ea typeface="Calibri" charset="0"/>
                <a:cs typeface="Calibri" charset="0"/>
              </a:rPr>
              <a:t>REAL-WORLD CASE STUDY: WANNACRY RANSOMWARE (2017)</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162" name="Rectangle"/>
          <p:cNvSpPr>
            <a:spLocks/>
          </p:cNvSpPr>
          <p:nvPr/>
        </p:nvSpPr>
        <p:spPr>
          <a:xfrm>
            <a:off x="868680" y="4892040"/>
            <a:ext cx="10424161" cy="553852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342900" indent="-342900" algn="l">
              <a:lnSpc>
                <a:spcPct val="115000"/>
              </a:lnSpc>
              <a:spcBef>
                <a:spcPts val="0"/>
              </a:spcBef>
              <a:spcAft>
                <a:spcPts val="432"/>
              </a:spcAft>
              <a:buClrTx/>
              <a:buChar char="▪"/>
            </a:pPr>
            <a:r>
              <a:rPr lang="en-US" altLang="zh-CN" sz="1250" b="0" i="0" u="none" strike="noStrike" kern="1200" cap="none" spc="0" baseline="0">
                <a:solidFill>
                  <a:srgbClr val="E5E7EB"/>
                </a:solidFill>
                <a:latin typeface="Calibri" charset="0"/>
                <a:ea typeface="Calibri" charset="0"/>
                <a:cs typeface="Calibri" charset="0"/>
              </a:rPr>
              <a:t>Exploited unpatched Windows SMB vulnerability (EternalBlue) to spread across 150+ countries</a:t>
            </a:r>
            <a:endParaRPr lang="en-US" altLang="zh-CN" sz="125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432"/>
              </a:spcAft>
              <a:buClrTx/>
              <a:buChar char="▪"/>
            </a:pPr>
            <a:r>
              <a:rPr lang="en-US" altLang="zh-CN" sz="1250" b="0" i="0" u="none" strike="noStrike" kern="1200" cap="none" spc="0" baseline="0">
                <a:solidFill>
                  <a:srgbClr val="E5E7EB"/>
                </a:solidFill>
                <a:latin typeface="Calibri" charset="0"/>
                <a:ea typeface="Calibri" charset="0"/>
                <a:cs typeface="Calibri" charset="0"/>
              </a:rPr>
              <a:t>Encrypted files on 200,000+ computers, demanding Bitcoin ransom for decryption keys</a:t>
            </a:r>
            <a:endParaRPr lang="en-US" altLang="zh-CN" sz="125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432"/>
              </a:spcAft>
              <a:buClrTx/>
              <a:buChar char="▪"/>
            </a:pPr>
            <a:r>
              <a:rPr lang="en-US" altLang="zh-CN" sz="1250" b="0" i="0" u="none" strike="noStrike" kern="1200" cap="none" spc="0" baseline="0">
                <a:solidFill>
                  <a:srgbClr val="E5E7EB"/>
                </a:solidFill>
                <a:latin typeface="Calibri" charset="0"/>
                <a:ea typeface="Calibri" charset="0"/>
                <a:cs typeface="Calibri" charset="0"/>
              </a:rPr>
              <a:t>Highlighted the need for timely patching, firewalls, IDS/IPS, and offline backups as prevention</a:t>
            </a:r>
            <a:endParaRPr lang="zh-CN" altLang="en-US" sz="1250" b="0" i="0" u="none" strike="noStrike" kern="1200" cap="none" spc="0" baseline="0">
              <a:solidFill>
                <a:schemeClr val="tx1"/>
              </a:solidFill>
              <a:latin typeface="Calibri" charset="0"/>
              <a:ea typeface="等线" charset="0"/>
              <a:cs typeface="Calibri" charset="0"/>
            </a:endParaRPr>
          </a:p>
        </p:txBody>
      </p:sp>
      <p:sp>
        <p:nvSpPr>
          <p:cNvPr id="163" name="Rectangle"/>
          <p:cNvSpPr>
            <a:spLocks/>
          </p:cNvSpPr>
          <p:nvPr/>
        </p:nvSpPr>
        <p:spPr>
          <a:xfrm>
            <a:off x="548640" y="6528816"/>
            <a:ext cx="548640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charset="0"/>
                <a:ea typeface="Calibri" charset="0"/>
                <a:cs typeface="Calibri" charset="0"/>
              </a:rPr>
              <a:t>Cryptography &amp; Network Security</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164" name="Rectangle"/>
          <p:cNvSpPr>
            <a:spLocks/>
          </p:cNvSpPr>
          <p:nvPr/>
        </p:nvSpPr>
        <p:spPr>
          <a:xfrm>
            <a:off x="11338560" y="6528816"/>
            <a:ext cx="36576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charset="0"/>
                <a:ea typeface="Calibri" charset="0"/>
                <a:cs typeface="Calibri" charset="0"/>
              </a:rPr>
              <a:t>6</a:t>
            </a:r>
            <a:endParaRPr lang="zh-CN" altLang="en-US" sz="9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1610049209"/>
      </p:ext>
    </p:extLst>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B1E3D"/>
        </a:solidFill>
        <a:effectLst/>
      </p:bgPr>
    </p:bg>
    <p:spTree>
      <p:nvGrpSpPr>
        <p:cNvPr id="1" name=""/>
        <p:cNvGrpSpPr/>
        <p:nvPr/>
      </p:nvGrpSpPr>
      <p:grpSpPr>
        <a:xfrm>
          <a:off x="0" y="0"/>
          <a:ext cx="0" cy="0"/>
          <a:chOff x="0" y="0"/>
          <a:chExt cx="0" cy="0"/>
        </a:xfrm>
      </p:grpSpPr>
      <p:sp>
        <p:nvSpPr>
          <p:cNvPr id="169" name="Rectangle"/>
          <p:cNvSpPr>
            <a:spLocks/>
          </p:cNvSpPr>
          <p:nvPr/>
        </p:nvSpPr>
        <p:spPr>
          <a:xfrm>
            <a:off x="548640" y="320040"/>
            <a:ext cx="7315200" cy="32004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0" cap="none" spc="200" baseline="0">
                <a:solidFill>
                  <a:srgbClr val="60A5FA"/>
                </a:solidFill>
                <a:latin typeface="Calibri" charset="0"/>
                <a:ea typeface="Calibri" charset="0"/>
                <a:cs typeface="Calibri" charset="0"/>
              </a:rPr>
              <a:t>TOPIC 2 · FOUNDATIONS</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170" name="Rectangle"/>
          <p:cNvSpPr>
            <a:spLocks/>
          </p:cNvSpPr>
          <p:nvPr/>
        </p:nvSpPr>
        <p:spPr>
          <a:xfrm>
            <a:off x="548640" y="566928"/>
            <a:ext cx="11064240" cy="7315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3200" b="1" i="0" u="none" strike="noStrike" kern="1200" cap="none" spc="0" baseline="0">
                <a:solidFill>
                  <a:srgbClr val="FFFFFF"/>
                </a:solidFill>
                <a:latin typeface="Cambria" pitchFamily="34" charset="0"/>
                <a:ea typeface="Cambria" pitchFamily="34" charset="0"/>
                <a:cs typeface="Cambria" pitchFamily="34" charset="0"/>
              </a:rPr>
              <a:t>Introduction to Cryptography &amp; Steganography</a:t>
            </a:r>
            <a:endParaRPr lang="zh-CN" altLang="en-US" sz="3200" b="0" i="0" u="none" strike="noStrike" kern="1200" cap="none" spc="0" baseline="0">
              <a:solidFill>
                <a:schemeClr val="tx1"/>
              </a:solidFill>
              <a:latin typeface="Calibri" charset="0"/>
              <a:ea typeface="等线" charset="0"/>
              <a:cs typeface="Calibri" charset="0"/>
            </a:endParaRPr>
          </a:p>
        </p:txBody>
      </p:sp>
      <p:sp>
        <p:nvSpPr>
          <p:cNvPr id="171" name="Rounded rectangle"/>
          <p:cNvSpPr>
            <a:spLocks/>
          </p:cNvSpPr>
          <p:nvPr/>
        </p:nvSpPr>
        <p:spPr>
          <a:xfrm>
            <a:off x="548640" y="1600200"/>
            <a:ext cx="5257800" cy="4114800"/>
          </a:xfrm>
          <a:prstGeom prst="roundRect">
            <a:avLst>
              <a:gd name="adj" fmla="val 1777"/>
            </a:avLst>
          </a:prstGeom>
          <a:solidFill>
            <a:srgbClr val="13294B"/>
          </a:solidFill>
          <a:ln w="12700" cap="flat" cmpd="sng">
            <a:noFill/>
            <a:prstDash val="solid"/>
            <a:miter/>
          </a:ln>
          <a:effectLst>
            <a:outerShdw blurRad="101600" dist="38100" dir="5400000" algn="bl" rotWithShape="0">
              <a:srgbClr val="1F2937">
                <a:alpha val="17647"/>
              </a:srgbClr>
            </a:outerShdw>
          </a:effectLst>
        </p:spPr>
      </p:sp>
      <p:sp>
        <p:nvSpPr>
          <p:cNvPr id="172" name="Oval"/>
          <p:cNvSpPr>
            <a:spLocks/>
          </p:cNvSpPr>
          <p:nvPr/>
        </p:nvSpPr>
        <p:spPr>
          <a:xfrm>
            <a:off x="2720339" y="1965960"/>
            <a:ext cx="914400" cy="914399"/>
          </a:xfrm>
          <a:prstGeom prst="ellipse">
            <a:avLst/>
          </a:prstGeom>
          <a:solidFill>
            <a:srgbClr val="2563EB"/>
          </a:solidFill>
          <a:ln w="12700" cap="flat" cmpd="sng">
            <a:noFill/>
            <a:prstDash val="solid"/>
            <a:miter/>
          </a:ln>
        </p:spPr>
      </p:sp>
      <p:pic>
        <p:nvPicPr>
          <p:cNvPr id="173" name="Image" descr="/home/claude/deck/assets/key.png"/>
          <p:cNvPicPr>
            <a:picLocks noChangeAspect="1"/>
          </p:cNvPicPr>
          <p:nvPr/>
        </p:nvPicPr>
        <p:blipFill>
          <a:blip r:embed="rId3" cstate="print"/>
          <a:stretch>
            <a:fillRect/>
          </a:stretch>
        </p:blipFill>
        <p:spPr>
          <a:xfrm>
            <a:off x="2926080" y="2171700"/>
            <a:ext cx="502920" cy="502919"/>
          </a:xfrm>
          <a:prstGeom prst="rect">
            <a:avLst/>
          </a:prstGeom>
          <a:noFill/>
          <a:ln w="12700" cap="flat" cmpd="sng">
            <a:noFill/>
            <a:prstDash val="solid"/>
            <a:miter/>
          </a:ln>
        </p:spPr>
      </p:pic>
      <p:sp>
        <p:nvSpPr>
          <p:cNvPr id="174" name="Rectangle"/>
          <p:cNvSpPr>
            <a:spLocks/>
          </p:cNvSpPr>
          <p:nvPr/>
        </p:nvSpPr>
        <p:spPr>
          <a:xfrm>
            <a:off x="548640" y="3063239"/>
            <a:ext cx="5257800" cy="45720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2000" b="1" i="0" u="none" strike="noStrike" kern="1200" cap="none" spc="0" baseline="0">
                <a:solidFill>
                  <a:srgbClr val="FFFFFF"/>
                </a:solidFill>
                <a:latin typeface="Cambria" pitchFamily="34" charset="0"/>
                <a:ea typeface="Cambria" pitchFamily="34" charset="0"/>
                <a:cs typeface="Cambria" pitchFamily="34" charset="0"/>
              </a:rPr>
              <a:t>Cryptography</a:t>
            </a:r>
            <a:endParaRPr lang="zh-CN" altLang="en-US" sz="2000" b="0" i="0" u="none" strike="noStrike" kern="1200" cap="none" spc="0" baseline="0">
              <a:solidFill>
                <a:schemeClr val="tx1"/>
              </a:solidFill>
              <a:latin typeface="Calibri" charset="0"/>
              <a:ea typeface="等线" charset="0"/>
              <a:cs typeface="Calibri" charset="0"/>
            </a:endParaRPr>
          </a:p>
        </p:txBody>
      </p:sp>
      <p:sp>
        <p:nvSpPr>
          <p:cNvPr id="175" name="Rectangle"/>
          <p:cNvSpPr>
            <a:spLocks/>
          </p:cNvSpPr>
          <p:nvPr/>
        </p:nvSpPr>
        <p:spPr>
          <a:xfrm>
            <a:off x="914400" y="3611880"/>
            <a:ext cx="4526280" cy="5029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342900" indent="-342900" algn="l">
              <a:lnSpc>
                <a:spcPct val="115000"/>
              </a:lnSpc>
              <a:spcBef>
                <a:spcPts val="0"/>
              </a:spcBef>
              <a:spcAft>
                <a:spcPts val="864"/>
              </a:spcAft>
              <a:buClrTx/>
              <a:buChar char="▪"/>
            </a:pPr>
            <a:r>
              <a:rPr lang="en-US" altLang="zh-CN" sz="1300" b="0" i="0" u="none" strike="noStrike" kern="1200" cap="none" spc="0" baseline="0">
                <a:solidFill>
                  <a:srgbClr val="D7E3FA"/>
                </a:solidFill>
                <a:latin typeface="Calibri" charset="0"/>
                <a:ea typeface="Calibri" charset="0"/>
                <a:cs typeface="Calibri" charset="0"/>
              </a:rPr>
              <a:t>Science of transforming readable data into unreadable form</a:t>
            </a:r>
            <a:endParaRPr lang="en-US" altLang="zh-CN" sz="130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864"/>
              </a:spcAft>
              <a:buClrTx/>
              <a:buChar char="▪"/>
            </a:pPr>
            <a:r>
              <a:rPr lang="en-US" altLang="zh-CN" sz="1300" b="0" i="0" u="none" strike="noStrike" kern="1200" cap="none" spc="0" baseline="0">
                <a:solidFill>
                  <a:srgbClr val="D7E3FA"/>
                </a:solidFill>
                <a:latin typeface="Calibri" charset="0"/>
                <a:ea typeface="Calibri" charset="0"/>
                <a:cs typeface="Calibri" charset="0"/>
              </a:rPr>
              <a:t>Protects data through mathematical algorithms and keys</a:t>
            </a:r>
            <a:endParaRPr lang="en-US" altLang="zh-CN" sz="130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864"/>
              </a:spcAft>
              <a:buClrTx/>
              <a:buChar char="▪"/>
            </a:pPr>
            <a:r>
              <a:rPr lang="en-US" altLang="zh-CN" sz="1300" b="0" i="0" u="none" strike="noStrike" kern="1200" cap="none" spc="0" baseline="0">
                <a:solidFill>
                  <a:srgbClr val="D7E3FA"/>
                </a:solidFill>
                <a:latin typeface="Calibri" charset="0"/>
                <a:ea typeface="Calibri" charset="0"/>
                <a:cs typeface="Calibri" charset="0"/>
              </a:rPr>
              <a:t>Provides confidentiality, integrity, and authentication</a:t>
            </a:r>
            <a:endParaRPr lang="en-US" altLang="zh-CN" sz="130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864"/>
              </a:spcAft>
              <a:buClrTx/>
              <a:buChar char="▪"/>
            </a:pPr>
            <a:r>
              <a:rPr lang="en-US" altLang="zh-CN" sz="1300" b="0" i="0" u="none" strike="noStrike" kern="1200" cap="none" spc="0" baseline="0">
                <a:solidFill>
                  <a:srgbClr val="D7E3FA"/>
                </a:solidFill>
                <a:latin typeface="Calibri" charset="0"/>
                <a:ea typeface="Calibri" charset="0"/>
                <a:cs typeface="Calibri" charset="0"/>
              </a:rPr>
              <a:t>Visible presence of protected data (ciphertext is noticeable)</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176" name="Rounded rectangle"/>
          <p:cNvSpPr>
            <a:spLocks/>
          </p:cNvSpPr>
          <p:nvPr/>
        </p:nvSpPr>
        <p:spPr>
          <a:xfrm>
            <a:off x="6126478" y="1600200"/>
            <a:ext cx="5257799" cy="4114800"/>
          </a:xfrm>
          <a:prstGeom prst="roundRect">
            <a:avLst>
              <a:gd name="adj" fmla="val 1777"/>
            </a:avLst>
          </a:prstGeom>
          <a:solidFill>
            <a:srgbClr val="13294B"/>
          </a:solidFill>
          <a:ln w="12700" cap="flat" cmpd="sng">
            <a:noFill/>
            <a:prstDash val="solid"/>
            <a:miter/>
          </a:ln>
          <a:effectLst>
            <a:outerShdw blurRad="101600" dist="38100" dir="5400000" algn="bl" rotWithShape="0">
              <a:srgbClr val="1F2937">
                <a:alpha val="17647"/>
              </a:srgbClr>
            </a:outerShdw>
          </a:effectLst>
        </p:spPr>
      </p:sp>
      <p:sp>
        <p:nvSpPr>
          <p:cNvPr id="177" name="Oval"/>
          <p:cNvSpPr>
            <a:spLocks/>
          </p:cNvSpPr>
          <p:nvPr/>
        </p:nvSpPr>
        <p:spPr>
          <a:xfrm>
            <a:off x="8298179" y="1965960"/>
            <a:ext cx="914400" cy="914399"/>
          </a:xfrm>
          <a:prstGeom prst="ellipse">
            <a:avLst/>
          </a:prstGeom>
          <a:solidFill>
            <a:srgbClr val="7C3AED"/>
          </a:solidFill>
          <a:ln w="12700" cap="flat" cmpd="sng">
            <a:noFill/>
            <a:prstDash val="solid"/>
            <a:miter/>
          </a:ln>
        </p:spPr>
      </p:sp>
      <p:pic>
        <p:nvPicPr>
          <p:cNvPr id="178" name="Image" descr="/home/claude/deck/assets/image_icon.png"/>
          <p:cNvPicPr>
            <a:picLocks noChangeAspect="1"/>
          </p:cNvPicPr>
          <p:nvPr/>
        </p:nvPicPr>
        <p:blipFill>
          <a:blip r:embed="rId4" cstate="print"/>
          <a:stretch>
            <a:fillRect/>
          </a:stretch>
        </p:blipFill>
        <p:spPr>
          <a:xfrm>
            <a:off x="8503920" y="2171700"/>
            <a:ext cx="502919" cy="502919"/>
          </a:xfrm>
          <a:prstGeom prst="rect">
            <a:avLst/>
          </a:prstGeom>
          <a:noFill/>
          <a:ln w="12700" cap="flat" cmpd="sng">
            <a:noFill/>
            <a:prstDash val="solid"/>
            <a:miter/>
          </a:ln>
        </p:spPr>
      </p:pic>
      <p:sp>
        <p:nvSpPr>
          <p:cNvPr id="179" name="Rectangle"/>
          <p:cNvSpPr>
            <a:spLocks/>
          </p:cNvSpPr>
          <p:nvPr/>
        </p:nvSpPr>
        <p:spPr>
          <a:xfrm>
            <a:off x="6126478" y="3063239"/>
            <a:ext cx="5257799" cy="45720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2000" b="1" i="0" u="none" strike="noStrike" kern="1200" cap="none" spc="0" baseline="0">
                <a:solidFill>
                  <a:srgbClr val="FFFFFF"/>
                </a:solidFill>
                <a:latin typeface="Cambria" pitchFamily="34" charset="0"/>
                <a:ea typeface="Cambria" pitchFamily="34" charset="0"/>
                <a:cs typeface="Cambria" pitchFamily="34" charset="0"/>
              </a:rPr>
              <a:t>Steganography</a:t>
            </a:r>
            <a:endParaRPr lang="zh-CN" altLang="en-US" sz="2000" b="0" i="0" u="none" strike="noStrike" kern="1200" cap="none" spc="0" baseline="0">
              <a:solidFill>
                <a:schemeClr val="tx1"/>
              </a:solidFill>
              <a:latin typeface="Calibri" charset="0"/>
              <a:ea typeface="等线" charset="0"/>
              <a:cs typeface="Calibri" charset="0"/>
            </a:endParaRPr>
          </a:p>
        </p:txBody>
      </p:sp>
      <p:sp>
        <p:nvSpPr>
          <p:cNvPr id="180" name="Rectangle"/>
          <p:cNvSpPr>
            <a:spLocks/>
          </p:cNvSpPr>
          <p:nvPr/>
        </p:nvSpPr>
        <p:spPr>
          <a:xfrm>
            <a:off x="6492240" y="3611880"/>
            <a:ext cx="4526278" cy="5029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342900" indent="-342900" algn="l">
              <a:lnSpc>
                <a:spcPct val="115000"/>
              </a:lnSpc>
              <a:spcBef>
                <a:spcPts val="0"/>
              </a:spcBef>
              <a:spcAft>
                <a:spcPts val="864"/>
              </a:spcAft>
              <a:buClrTx/>
              <a:buChar char="▪"/>
            </a:pPr>
            <a:r>
              <a:rPr lang="en-US" altLang="zh-CN" sz="1300" b="0" i="0" u="none" strike="noStrike" kern="1200" cap="none" spc="0" baseline="0">
                <a:solidFill>
                  <a:srgbClr val="D7E3FA"/>
                </a:solidFill>
                <a:latin typeface="Calibri" charset="0"/>
                <a:ea typeface="Calibri" charset="0"/>
                <a:cs typeface="Calibri" charset="0"/>
              </a:rPr>
              <a:t>Art of hiding the very existence of a message</a:t>
            </a:r>
            <a:endParaRPr lang="en-US" altLang="zh-CN" sz="130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864"/>
              </a:spcAft>
              <a:buClrTx/>
              <a:buChar char="▪"/>
            </a:pPr>
            <a:r>
              <a:rPr lang="en-US" altLang="zh-CN" sz="1300" b="0" i="0" u="none" strike="noStrike" kern="1200" cap="none" spc="0" baseline="0">
                <a:solidFill>
                  <a:srgbClr val="D7E3FA"/>
                </a:solidFill>
                <a:latin typeface="Calibri" charset="0"/>
                <a:ea typeface="Calibri" charset="0"/>
                <a:cs typeface="Calibri" charset="0"/>
              </a:rPr>
              <a:t>Embeds secret data inside images, audio, video, or text</a:t>
            </a:r>
            <a:endParaRPr lang="en-US" altLang="zh-CN" sz="130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864"/>
              </a:spcAft>
              <a:buClrTx/>
              <a:buChar char="▪"/>
            </a:pPr>
            <a:r>
              <a:rPr lang="en-US" altLang="zh-CN" sz="1300" b="0" i="0" u="none" strike="noStrike" kern="1200" cap="none" spc="0" baseline="0">
                <a:solidFill>
                  <a:srgbClr val="D7E3FA"/>
                </a:solidFill>
                <a:latin typeface="Calibri" charset="0"/>
                <a:ea typeface="Calibri" charset="0"/>
                <a:cs typeface="Calibri" charset="0"/>
              </a:rPr>
              <a:t>Focuses on concealment rather than mathematical transformation</a:t>
            </a:r>
            <a:endParaRPr lang="en-US" altLang="zh-CN" sz="130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864"/>
              </a:spcAft>
              <a:buClrTx/>
              <a:buChar char="▪"/>
            </a:pPr>
            <a:r>
              <a:rPr lang="en-US" altLang="zh-CN" sz="1300" b="0" i="0" u="none" strike="noStrike" kern="1200" cap="none" spc="0" baseline="0">
                <a:solidFill>
                  <a:srgbClr val="D7E3FA"/>
                </a:solidFill>
                <a:latin typeface="Calibri" charset="0"/>
                <a:ea typeface="Calibri" charset="0"/>
                <a:cs typeface="Calibri" charset="0"/>
              </a:rPr>
              <a:t>Cover file appears completely normal to observers</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181" name="Rectangle"/>
          <p:cNvSpPr>
            <a:spLocks/>
          </p:cNvSpPr>
          <p:nvPr/>
        </p:nvSpPr>
        <p:spPr>
          <a:xfrm>
            <a:off x="548640" y="6528816"/>
            <a:ext cx="548640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900" b="0" i="1" u="none" strike="noStrike" kern="1200" cap="none" spc="0" baseline="0">
                <a:solidFill>
                  <a:srgbClr val="8FA3C4"/>
                </a:solidFill>
                <a:latin typeface="Calibri" charset="0"/>
                <a:ea typeface="Calibri" charset="0"/>
                <a:cs typeface="Calibri" charset="0"/>
              </a:rPr>
              <a:t>Cryptography &amp; Network Security</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182" name="Rectangle"/>
          <p:cNvSpPr>
            <a:spLocks/>
          </p:cNvSpPr>
          <p:nvPr/>
        </p:nvSpPr>
        <p:spPr>
          <a:xfrm>
            <a:off x="11338560" y="6528816"/>
            <a:ext cx="36576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r>
              <a:rPr lang="en-US" altLang="zh-CN" sz="900" b="0" i="0" u="none" strike="noStrike" kern="1200" cap="none" spc="0" baseline="0">
                <a:solidFill>
                  <a:srgbClr val="8FA3C4"/>
                </a:solidFill>
                <a:latin typeface="Calibri" charset="0"/>
                <a:ea typeface="Calibri" charset="0"/>
                <a:cs typeface="Calibri" charset="0"/>
              </a:rPr>
              <a:t>7</a:t>
            </a:r>
            <a:endParaRPr lang="zh-CN" altLang="en-US" sz="9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886451373"/>
      </p:ext>
    </p:extLst>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7" name="Rectangle"/>
          <p:cNvSpPr>
            <a:spLocks/>
          </p:cNvSpPr>
          <p:nvPr/>
        </p:nvSpPr>
        <p:spPr>
          <a:xfrm>
            <a:off x="548640" y="320040"/>
            <a:ext cx="7315200" cy="32004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charset="0"/>
                <a:ea typeface="Calibri" charset="0"/>
                <a:cs typeface="Calibri" charset="0"/>
              </a:rPr>
              <a:t>TOPIC 2 · CRYPTOGRAPHY</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188" name="Rectangle"/>
          <p:cNvSpPr>
            <a:spLocks/>
          </p:cNvSpPr>
          <p:nvPr/>
        </p:nvSpPr>
        <p:spPr>
          <a:xfrm>
            <a:off x="548640" y="566928"/>
            <a:ext cx="11064240" cy="7315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Cryptography</a:t>
            </a:r>
            <a:endParaRPr lang="zh-CN" altLang="en-US" sz="3200" b="0" i="0" u="none" strike="noStrike" kern="1200" cap="none" spc="0" baseline="0">
              <a:solidFill>
                <a:schemeClr val="tx1"/>
              </a:solidFill>
              <a:latin typeface="Calibri" charset="0"/>
              <a:ea typeface="等线" charset="0"/>
              <a:cs typeface="Calibri" charset="0"/>
            </a:endParaRPr>
          </a:p>
        </p:txBody>
      </p:sp>
      <p:sp>
        <p:nvSpPr>
          <p:cNvPr id="189" name="Rounded rectangle"/>
          <p:cNvSpPr>
            <a:spLocks/>
          </p:cNvSpPr>
          <p:nvPr/>
        </p:nvSpPr>
        <p:spPr>
          <a:xfrm>
            <a:off x="518008" y="1508758"/>
            <a:ext cx="1828800" cy="868680"/>
          </a:xfrm>
          <a:prstGeom prst="roundRect">
            <a:avLst>
              <a:gd name="adj" fmla="val 8421"/>
            </a:avLst>
          </a:prstGeom>
          <a:solidFill>
            <a:srgbClr val="F3F4F6"/>
          </a:solidFill>
          <a:ln w="12700" cap="flat" cmpd="sng">
            <a:noFill/>
            <a:prstDash val="solid"/>
            <a:miter/>
          </a:ln>
          <a:effectLst>
            <a:outerShdw blurRad="101600" dist="38100" dir="5400000" algn="bl" rotWithShape="0">
              <a:srgbClr val="1F2937">
                <a:alpha val="17647"/>
              </a:srgbClr>
            </a:outerShdw>
          </a:effectLst>
        </p:spPr>
      </p:sp>
      <p:sp>
        <p:nvSpPr>
          <p:cNvPr id="190" name="Oval"/>
          <p:cNvSpPr>
            <a:spLocks/>
          </p:cNvSpPr>
          <p:nvPr/>
        </p:nvSpPr>
        <p:spPr>
          <a:xfrm>
            <a:off x="1240384" y="1618487"/>
            <a:ext cx="384048" cy="384048"/>
          </a:xfrm>
          <a:prstGeom prst="ellipse">
            <a:avLst/>
          </a:prstGeom>
          <a:solidFill>
            <a:srgbClr val="1F2937"/>
          </a:solidFill>
          <a:ln w="12700" cap="flat" cmpd="sng">
            <a:noFill/>
            <a:prstDash val="solid"/>
            <a:miter/>
          </a:ln>
        </p:spPr>
      </p:sp>
      <p:pic>
        <p:nvPicPr>
          <p:cNvPr id="191" name="Image" descr="/home/claude/deck/assets/file_text.png"/>
          <p:cNvPicPr>
            <a:picLocks noChangeAspect="1"/>
          </p:cNvPicPr>
          <p:nvPr/>
        </p:nvPicPr>
        <p:blipFill>
          <a:blip r:embed="rId3" cstate="print"/>
          <a:stretch>
            <a:fillRect/>
          </a:stretch>
        </p:blipFill>
        <p:spPr>
          <a:xfrm>
            <a:off x="1317193" y="1695298"/>
            <a:ext cx="230427" cy="230428"/>
          </a:xfrm>
          <a:prstGeom prst="rect">
            <a:avLst/>
          </a:prstGeom>
          <a:noFill/>
          <a:ln w="12700" cap="flat" cmpd="sng">
            <a:noFill/>
            <a:prstDash val="solid"/>
            <a:miter/>
          </a:ln>
        </p:spPr>
      </p:pic>
      <p:sp>
        <p:nvSpPr>
          <p:cNvPr id="192" name="Rectangle"/>
          <p:cNvSpPr>
            <a:spLocks/>
          </p:cNvSpPr>
          <p:nvPr/>
        </p:nvSpPr>
        <p:spPr>
          <a:xfrm>
            <a:off x="518008" y="2039112"/>
            <a:ext cx="1828800" cy="292608"/>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150" b="1" i="0" u="none" strike="noStrike" kern="1200" cap="none" spc="0" baseline="0">
                <a:solidFill>
                  <a:srgbClr val="1F2937"/>
                </a:solidFill>
                <a:latin typeface="Calibri" charset="0"/>
                <a:ea typeface="Calibri" charset="0"/>
                <a:cs typeface="Calibri" charset="0"/>
              </a:rPr>
              <a:t>Plaintext</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193" name="Rounded rectangle"/>
          <p:cNvSpPr>
            <a:spLocks/>
          </p:cNvSpPr>
          <p:nvPr/>
        </p:nvSpPr>
        <p:spPr>
          <a:xfrm>
            <a:off x="2849728" y="1508758"/>
            <a:ext cx="1828800" cy="868680"/>
          </a:xfrm>
          <a:prstGeom prst="roundRect">
            <a:avLst>
              <a:gd name="adj" fmla="val 8421"/>
            </a:avLst>
          </a:prstGeom>
          <a:solidFill>
            <a:srgbClr val="E8F0FE"/>
          </a:solidFill>
          <a:ln w="12700" cap="flat" cmpd="sng">
            <a:noFill/>
            <a:prstDash val="solid"/>
            <a:miter/>
          </a:ln>
          <a:effectLst>
            <a:outerShdw blurRad="101600" dist="38100" dir="5400000" algn="bl" rotWithShape="0">
              <a:srgbClr val="1F2937">
                <a:alpha val="17647"/>
              </a:srgbClr>
            </a:outerShdw>
          </a:effectLst>
        </p:spPr>
      </p:sp>
      <p:sp>
        <p:nvSpPr>
          <p:cNvPr id="194" name="Oval"/>
          <p:cNvSpPr>
            <a:spLocks/>
          </p:cNvSpPr>
          <p:nvPr/>
        </p:nvSpPr>
        <p:spPr>
          <a:xfrm>
            <a:off x="3572104" y="1618487"/>
            <a:ext cx="384048" cy="384048"/>
          </a:xfrm>
          <a:prstGeom prst="ellipse">
            <a:avLst/>
          </a:prstGeom>
          <a:solidFill>
            <a:srgbClr val="2563EB"/>
          </a:solidFill>
          <a:ln w="12700" cap="flat" cmpd="sng">
            <a:noFill/>
            <a:prstDash val="solid"/>
            <a:miter/>
          </a:ln>
        </p:spPr>
      </p:sp>
      <p:pic>
        <p:nvPicPr>
          <p:cNvPr id="195" name="Image" descr="/home/claude/deck/assets/lock_blue.png"/>
          <p:cNvPicPr>
            <a:picLocks noChangeAspect="1"/>
          </p:cNvPicPr>
          <p:nvPr/>
        </p:nvPicPr>
        <p:blipFill>
          <a:blip r:embed="rId4" cstate="print"/>
          <a:stretch>
            <a:fillRect/>
          </a:stretch>
        </p:blipFill>
        <p:spPr>
          <a:xfrm>
            <a:off x="3648913" y="1695298"/>
            <a:ext cx="230428" cy="230428"/>
          </a:xfrm>
          <a:prstGeom prst="rect">
            <a:avLst/>
          </a:prstGeom>
          <a:noFill/>
          <a:ln w="12700" cap="flat" cmpd="sng">
            <a:noFill/>
            <a:prstDash val="solid"/>
            <a:miter/>
          </a:ln>
        </p:spPr>
      </p:pic>
      <p:sp>
        <p:nvSpPr>
          <p:cNvPr id="196" name="Rectangle"/>
          <p:cNvSpPr>
            <a:spLocks/>
          </p:cNvSpPr>
          <p:nvPr/>
        </p:nvSpPr>
        <p:spPr>
          <a:xfrm>
            <a:off x="2849728" y="2039112"/>
            <a:ext cx="1828800" cy="292608"/>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150" b="1" i="0" u="none" strike="noStrike" kern="1200" cap="none" spc="0" baseline="0">
                <a:solidFill>
                  <a:srgbClr val="1F2937"/>
                </a:solidFill>
                <a:latin typeface="Calibri" charset="0"/>
                <a:ea typeface="Calibri" charset="0"/>
                <a:cs typeface="Calibri" charset="0"/>
              </a:rPr>
              <a:t>Encryption</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197" name="Rounded rectangle"/>
          <p:cNvSpPr>
            <a:spLocks/>
          </p:cNvSpPr>
          <p:nvPr/>
        </p:nvSpPr>
        <p:spPr>
          <a:xfrm>
            <a:off x="5181448" y="1508758"/>
            <a:ext cx="1828800" cy="868680"/>
          </a:xfrm>
          <a:prstGeom prst="roundRect">
            <a:avLst>
              <a:gd name="adj" fmla="val 8421"/>
            </a:avLst>
          </a:prstGeom>
          <a:solidFill>
            <a:srgbClr val="F3F4F6"/>
          </a:solidFill>
          <a:ln w="12700" cap="flat" cmpd="sng">
            <a:noFill/>
            <a:prstDash val="solid"/>
            <a:miter/>
          </a:ln>
          <a:effectLst>
            <a:outerShdw blurRad="101600" dist="38100" dir="5400000" algn="bl" rotWithShape="0">
              <a:srgbClr val="1F2937">
                <a:alpha val="17647"/>
              </a:srgbClr>
            </a:outerShdw>
          </a:effectLst>
        </p:spPr>
      </p:sp>
      <p:sp>
        <p:nvSpPr>
          <p:cNvPr id="198" name="Oval"/>
          <p:cNvSpPr>
            <a:spLocks/>
          </p:cNvSpPr>
          <p:nvPr/>
        </p:nvSpPr>
        <p:spPr>
          <a:xfrm>
            <a:off x="5903823" y="1618487"/>
            <a:ext cx="384048" cy="384048"/>
          </a:xfrm>
          <a:prstGeom prst="ellipse">
            <a:avLst/>
          </a:prstGeom>
          <a:solidFill>
            <a:srgbClr val="1F2937"/>
          </a:solidFill>
          <a:ln w="12700" cap="flat" cmpd="sng">
            <a:noFill/>
            <a:prstDash val="solid"/>
            <a:miter/>
          </a:ln>
        </p:spPr>
      </p:sp>
      <p:pic>
        <p:nvPicPr>
          <p:cNvPr id="199" name="Image" descr="/home/claude/deck/assets/code.png"/>
          <p:cNvPicPr>
            <a:picLocks noChangeAspect="1"/>
          </p:cNvPicPr>
          <p:nvPr/>
        </p:nvPicPr>
        <p:blipFill>
          <a:blip r:embed="rId5" cstate="print"/>
          <a:stretch>
            <a:fillRect/>
          </a:stretch>
        </p:blipFill>
        <p:spPr>
          <a:xfrm>
            <a:off x="5980633" y="1695298"/>
            <a:ext cx="230427" cy="230428"/>
          </a:xfrm>
          <a:prstGeom prst="rect">
            <a:avLst/>
          </a:prstGeom>
          <a:noFill/>
          <a:ln w="12700" cap="flat" cmpd="sng">
            <a:noFill/>
            <a:prstDash val="solid"/>
            <a:miter/>
          </a:ln>
        </p:spPr>
      </p:pic>
      <p:sp>
        <p:nvSpPr>
          <p:cNvPr id="200" name="Rectangle"/>
          <p:cNvSpPr>
            <a:spLocks/>
          </p:cNvSpPr>
          <p:nvPr/>
        </p:nvSpPr>
        <p:spPr>
          <a:xfrm>
            <a:off x="5181448" y="2039112"/>
            <a:ext cx="1828800" cy="292608"/>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150" b="1" i="0" u="none" strike="noStrike" kern="1200" cap="none" spc="0" baseline="0">
                <a:solidFill>
                  <a:srgbClr val="1F2937"/>
                </a:solidFill>
                <a:latin typeface="Calibri" charset="0"/>
                <a:ea typeface="Calibri" charset="0"/>
                <a:cs typeface="Calibri" charset="0"/>
              </a:rPr>
              <a:t>Ciphertext</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201" name="Rounded rectangle"/>
          <p:cNvSpPr>
            <a:spLocks/>
          </p:cNvSpPr>
          <p:nvPr/>
        </p:nvSpPr>
        <p:spPr>
          <a:xfrm>
            <a:off x="7513168" y="1508758"/>
            <a:ext cx="1828800" cy="868680"/>
          </a:xfrm>
          <a:prstGeom prst="roundRect">
            <a:avLst>
              <a:gd name="adj" fmla="val 8421"/>
            </a:avLst>
          </a:prstGeom>
          <a:solidFill>
            <a:srgbClr val="E8F0FE"/>
          </a:solidFill>
          <a:ln w="12700" cap="flat" cmpd="sng">
            <a:noFill/>
            <a:prstDash val="solid"/>
            <a:miter/>
          </a:ln>
          <a:effectLst>
            <a:outerShdw blurRad="101600" dist="38100" dir="5400000" algn="bl" rotWithShape="0">
              <a:srgbClr val="1F2937">
                <a:alpha val="17647"/>
              </a:srgbClr>
            </a:outerShdw>
          </a:effectLst>
        </p:spPr>
      </p:sp>
      <p:sp>
        <p:nvSpPr>
          <p:cNvPr id="202" name="Oval"/>
          <p:cNvSpPr>
            <a:spLocks/>
          </p:cNvSpPr>
          <p:nvPr/>
        </p:nvSpPr>
        <p:spPr>
          <a:xfrm>
            <a:off x="8235544" y="1618487"/>
            <a:ext cx="384048" cy="384048"/>
          </a:xfrm>
          <a:prstGeom prst="ellipse">
            <a:avLst/>
          </a:prstGeom>
          <a:solidFill>
            <a:srgbClr val="2563EB"/>
          </a:solidFill>
          <a:ln w="12700" cap="flat" cmpd="sng">
            <a:noFill/>
            <a:prstDash val="solid"/>
            <a:miter/>
          </a:ln>
        </p:spPr>
      </p:sp>
      <p:pic>
        <p:nvPicPr>
          <p:cNvPr id="203" name="Image" descr="/home/claude/deck/assets/key_blue.png"/>
          <p:cNvPicPr>
            <a:picLocks noChangeAspect="1"/>
          </p:cNvPicPr>
          <p:nvPr/>
        </p:nvPicPr>
        <p:blipFill>
          <a:blip r:embed="rId6" cstate="print"/>
          <a:stretch>
            <a:fillRect/>
          </a:stretch>
        </p:blipFill>
        <p:spPr>
          <a:xfrm>
            <a:off x="8312353" y="1695298"/>
            <a:ext cx="230427" cy="230428"/>
          </a:xfrm>
          <a:prstGeom prst="rect">
            <a:avLst/>
          </a:prstGeom>
          <a:noFill/>
          <a:ln w="12700" cap="flat" cmpd="sng">
            <a:noFill/>
            <a:prstDash val="solid"/>
            <a:miter/>
          </a:ln>
        </p:spPr>
      </p:pic>
      <p:sp>
        <p:nvSpPr>
          <p:cNvPr id="204" name="Rectangle"/>
          <p:cNvSpPr>
            <a:spLocks/>
          </p:cNvSpPr>
          <p:nvPr/>
        </p:nvSpPr>
        <p:spPr>
          <a:xfrm>
            <a:off x="7513168" y="2039112"/>
            <a:ext cx="1828800" cy="292608"/>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150" b="1" i="0" u="none" strike="noStrike" kern="1200" cap="none" spc="0" baseline="0">
                <a:solidFill>
                  <a:srgbClr val="1F2937"/>
                </a:solidFill>
                <a:latin typeface="Calibri" charset="0"/>
                <a:ea typeface="Calibri" charset="0"/>
                <a:cs typeface="Calibri" charset="0"/>
              </a:rPr>
              <a:t>Decryption</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205" name="Rounded rectangle"/>
          <p:cNvSpPr>
            <a:spLocks/>
          </p:cNvSpPr>
          <p:nvPr/>
        </p:nvSpPr>
        <p:spPr>
          <a:xfrm>
            <a:off x="9844888" y="1508758"/>
            <a:ext cx="1828800" cy="868680"/>
          </a:xfrm>
          <a:prstGeom prst="roundRect">
            <a:avLst>
              <a:gd name="adj" fmla="val 8421"/>
            </a:avLst>
          </a:prstGeom>
          <a:solidFill>
            <a:srgbClr val="F3F4F6"/>
          </a:solidFill>
          <a:ln w="12700" cap="flat" cmpd="sng">
            <a:noFill/>
            <a:prstDash val="solid"/>
            <a:miter/>
          </a:ln>
          <a:effectLst>
            <a:outerShdw blurRad="101600" dist="38100" dir="5400000" algn="bl" rotWithShape="0">
              <a:srgbClr val="1F2937">
                <a:alpha val="17647"/>
              </a:srgbClr>
            </a:outerShdw>
          </a:effectLst>
        </p:spPr>
      </p:sp>
      <p:sp>
        <p:nvSpPr>
          <p:cNvPr id="206" name="Oval"/>
          <p:cNvSpPr>
            <a:spLocks/>
          </p:cNvSpPr>
          <p:nvPr/>
        </p:nvSpPr>
        <p:spPr>
          <a:xfrm>
            <a:off x="10567264" y="1618487"/>
            <a:ext cx="384047" cy="384048"/>
          </a:xfrm>
          <a:prstGeom prst="ellipse">
            <a:avLst/>
          </a:prstGeom>
          <a:solidFill>
            <a:srgbClr val="1F2937"/>
          </a:solidFill>
          <a:ln w="12700" cap="flat" cmpd="sng">
            <a:noFill/>
            <a:prstDash val="solid"/>
            <a:miter/>
          </a:ln>
        </p:spPr>
      </p:sp>
      <p:pic>
        <p:nvPicPr>
          <p:cNvPr id="207" name="Image" descr="/home/claude/deck/assets/file_text.png"/>
          <p:cNvPicPr>
            <a:picLocks noChangeAspect="1"/>
          </p:cNvPicPr>
          <p:nvPr/>
        </p:nvPicPr>
        <p:blipFill>
          <a:blip r:embed="rId3" cstate="print"/>
          <a:stretch>
            <a:fillRect/>
          </a:stretch>
        </p:blipFill>
        <p:spPr>
          <a:xfrm>
            <a:off x="10644073" y="1695298"/>
            <a:ext cx="230427" cy="230428"/>
          </a:xfrm>
          <a:prstGeom prst="rect">
            <a:avLst/>
          </a:prstGeom>
          <a:noFill/>
          <a:ln w="12700" cap="flat" cmpd="sng">
            <a:noFill/>
            <a:prstDash val="solid"/>
            <a:miter/>
          </a:ln>
        </p:spPr>
      </p:pic>
      <p:sp>
        <p:nvSpPr>
          <p:cNvPr id="208" name="Rectangle"/>
          <p:cNvSpPr>
            <a:spLocks/>
          </p:cNvSpPr>
          <p:nvPr/>
        </p:nvSpPr>
        <p:spPr>
          <a:xfrm>
            <a:off x="9844888" y="2039112"/>
            <a:ext cx="1828800" cy="292608"/>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150" b="1" i="0" u="none" strike="noStrike" kern="1200" cap="none" spc="0" baseline="0">
                <a:solidFill>
                  <a:srgbClr val="1F2937"/>
                </a:solidFill>
                <a:latin typeface="Calibri" charset="0"/>
                <a:ea typeface="Calibri" charset="0"/>
                <a:cs typeface="Calibri" charset="0"/>
              </a:rPr>
              <a:t>Plaintext</a:t>
            </a:r>
            <a:endParaRPr lang="zh-CN" altLang="en-US" sz="1150" b="0" i="0" u="none" strike="noStrike" kern="1200" cap="none" spc="0" baseline="0">
              <a:solidFill>
                <a:schemeClr val="tx1"/>
              </a:solidFill>
              <a:latin typeface="Calibri" charset="0"/>
              <a:ea typeface="等线" charset="0"/>
              <a:cs typeface="Calibri" charset="0"/>
            </a:endParaRPr>
          </a:p>
        </p:txBody>
      </p:sp>
      <p:pic>
        <p:nvPicPr>
          <p:cNvPr id="209" name="Image" descr="/home/claude/deck/assets/arrow_right.png"/>
          <p:cNvPicPr>
            <a:picLocks noChangeAspect="1"/>
          </p:cNvPicPr>
          <p:nvPr/>
        </p:nvPicPr>
        <p:blipFill>
          <a:blip r:embed="rId7" cstate="print"/>
          <a:stretch>
            <a:fillRect/>
          </a:stretch>
        </p:blipFill>
        <p:spPr>
          <a:xfrm>
            <a:off x="2470252" y="1828800"/>
            <a:ext cx="256031" cy="256031"/>
          </a:xfrm>
          <a:prstGeom prst="rect">
            <a:avLst/>
          </a:prstGeom>
          <a:noFill/>
          <a:ln w="12700" cap="flat" cmpd="sng">
            <a:noFill/>
            <a:prstDash val="solid"/>
            <a:miter/>
          </a:ln>
        </p:spPr>
      </p:pic>
      <p:pic>
        <p:nvPicPr>
          <p:cNvPr id="210" name="Image" descr="/home/claude/deck/assets/arrow_right.png"/>
          <p:cNvPicPr>
            <a:picLocks noChangeAspect="1"/>
          </p:cNvPicPr>
          <p:nvPr/>
        </p:nvPicPr>
        <p:blipFill>
          <a:blip r:embed="rId7" cstate="print"/>
          <a:stretch>
            <a:fillRect/>
          </a:stretch>
        </p:blipFill>
        <p:spPr>
          <a:xfrm>
            <a:off x="4801972" y="1828800"/>
            <a:ext cx="256032" cy="256031"/>
          </a:xfrm>
          <a:prstGeom prst="rect">
            <a:avLst/>
          </a:prstGeom>
          <a:noFill/>
          <a:ln w="12700" cap="flat" cmpd="sng">
            <a:noFill/>
            <a:prstDash val="solid"/>
            <a:miter/>
          </a:ln>
        </p:spPr>
      </p:pic>
      <p:pic>
        <p:nvPicPr>
          <p:cNvPr id="211" name="Image" descr="/home/claude/deck/assets/arrow_right.png"/>
          <p:cNvPicPr>
            <a:picLocks noChangeAspect="1"/>
          </p:cNvPicPr>
          <p:nvPr/>
        </p:nvPicPr>
        <p:blipFill>
          <a:blip r:embed="rId7" cstate="print"/>
          <a:stretch>
            <a:fillRect/>
          </a:stretch>
        </p:blipFill>
        <p:spPr>
          <a:xfrm>
            <a:off x="7133692" y="1828800"/>
            <a:ext cx="256032" cy="256031"/>
          </a:xfrm>
          <a:prstGeom prst="rect">
            <a:avLst/>
          </a:prstGeom>
          <a:noFill/>
          <a:ln w="12700" cap="flat" cmpd="sng">
            <a:noFill/>
            <a:prstDash val="solid"/>
            <a:miter/>
          </a:ln>
        </p:spPr>
      </p:pic>
      <p:pic>
        <p:nvPicPr>
          <p:cNvPr id="212" name="Image" descr="/home/claude/deck/assets/arrow_right.png"/>
          <p:cNvPicPr>
            <a:picLocks noChangeAspect="1"/>
          </p:cNvPicPr>
          <p:nvPr/>
        </p:nvPicPr>
        <p:blipFill>
          <a:blip r:embed="rId7" cstate="print"/>
          <a:stretch>
            <a:fillRect/>
          </a:stretch>
        </p:blipFill>
        <p:spPr>
          <a:xfrm>
            <a:off x="9465412" y="1828800"/>
            <a:ext cx="256032" cy="256031"/>
          </a:xfrm>
          <a:prstGeom prst="rect">
            <a:avLst/>
          </a:prstGeom>
          <a:noFill/>
          <a:ln w="12700" cap="flat" cmpd="sng">
            <a:noFill/>
            <a:prstDash val="solid"/>
            <a:miter/>
          </a:ln>
        </p:spPr>
      </p:pic>
      <p:sp>
        <p:nvSpPr>
          <p:cNvPr id="213" name="Rounded rectangle"/>
          <p:cNvSpPr>
            <a:spLocks/>
          </p:cNvSpPr>
          <p:nvPr/>
        </p:nvSpPr>
        <p:spPr>
          <a:xfrm>
            <a:off x="548640" y="2743200"/>
            <a:ext cx="5394960" cy="2148840"/>
          </a:xfrm>
          <a:prstGeom prst="roundRect">
            <a:avLst>
              <a:gd name="adj" fmla="val 3402"/>
            </a:avLst>
          </a:prstGeom>
          <a:solidFill>
            <a:srgbClr val="F0F5FF"/>
          </a:solidFill>
          <a:ln w="12700" cap="flat" cmpd="sng">
            <a:noFill/>
            <a:prstDash val="solid"/>
            <a:miter/>
          </a:ln>
          <a:effectLst>
            <a:outerShdw blurRad="101600" dist="38100" dir="5400000" algn="bl" rotWithShape="0">
              <a:srgbClr val="1F2937">
                <a:alpha val="17647"/>
              </a:srgbClr>
            </a:outerShdw>
          </a:effectLst>
        </p:spPr>
      </p:sp>
      <p:sp>
        <p:nvSpPr>
          <p:cNvPr id="214" name="Rectangle"/>
          <p:cNvSpPr>
            <a:spLocks/>
          </p:cNvSpPr>
          <p:nvPr/>
        </p:nvSpPr>
        <p:spPr>
          <a:xfrm>
            <a:off x="822960" y="2926080"/>
            <a:ext cx="4846320" cy="36575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550" b="1" i="0" u="none" strike="noStrike" kern="1200" cap="none" spc="0" baseline="0">
                <a:solidFill>
                  <a:srgbClr val="1F2937"/>
                </a:solidFill>
                <a:latin typeface="Cambria" pitchFamily="34" charset="0"/>
                <a:ea typeface="Cambria" pitchFamily="34" charset="0"/>
                <a:cs typeface="Cambria" pitchFamily="34" charset="0"/>
              </a:rPr>
              <a:t>Symmetric Encryption</a:t>
            </a:r>
            <a:endParaRPr lang="zh-CN" altLang="en-US" sz="1550" b="0" i="0" u="none" strike="noStrike" kern="1200" cap="none" spc="0" baseline="0">
              <a:solidFill>
                <a:schemeClr val="tx1"/>
              </a:solidFill>
              <a:latin typeface="Calibri" charset="0"/>
              <a:ea typeface="等线" charset="0"/>
              <a:cs typeface="Calibri" charset="0"/>
            </a:endParaRPr>
          </a:p>
        </p:txBody>
      </p:sp>
      <p:sp>
        <p:nvSpPr>
          <p:cNvPr id="215" name="Rectangle"/>
          <p:cNvSpPr>
            <a:spLocks/>
          </p:cNvSpPr>
          <p:nvPr/>
        </p:nvSpPr>
        <p:spPr>
          <a:xfrm>
            <a:off x="822960" y="3364992"/>
            <a:ext cx="4846320" cy="5029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342900" indent="-342900" algn="l">
              <a:lnSpc>
                <a:spcPct val="115000"/>
              </a:lnSpc>
              <a:spcBef>
                <a:spcPts val="0"/>
              </a:spcBef>
              <a:spcAft>
                <a:spcPts val="576"/>
              </a:spcAft>
              <a:buClrTx/>
              <a:buChar char="▪"/>
            </a:pPr>
            <a:r>
              <a:rPr lang="en-US" altLang="zh-CN" sz="1200" b="0" i="0" u="none" strike="noStrike" kern="1200" cap="none" spc="0" baseline="0">
                <a:solidFill>
                  <a:srgbClr val="1F2937"/>
                </a:solidFill>
                <a:latin typeface="Calibri" charset="0"/>
                <a:ea typeface="Calibri" charset="0"/>
                <a:cs typeface="Calibri" charset="0"/>
              </a:rPr>
              <a:t>Same key used for encryption &amp; decryption</a:t>
            </a:r>
            <a:endParaRPr lang="en-US" altLang="zh-CN" sz="120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576"/>
              </a:spcAft>
              <a:buClrTx/>
              <a:buChar char="▪"/>
            </a:pPr>
            <a:r>
              <a:rPr lang="en-US" altLang="zh-CN" sz="1200" b="0" i="0" u="none" strike="noStrike" kern="1200" cap="none" spc="0" baseline="0">
                <a:solidFill>
                  <a:srgbClr val="1F2937"/>
                </a:solidFill>
                <a:latin typeface="Calibri" charset="0"/>
                <a:ea typeface="Calibri" charset="0"/>
                <a:cs typeface="Calibri" charset="0"/>
              </a:rPr>
              <a:t>Fast, efficient for large data volumes</a:t>
            </a:r>
            <a:endParaRPr lang="en-US" altLang="zh-CN" sz="120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576"/>
              </a:spcAft>
              <a:buClrTx/>
              <a:buChar char="▪"/>
            </a:pPr>
            <a:r>
              <a:rPr lang="en-US" altLang="zh-CN" sz="1200" b="0" i="0" u="none" strike="noStrike" kern="1200" cap="none" spc="0" baseline="0">
                <a:solidFill>
                  <a:srgbClr val="1F2937"/>
                </a:solidFill>
                <a:latin typeface="Calibri" charset="0"/>
                <a:ea typeface="Calibri" charset="0"/>
                <a:cs typeface="Calibri" charset="0"/>
              </a:rPr>
              <a:t>Examples: AES, DES, 3DES</a:t>
            </a:r>
            <a:endParaRPr lang="en-US" altLang="zh-CN" sz="120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576"/>
              </a:spcAft>
              <a:buClrTx/>
              <a:buChar char="▪"/>
            </a:pPr>
            <a:r>
              <a:rPr lang="en-US" altLang="zh-CN" sz="1200" b="0" i="0" u="none" strike="noStrike" kern="1200" cap="none" spc="0" baseline="0">
                <a:solidFill>
                  <a:srgbClr val="1F2937"/>
                </a:solidFill>
                <a:latin typeface="Calibri" charset="0"/>
                <a:ea typeface="Calibri" charset="0"/>
                <a:cs typeface="Calibri" charset="0"/>
              </a:rPr>
              <a:t>Key distribution is a major challenge</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216" name="Rounded rectangle"/>
          <p:cNvSpPr>
            <a:spLocks/>
          </p:cNvSpPr>
          <p:nvPr/>
        </p:nvSpPr>
        <p:spPr>
          <a:xfrm>
            <a:off x="6172200" y="2743200"/>
            <a:ext cx="5440679" cy="2148840"/>
          </a:xfrm>
          <a:prstGeom prst="roundRect">
            <a:avLst>
              <a:gd name="adj" fmla="val 3402"/>
            </a:avLst>
          </a:prstGeom>
          <a:solidFill>
            <a:srgbClr val="FFF3E9"/>
          </a:solidFill>
          <a:ln w="12700" cap="flat" cmpd="sng">
            <a:noFill/>
            <a:prstDash val="solid"/>
            <a:miter/>
          </a:ln>
          <a:effectLst>
            <a:outerShdw blurRad="101600" dist="38100" dir="5400000" algn="bl" rotWithShape="0">
              <a:srgbClr val="1F2937">
                <a:alpha val="17647"/>
              </a:srgbClr>
            </a:outerShdw>
          </a:effectLst>
        </p:spPr>
      </p:sp>
      <p:sp>
        <p:nvSpPr>
          <p:cNvPr id="217" name="Rectangle"/>
          <p:cNvSpPr>
            <a:spLocks/>
          </p:cNvSpPr>
          <p:nvPr/>
        </p:nvSpPr>
        <p:spPr>
          <a:xfrm>
            <a:off x="6446520" y="2926080"/>
            <a:ext cx="4846320" cy="36575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550" b="1" i="0" u="none" strike="noStrike" kern="1200" cap="none" spc="0" baseline="0">
                <a:solidFill>
                  <a:srgbClr val="1F2937"/>
                </a:solidFill>
                <a:latin typeface="Cambria" pitchFamily="34" charset="0"/>
                <a:ea typeface="Cambria" pitchFamily="34" charset="0"/>
                <a:cs typeface="Cambria" pitchFamily="34" charset="0"/>
              </a:rPr>
              <a:t>Asymmetric Encryption</a:t>
            </a:r>
            <a:endParaRPr lang="zh-CN" altLang="en-US" sz="1550" b="0" i="0" u="none" strike="noStrike" kern="1200" cap="none" spc="0" baseline="0">
              <a:solidFill>
                <a:schemeClr val="tx1"/>
              </a:solidFill>
              <a:latin typeface="Calibri" charset="0"/>
              <a:ea typeface="等线" charset="0"/>
              <a:cs typeface="Calibri" charset="0"/>
            </a:endParaRPr>
          </a:p>
        </p:txBody>
      </p:sp>
      <p:sp>
        <p:nvSpPr>
          <p:cNvPr id="218" name="Rectangle"/>
          <p:cNvSpPr>
            <a:spLocks/>
          </p:cNvSpPr>
          <p:nvPr/>
        </p:nvSpPr>
        <p:spPr>
          <a:xfrm>
            <a:off x="6446520" y="3364992"/>
            <a:ext cx="4846320" cy="5029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342900" indent="-342900" algn="l">
              <a:lnSpc>
                <a:spcPct val="115000"/>
              </a:lnSpc>
              <a:spcBef>
                <a:spcPts val="0"/>
              </a:spcBef>
              <a:spcAft>
                <a:spcPts val="576"/>
              </a:spcAft>
              <a:buClrTx/>
              <a:buChar char="▪"/>
            </a:pPr>
            <a:r>
              <a:rPr lang="en-US" altLang="zh-CN" sz="1200" b="0" i="0" u="none" strike="noStrike" kern="1200" cap="none" spc="0" baseline="0">
                <a:solidFill>
                  <a:srgbClr val="1F2937"/>
                </a:solidFill>
                <a:latin typeface="Calibri" charset="0"/>
                <a:ea typeface="Calibri" charset="0"/>
                <a:cs typeface="Calibri" charset="0"/>
              </a:rPr>
              <a:t>Uses public key + private key pair</a:t>
            </a:r>
            <a:endParaRPr lang="en-US" altLang="zh-CN" sz="120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576"/>
              </a:spcAft>
              <a:buClrTx/>
              <a:buChar char="▪"/>
            </a:pPr>
            <a:r>
              <a:rPr lang="en-US" altLang="zh-CN" sz="1200" b="0" i="0" u="none" strike="noStrike" kern="1200" cap="none" spc="0" baseline="0">
                <a:solidFill>
                  <a:srgbClr val="1F2937"/>
                </a:solidFill>
                <a:latin typeface="Calibri" charset="0"/>
                <a:ea typeface="Calibri" charset="0"/>
                <a:cs typeface="Calibri" charset="0"/>
              </a:rPr>
              <a:t>Slower, but solves key distribution problem</a:t>
            </a:r>
            <a:endParaRPr lang="en-US" altLang="zh-CN" sz="120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576"/>
              </a:spcAft>
              <a:buClrTx/>
              <a:buChar char="▪"/>
            </a:pPr>
            <a:r>
              <a:rPr lang="en-US" altLang="zh-CN" sz="1200" b="0" i="0" u="none" strike="noStrike" kern="1200" cap="none" spc="0" baseline="0">
                <a:solidFill>
                  <a:srgbClr val="1F2937"/>
                </a:solidFill>
                <a:latin typeface="Calibri" charset="0"/>
                <a:ea typeface="Calibri" charset="0"/>
                <a:cs typeface="Calibri" charset="0"/>
              </a:rPr>
              <a:t>Examples: RSA, ECC, Diffie-Hellman</a:t>
            </a:r>
            <a:endParaRPr lang="en-US" altLang="zh-CN" sz="120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576"/>
              </a:spcAft>
              <a:buClrTx/>
              <a:buChar char="▪"/>
            </a:pPr>
            <a:r>
              <a:rPr lang="en-US" altLang="zh-CN" sz="1200" b="0" i="0" u="none" strike="noStrike" kern="1200" cap="none" spc="0" baseline="0">
                <a:solidFill>
                  <a:srgbClr val="1F2937"/>
                </a:solidFill>
                <a:latin typeface="Calibri" charset="0"/>
                <a:ea typeface="Calibri" charset="0"/>
                <a:cs typeface="Calibri" charset="0"/>
              </a:rPr>
              <a:t>Enables digital signatures &amp; secure key exchange</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219" name="Rectangle"/>
          <p:cNvSpPr>
            <a:spLocks/>
          </p:cNvSpPr>
          <p:nvPr/>
        </p:nvSpPr>
        <p:spPr>
          <a:xfrm>
            <a:off x="548640" y="5074920"/>
            <a:ext cx="11064240" cy="365758"/>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200" b="0" i="1" u="none" strike="noStrike" kern="1200" cap="none" spc="0" baseline="0">
                <a:solidFill>
                  <a:srgbClr val="64748B"/>
                </a:solidFill>
                <a:latin typeface="Calibri" charset="0"/>
                <a:ea typeface="Calibri" charset="0"/>
                <a:cs typeface="Calibri" charset="0"/>
              </a:rPr>
              <a:t>APPLICATIONS:  Online Banking  •  HTTPS/TLS  •  VPNs  •  Digital Signatures  •  Secure Email</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220" name="Rectangle"/>
          <p:cNvSpPr>
            <a:spLocks/>
          </p:cNvSpPr>
          <p:nvPr/>
        </p:nvSpPr>
        <p:spPr>
          <a:xfrm>
            <a:off x="548640" y="6528816"/>
            <a:ext cx="548640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charset="0"/>
                <a:ea typeface="Calibri" charset="0"/>
                <a:cs typeface="Calibri" charset="0"/>
              </a:rPr>
              <a:t>Cryptography &amp; Network Security</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221" name="Rectangle"/>
          <p:cNvSpPr>
            <a:spLocks/>
          </p:cNvSpPr>
          <p:nvPr/>
        </p:nvSpPr>
        <p:spPr>
          <a:xfrm>
            <a:off x="11338560" y="6528816"/>
            <a:ext cx="36576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charset="0"/>
                <a:ea typeface="Calibri" charset="0"/>
                <a:cs typeface="Calibri" charset="0"/>
              </a:rPr>
              <a:t>8</a:t>
            </a:r>
            <a:endParaRPr lang="zh-CN" altLang="en-US" sz="9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689015938"/>
      </p:ext>
    </p:extLst>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6" name="Rectangle"/>
          <p:cNvSpPr>
            <a:spLocks/>
          </p:cNvSpPr>
          <p:nvPr/>
        </p:nvSpPr>
        <p:spPr>
          <a:xfrm>
            <a:off x="548640" y="320040"/>
            <a:ext cx="7315200" cy="32004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charset="0"/>
                <a:ea typeface="Calibri" charset="0"/>
                <a:cs typeface="Calibri" charset="0"/>
              </a:rPr>
              <a:t>TOPIC 2 · STEGANOGRAPHY</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227" name="Rectangle"/>
          <p:cNvSpPr>
            <a:spLocks/>
          </p:cNvSpPr>
          <p:nvPr/>
        </p:nvSpPr>
        <p:spPr>
          <a:xfrm>
            <a:off x="548640" y="566928"/>
            <a:ext cx="11064240" cy="7315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Steganography</a:t>
            </a:r>
            <a:endParaRPr lang="zh-CN" altLang="en-US" sz="3200" b="0" i="0" u="none" strike="noStrike" kern="1200" cap="none" spc="0" baseline="0">
              <a:solidFill>
                <a:schemeClr val="tx1"/>
              </a:solidFill>
              <a:latin typeface="Calibri" charset="0"/>
              <a:ea typeface="等线" charset="0"/>
              <a:cs typeface="Calibri" charset="0"/>
            </a:endParaRPr>
          </a:p>
        </p:txBody>
      </p:sp>
      <p:sp>
        <p:nvSpPr>
          <p:cNvPr id="228" name="Rounded rectangle"/>
          <p:cNvSpPr>
            <a:spLocks/>
          </p:cNvSpPr>
          <p:nvPr/>
        </p:nvSpPr>
        <p:spPr>
          <a:xfrm>
            <a:off x="548640" y="1463040"/>
            <a:ext cx="2697479" cy="1965960"/>
          </a:xfrm>
          <a:prstGeom prst="roundRect">
            <a:avLst>
              <a:gd name="adj" fmla="val 3722"/>
            </a:avLst>
          </a:prstGeom>
          <a:solidFill>
            <a:srgbClr val="F3F4F6"/>
          </a:solidFill>
          <a:ln w="12700" cap="flat" cmpd="sng">
            <a:noFill/>
            <a:prstDash val="solid"/>
            <a:miter/>
          </a:ln>
          <a:effectLst>
            <a:outerShdw blurRad="101600" dist="38100" dir="5400000" algn="bl" rotWithShape="0">
              <a:srgbClr val="1F2937">
                <a:alpha val="17647"/>
              </a:srgbClr>
            </a:outerShdw>
          </a:effectLst>
        </p:spPr>
      </p:sp>
      <p:sp>
        <p:nvSpPr>
          <p:cNvPr id="229" name="Oval"/>
          <p:cNvSpPr>
            <a:spLocks/>
          </p:cNvSpPr>
          <p:nvPr/>
        </p:nvSpPr>
        <p:spPr>
          <a:xfrm>
            <a:off x="1600200" y="1691639"/>
            <a:ext cx="594360" cy="594360"/>
          </a:xfrm>
          <a:prstGeom prst="ellipse">
            <a:avLst/>
          </a:prstGeom>
          <a:solidFill>
            <a:srgbClr val="2563EB"/>
          </a:solidFill>
          <a:ln w="12700" cap="flat" cmpd="sng">
            <a:noFill/>
            <a:prstDash val="solid"/>
            <a:miter/>
          </a:ln>
        </p:spPr>
      </p:sp>
      <p:pic>
        <p:nvPicPr>
          <p:cNvPr id="230" name="Image" descr="/home/claude/deck/assets/image_icon.png"/>
          <p:cNvPicPr>
            <a:picLocks noChangeAspect="1"/>
          </p:cNvPicPr>
          <p:nvPr/>
        </p:nvPicPr>
        <p:blipFill>
          <a:blip r:embed="rId3" cstate="print"/>
          <a:stretch>
            <a:fillRect/>
          </a:stretch>
        </p:blipFill>
        <p:spPr>
          <a:xfrm>
            <a:off x="1733931" y="1825371"/>
            <a:ext cx="326898" cy="326898"/>
          </a:xfrm>
          <a:prstGeom prst="rect">
            <a:avLst/>
          </a:prstGeom>
          <a:noFill/>
          <a:ln w="12700" cap="flat" cmpd="sng">
            <a:noFill/>
            <a:prstDash val="solid"/>
            <a:miter/>
          </a:ln>
        </p:spPr>
      </p:pic>
      <p:sp>
        <p:nvSpPr>
          <p:cNvPr id="231" name="Rectangle"/>
          <p:cNvSpPr>
            <a:spLocks/>
          </p:cNvSpPr>
          <p:nvPr/>
        </p:nvSpPr>
        <p:spPr>
          <a:xfrm>
            <a:off x="658368" y="2377440"/>
            <a:ext cx="2478024" cy="50291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250" b="1" i="0" u="none" strike="noStrike" kern="1200" cap="none" spc="0" baseline="0">
                <a:solidFill>
                  <a:srgbClr val="1F2937"/>
                </a:solidFill>
                <a:latin typeface="Calibri" charset="0"/>
                <a:ea typeface="Calibri" charset="0"/>
                <a:cs typeface="Calibri" charset="0"/>
              </a:rPr>
              <a:t>Image Steganography</a:t>
            </a:r>
            <a:endParaRPr lang="zh-CN" altLang="en-US" sz="1250" b="0" i="0" u="none" strike="noStrike" kern="1200" cap="none" spc="0" baseline="0">
              <a:solidFill>
                <a:schemeClr val="tx1"/>
              </a:solidFill>
              <a:latin typeface="Calibri" charset="0"/>
              <a:ea typeface="等线" charset="0"/>
              <a:cs typeface="Calibri" charset="0"/>
            </a:endParaRPr>
          </a:p>
        </p:txBody>
      </p:sp>
      <p:sp>
        <p:nvSpPr>
          <p:cNvPr id="232" name="Rectangle"/>
          <p:cNvSpPr>
            <a:spLocks/>
          </p:cNvSpPr>
          <p:nvPr/>
        </p:nvSpPr>
        <p:spPr>
          <a:xfrm>
            <a:off x="685800" y="2880360"/>
            <a:ext cx="2423160" cy="5029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050" b="0" i="0" u="none" strike="noStrike" kern="1200" cap="none" spc="0" baseline="0">
                <a:solidFill>
                  <a:srgbClr val="64748B"/>
                </a:solidFill>
                <a:latin typeface="Calibri" charset="0"/>
                <a:ea typeface="Calibri" charset="0"/>
                <a:cs typeface="Calibri" charset="0"/>
              </a:rPr>
              <a:t>Hides data in pixel values (LSB technique)</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233" name="Rounded rectangle"/>
          <p:cNvSpPr>
            <a:spLocks/>
          </p:cNvSpPr>
          <p:nvPr/>
        </p:nvSpPr>
        <p:spPr>
          <a:xfrm>
            <a:off x="3447288" y="1463040"/>
            <a:ext cx="2697480" cy="1965960"/>
          </a:xfrm>
          <a:prstGeom prst="roundRect">
            <a:avLst>
              <a:gd name="adj" fmla="val 3722"/>
            </a:avLst>
          </a:prstGeom>
          <a:solidFill>
            <a:srgbClr val="F3F4F6"/>
          </a:solidFill>
          <a:ln w="12700" cap="flat" cmpd="sng">
            <a:noFill/>
            <a:prstDash val="solid"/>
            <a:miter/>
          </a:ln>
          <a:effectLst>
            <a:outerShdw blurRad="101600" dist="38100" dir="5400000" algn="bl" rotWithShape="0">
              <a:srgbClr val="1F2937">
                <a:alpha val="17647"/>
              </a:srgbClr>
            </a:outerShdw>
          </a:effectLst>
        </p:spPr>
      </p:sp>
      <p:sp>
        <p:nvSpPr>
          <p:cNvPr id="234" name="Oval"/>
          <p:cNvSpPr>
            <a:spLocks/>
          </p:cNvSpPr>
          <p:nvPr/>
        </p:nvSpPr>
        <p:spPr>
          <a:xfrm>
            <a:off x="4498848" y="1691639"/>
            <a:ext cx="594358" cy="594360"/>
          </a:xfrm>
          <a:prstGeom prst="ellipse">
            <a:avLst/>
          </a:prstGeom>
          <a:solidFill>
            <a:srgbClr val="7C3AED"/>
          </a:solidFill>
          <a:ln w="12700" cap="flat" cmpd="sng">
            <a:noFill/>
            <a:prstDash val="solid"/>
            <a:miter/>
          </a:ln>
        </p:spPr>
      </p:sp>
      <p:pic>
        <p:nvPicPr>
          <p:cNvPr id="235" name="Image" descr="/home/claude/deck/assets/music.png"/>
          <p:cNvPicPr>
            <a:picLocks noChangeAspect="1"/>
          </p:cNvPicPr>
          <p:nvPr/>
        </p:nvPicPr>
        <p:blipFill>
          <a:blip r:embed="rId4" cstate="print"/>
          <a:stretch>
            <a:fillRect/>
          </a:stretch>
        </p:blipFill>
        <p:spPr>
          <a:xfrm>
            <a:off x="4632579" y="1825371"/>
            <a:ext cx="326898" cy="326898"/>
          </a:xfrm>
          <a:prstGeom prst="rect">
            <a:avLst/>
          </a:prstGeom>
          <a:noFill/>
          <a:ln w="12700" cap="flat" cmpd="sng">
            <a:noFill/>
            <a:prstDash val="solid"/>
            <a:miter/>
          </a:ln>
        </p:spPr>
      </p:pic>
      <p:sp>
        <p:nvSpPr>
          <p:cNvPr id="236" name="Rectangle"/>
          <p:cNvSpPr>
            <a:spLocks/>
          </p:cNvSpPr>
          <p:nvPr/>
        </p:nvSpPr>
        <p:spPr>
          <a:xfrm>
            <a:off x="3557015" y="2377440"/>
            <a:ext cx="2478023" cy="50291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250" b="1" i="0" u="none" strike="noStrike" kern="1200" cap="none" spc="0" baseline="0">
                <a:solidFill>
                  <a:srgbClr val="1F2937"/>
                </a:solidFill>
                <a:latin typeface="Calibri" charset="0"/>
                <a:ea typeface="Calibri" charset="0"/>
                <a:cs typeface="Calibri" charset="0"/>
              </a:rPr>
              <a:t>Audio Steganography</a:t>
            </a:r>
            <a:endParaRPr lang="zh-CN" altLang="en-US" sz="1250" b="0" i="0" u="none" strike="noStrike" kern="1200" cap="none" spc="0" baseline="0">
              <a:solidFill>
                <a:schemeClr val="tx1"/>
              </a:solidFill>
              <a:latin typeface="Calibri" charset="0"/>
              <a:ea typeface="等线" charset="0"/>
              <a:cs typeface="Calibri" charset="0"/>
            </a:endParaRPr>
          </a:p>
        </p:txBody>
      </p:sp>
      <p:sp>
        <p:nvSpPr>
          <p:cNvPr id="237" name="Rectangle"/>
          <p:cNvSpPr>
            <a:spLocks/>
          </p:cNvSpPr>
          <p:nvPr/>
        </p:nvSpPr>
        <p:spPr>
          <a:xfrm>
            <a:off x="3584448" y="2880360"/>
            <a:ext cx="2423160" cy="5029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050" b="0" i="0" u="none" strike="noStrike" kern="1200" cap="none" spc="0" baseline="0">
                <a:solidFill>
                  <a:srgbClr val="64748B"/>
                </a:solidFill>
                <a:latin typeface="Calibri" charset="0"/>
                <a:ea typeface="Calibri" charset="0"/>
                <a:cs typeface="Calibri" charset="0"/>
              </a:rPr>
              <a:t>Embeds data in audio signal frequencies</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238" name="Rounded rectangle"/>
          <p:cNvSpPr>
            <a:spLocks/>
          </p:cNvSpPr>
          <p:nvPr/>
        </p:nvSpPr>
        <p:spPr>
          <a:xfrm>
            <a:off x="6345936" y="1463040"/>
            <a:ext cx="2697479" cy="1965960"/>
          </a:xfrm>
          <a:prstGeom prst="roundRect">
            <a:avLst>
              <a:gd name="adj" fmla="val 3722"/>
            </a:avLst>
          </a:prstGeom>
          <a:solidFill>
            <a:srgbClr val="F3F4F6"/>
          </a:solidFill>
          <a:ln w="12700" cap="flat" cmpd="sng">
            <a:noFill/>
            <a:prstDash val="solid"/>
            <a:miter/>
          </a:ln>
          <a:effectLst>
            <a:outerShdw blurRad="101600" dist="38100" dir="5400000" algn="bl" rotWithShape="0">
              <a:srgbClr val="1F2937">
                <a:alpha val="17647"/>
              </a:srgbClr>
            </a:outerShdw>
          </a:effectLst>
        </p:spPr>
      </p:sp>
      <p:sp>
        <p:nvSpPr>
          <p:cNvPr id="239" name="Oval"/>
          <p:cNvSpPr>
            <a:spLocks/>
          </p:cNvSpPr>
          <p:nvPr/>
        </p:nvSpPr>
        <p:spPr>
          <a:xfrm>
            <a:off x="7397496" y="1691639"/>
            <a:ext cx="594358" cy="594360"/>
          </a:xfrm>
          <a:prstGeom prst="ellipse">
            <a:avLst/>
          </a:prstGeom>
          <a:solidFill>
            <a:srgbClr val="DB2777"/>
          </a:solidFill>
          <a:ln w="12700" cap="flat" cmpd="sng">
            <a:noFill/>
            <a:prstDash val="solid"/>
            <a:miter/>
          </a:ln>
        </p:spPr>
      </p:sp>
      <p:pic>
        <p:nvPicPr>
          <p:cNvPr id="240" name="Image" descr="/home/claude/deck/assets/video.png"/>
          <p:cNvPicPr>
            <a:picLocks noChangeAspect="1"/>
          </p:cNvPicPr>
          <p:nvPr/>
        </p:nvPicPr>
        <p:blipFill>
          <a:blip r:embed="rId5" cstate="print"/>
          <a:stretch>
            <a:fillRect/>
          </a:stretch>
        </p:blipFill>
        <p:spPr>
          <a:xfrm>
            <a:off x="7531227" y="1825371"/>
            <a:ext cx="326897" cy="326898"/>
          </a:xfrm>
          <a:prstGeom prst="rect">
            <a:avLst/>
          </a:prstGeom>
          <a:noFill/>
          <a:ln w="12700" cap="flat" cmpd="sng">
            <a:noFill/>
            <a:prstDash val="solid"/>
            <a:miter/>
          </a:ln>
        </p:spPr>
      </p:pic>
      <p:sp>
        <p:nvSpPr>
          <p:cNvPr id="241" name="Rectangle"/>
          <p:cNvSpPr>
            <a:spLocks/>
          </p:cNvSpPr>
          <p:nvPr/>
        </p:nvSpPr>
        <p:spPr>
          <a:xfrm>
            <a:off x="6455664" y="2377440"/>
            <a:ext cx="2478024" cy="50291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250" b="1" i="0" u="none" strike="noStrike" kern="1200" cap="none" spc="0" baseline="0">
                <a:solidFill>
                  <a:srgbClr val="1F2937"/>
                </a:solidFill>
                <a:latin typeface="Calibri" charset="0"/>
                <a:ea typeface="Calibri" charset="0"/>
                <a:cs typeface="Calibri" charset="0"/>
              </a:rPr>
              <a:t>Video Steganography</a:t>
            </a:r>
            <a:endParaRPr lang="zh-CN" altLang="en-US" sz="1250" b="0" i="0" u="none" strike="noStrike" kern="1200" cap="none" spc="0" baseline="0">
              <a:solidFill>
                <a:schemeClr val="tx1"/>
              </a:solidFill>
              <a:latin typeface="Calibri" charset="0"/>
              <a:ea typeface="等线" charset="0"/>
              <a:cs typeface="Calibri" charset="0"/>
            </a:endParaRPr>
          </a:p>
        </p:txBody>
      </p:sp>
      <p:sp>
        <p:nvSpPr>
          <p:cNvPr id="242" name="Rectangle"/>
          <p:cNvSpPr>
            <a:spLocks/>
          </p:cNvSpPr>
          <p:nvPr/>
        </p:nvSpPr>
        <p:spPr>
          <a:xfrm>
            <a:off x="6483096" y="2880360"/>
            <a:ext cx="2423160" cy="5029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050" b="0" i="0" u="none" strike="noStrike" kern="1200" cap="none" spc="0" baseline="0">
                <a:solidFill>
                  <a:srgbClr val="64748B"/>
                </a:solidFill>
                <a:latin typeface="Calibri" charset="0"/>
                <a:ea typeface="Calibri" charset="0"/>
                <a:cs typeface="Calibri" charset="0"/>
              </a:rPr>
              <a:t>Conceals data across video frames</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243" name="Rounded rectangle"/>
          <p:cNvSpPr>
            <a:spLocks/>
          </p:cNvSpPr>
          <p:nvPr/>
        </p:nvSpPr>
        <p:spPr>
          <a:xfrm>
            <a:off x="9244584" y="1463040"/>
            <a:ext cx="2697480" cy="1965960"/>
          </a:xfrm>
          <a:prstGeom prst="roundRect">
            <a:avLst>
              <a:gd name="adj" fmla="val 3722"/>
            </a:avLst>
          </a:prstGeom>
          <a:solidFill>
            <a:srgbClr val="F3F4F6"/>
          </a:solidFill>
          <a:ln w="12700" cap="flat" cmpd="sng">
            <a:noFill/>
            <a:prstDash val="solid"/>
            <a:miter/>
          </a:ln>
          <a:effectLst>
            <a:outerShdw blurRad="101600" dist="38100" dir="5400000" algn="bl" rotWithShape="0">
              <a:srgbClr val="1F2937">
                <a:alpha val="17647"/>
              </a:srgbClr>
            </a:outerShdw>
          </a:effectLst>
        </p:spPr>
      </p:sp>
      <p:sp>
        <p:nvSpPr>
          <p:cNvPr id="244" name="Oval"/>
          <p:cNvSpPr>
            <a:spLocks/>
          </p:cNvSpPr>
          <p:nvPr/>
        </p:nvSpPr>
        <p:spPr>
          <a:xfrm>
            <a:off x="10296144" y="1691639"/>
            <a:ext cx="594360" cy="594360"/>
          </a:xfrm>
          <a:prstGeom prst="ellipse">
            <a:avLst/>
          </a:prstGeom>
          <a:solidFill>
            <a:srgbClr val="0891B2"/>
          </a:solidFill>
          <a:ln w="12700" cap="flat" cmpd="sng">
            <a:noFill/>
            <a:prstDash val="solid"/>
            <a:miter/>
          </a:ln>
        </p:spPr>
      </p:sp>
      <p:pic>
        <p:nvPicPr>
          <p:cNvPr id="245" name="Image" descr="/home/claude/deck/assets/file_text.png"/>
          <p:cNvPicPr>
            <a:picLocks noChangeAspect="1"/>
          </p:cNvPicPr>
          <p:nvPr/>
        </p:nvPicPr>
        <p:blipFill>
          <a:blip r:embed="rId6" cstate="print"/>
          <a:stretch>
            <a:fillRect/>
          </a:stretch>
        </p:blipFill>
        <p:spPr>
          <a:xfrm>
            <a:off x="10429875" y="1825371"/>
            <a:ext cx="326898" cy="326898"/>
          </a:xfrm>
          <a:prstGeom prst="rect">
            <a:avLst/>
          </a:prstGeom>
          <a:noFill/>
          <a:ln w="12700" cap="flat" cmpd="sng">
            <a:noFill/>
            <a:prstDash val="solid"/>
            <a:miter/>
          </a:ln>
        </p:spPr>
      </p:pic>
      <p:sp>
        <p:nvSpPr>
          <p:cNvPr id="246" name="Rectangle"/>
          <p:cNvSpPr>
            <a:spLocks/>
          </p:cNvSpPr>
          <p:nvPr/>
        </p:nvSpPr>
        <p:spPr>
          <a:xfrm>
            <a:off x="9354312" y="2377440"/>
            <a:ext cx="2478022" cy="50291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250" b="1" i="0" u="none" strike="noStrike" kern="1200" cap="none" spc="0" baseline="0">
                <a:solidFill>
                  <a:srgbClr val="1F2937"/>
                </a:solidFill>
                <a:latin typeface="Calibri" charset="0"/>
                <a:ea typeface="Calibri" charset="0"/>
                <a:cs typeface="Calibri" charset="0"/>
              </a:rPr>
              <a:t>Text Steganography</a:t>
            </a:r>
            <a:endParaRPr lang="zh-CN" altLang="en-US" sz="1250" b="0" i="0" u="none" strike="noStrike" kern="1200" cap="none" spc="0" baseline="0">
              <a:solidFill>
                <a:schemeClr val="tx1"/>
              </a:solidFill>
              <a:latin typeface="Calibri" charset="0"/>
              <a:ea typeface="等线" charset="0"/>
              <a:cs typeface="Calibri" charset="0"/>
            </a:endParaRPr>
          </a:p>
        </p:txBody>
      </p:sp>
      <p:sp>
        <p:nvSpPr>
          <p:cNvPr id="247" name="Rectangle"/>
          <p:cNvSpPr>
            <a:spLocks/>
          </p:cNvSpPr>
          <p:nvPr/>
        </p:nvSpPr>
        <p:spPr>
          <a:xfrm>
            <a:off x="9381744" y="2880360"/>
            <a:ext cx="2423160" cy="5029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050" b="0" i="0" u="none" strike="noStrike" kern="1200" cap="none" spc="0" baseline="0">
                <a:solidFill>
                  <a:srgbClr val="64748B"/>
                </a:solidFill>
                <a:latin typeface="Calibri" charset="0"/>
                <a:ea typeface="Calibri" charset="0"/>
                <a:cs typeface="Calibri" charset="0"/>
              </a:rPr>
              <a:t>Hides data using spacing, fonts, or word patterns</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248" name="Rectangle"/>
          <p:cNvSpPr>
            <a:spLocks/>
          </p:cNvSpPr>
          <p:nvPr/>
        </p:nvSpPr>
        <p:spPr>
          <a:xfrm>
            <a:off x="548640" y="3749040"/>
            <a:ext cx="4572000" cy="2743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0" cap="none" spc="150" baseline="0">
                <a:solidFill>
                  <a:srgbClr val="64748B"/>
                </a:solidFill>
                <a:latin typeface="Calibri" charset="0"/>
                <a:ea typeface="Calibri" charset="0"/>
                <a:cs typeface="Calibri" charset="0"/>
              </a:rPr>
              <a:t>WORKING PRINCIPLE</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249" name="Rounded rectangle"/>
          <p:cNvSpPr>
            <a:spLocks/>
          </p:cNvSpPr>
          <p:nvPr/>
        </p:nvSpPr>
        <p:spPr>
          <a:xfrm>
            <a:off x="548640" y="4114800"/>
            <a:ext cx="2286000" cy="1005839"/>
          </a:xfrm>
          <a:prstGeom prst="roundRect">
            <a:avLst>
              <a:gd name="adj" fmla="val 7273"/>
            </a:avLst>
          </a:prstGeom>
          <a:solidFill>
            <a:srgbClr val="EFF6FF"/>
          </a:solidFill>
          <a:ln w="12700" cap="flat" cmpd="sng">
            <a:noFill/>
            <a:prstDash val="solid"/>
            <a:miter/>
          </a:ln>
          <a:effectLst>
            <a:outerShdw blurRad="101600" dist="38100" dir="5400000" algn="bl" rotWithShape="0">
              <a:srgbClr val="1F2937">
                <a:alpha val="17647"/>
              </a:srgbClr>
            </a:outerShdw>
          </a:effectLst>
        </p:spPr>
      </p:sp>
      <p:sp>
        <p:nvSpPr>
          <p:cNvPr id="250" name="Oval"/>
          <p:cNvSpPr>
            <a:spLocks/>
          </p:cNvSpPr>
          <p:nvPr/>
        </p:nvSpPr>
        <p:spPr>
          <a:xfrm>
            <a:off x="713232" y="4389120"/>
            <a:ext cx="457200" cy="457200"/>
          </a:xfrm>
          <a:prstGeom prst="ellipse">
            <a:avLst/>
          </a:prstGeom>
          <a:solidFill>
            <a:srgbClr val="2563EB"/>
          </a:solidFill>
          <a:ln w="12700" cap="flat" cmpd="sng">
            <a:noFill/>
            <a:prstDash val="solid"/>
            <a:miter/>
          </a:ln>
        </p:spPr>
      </p:sp>
      <p:pic>
        <p:nvPicPr>
          <p:cNvPr id="251" name="Image" descr="/home/claude/deck/assets/image_icon.png"/>
          <p:cNvPicPr>
            <a:picLocks noChangeAspect="1"/>
          </p:cNvPicPr>
          <p:nvPr/>
        </p:nvPicPr>
        <p:blipFill>
          <a:blip r:embed="rId3" cstate="print"/>
          <a:stretch>
            <a:fillRect/>
          </a:stretch>
        </p:blipFill>
        <p:spPr>
          <a:xfrm>
            <a:off x="816102" y="4491990"/>
            <a:ext cx="251459" cy="251459"/>
          </a:xfrm>
          <a:prstGeom prst="rect">
            <a:avLst/>
          </a:prstGeom>
          <a:noFill/>
          <a:ln w="12700" cap="flat" cmpd="sng">
            <a:noFill/>
            <a:prstDash val="solid"/>
            <a:miter/>
          </a:ln>
        </p:spPr>
      </p:pic>
      <p:sp>
        <p:nvSpPr>
          <p:cNvPr id="252" name="Rectangle"/>
          <p:cNvSpPr>
            <a:spLocks/>
          </p:cNvSpPr>
          <p:nvPr/>
        </p:nvSpPr>
        <p:spPr>
          <a:xfrm>
            <a:off x="1280160" y="4114800"/>
            <a:ext cx="1417320" cy="100583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100" b="1" i="0" u="none" strike="noStrike" kern="1200" cap="none" spc="0" baseline="0">
                <a:solidFill>
                  <a:srgbClr val="1F2937"/>
                </a:solidFill>
                <a:latin typeface="Calibri" charset="0"/>
                <a:ea typeface="Calibri" charset="0"/>
                <a:cs typeface="Calibri" charset="0"/>
              </a:rPr>
              <a:t>Cover File</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253" name="Rounded rectangle"/>
          <p:cNvSpPr>
            <a:spLocks/>
          </p:cNvSpPr>
          <p:nvPr/>
        </p:nvSpPr>
        <p:spPr>
          <a:xfrm>
            <a:off x="3108960" y="4114800"/>
            <a:ext cx="2286000" cy="1005839"/>
          </a:xfrm>
          <a:prstGeom prst="roundRect">
            <a:avLst>
              <a:gd name="adj" fmla="val 7273"/>
            </a:avLst>
          </a:prstGeom>
          <a:solidFill>
            <a:srgbClr val="EFF6FF"/>
          </a:solidFill>
          <a:ln w="12700" cap="flat" cmpd="sng">
            <a:noFill/>
            <a:prstDash val="solid"/>
            <a:miter/>
          </a:ln>
          <a:effectLst>
            <a:outerShdw blurRad="101600" dist="38100" dir="5400000" algn="bl" rotWithShape="0">
              <a:srgbClr val="1F2937">
                <a:alpha val="17647"/>
              </a:srgbClr>
            </a:outerShdw>
          </a:effectLst>
        </p:spPr>
      </p:sp>
      <p:sp>
        <p:nvSpPr>
          <p:cNvPr id="254" name="Oval"/>
          <p:cNvSpPr>
            <a:spLocks/>
          </p:cNvSpPr>
          <p:nvPr/>
        </p:nvSpPr>
        <p:spPr>
          <a:xfrm>
            <a:off x="3273552" y="4389120"/>
            <a:ext cx="457200" cy="457200"/>
          </a:xfrm>
          <a:prstGeom prst="ellipse">
            <a:avLst/>
          </a:prstGeom>
          <a:solidFill>
            <a:srgbClr val="2563EB"/>
          </a:solidFill>
          <a:ln w="12700" cap="flat" cmpd="sng">
            <a:noFill/>
            <a:prstDash val="solid"/>
            <a:miter/>
          </a:ln>
        </p:spPr>
      </p:sp>
      <p:pic>
        <p:nvPicPr>
          <p:cNvPr id="255" name="Image" descr="/home/claude/deck/assets/lock_blue.png"/>
          <p:cNvPicPr>
            <a:picLocks noChangeAspect="1"/>
          </p:cNvPicPr>
          <p:nvPr/>
        </p:nvPicPr>
        <p:blipFill>
          <a:blip r:embed="rId7" cstate="print"/>
          <a:stretch>
            <a:fillRect/>
          </a:stretch>
        </p:blipFill>
        <p:spPr>
          <a:xfrm>
            <a:off x="3376422" y="4491990"/>
            <a:ext cx="251459" cy="251459"/>
          </a:xfrm>
          <a:prstGeom prst="rect">
            <a:avLst/>
          </a:prstGeom>
          <a:noFill/>
          <a:ln w="12700" cap="flat" cmpd="sng">
            <a:noFill/>
            <a:prstDash val="solid"/>
            <a:miter/>
          </a:ln>
        </p:spPr>
      </p:pic>
      <p:sp>
        <p:nvSpPr>
          <p:cNvPr id="256" name="Rectangle"/>
          <p:cNvSpPr>
            <a:spLocks/>
          </p:cNvSpPr>
          <p:nvPr/>
        </p:nvSpPr>
        <p:spPr>
          <a:xfrm>
            <a:off x="3840480" y="4114800"/>
            <a:ext cx="1417320" cy="100583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100" b="1" i="0" u="none" strike="noStrike" kern="1200" cap="none" spc="0" baseline="0">
                <a:solidFill>
                  <a:srgbClr val="1F2937"/>
                </a:solidFill>
                <a:latin typeface="Calibri" charset="0"/>
                <a:ea typeface="Calibri" charset="0"/>
                <a:cs typeface="Calibri" charset="0"/>
              </a:rPr>
              <a:t>Embed Secret</a:t>
            </a:r>
            <a:endParaRPr lang="en-US" altLang="zh-CN" sz="1100" b="0" i="0" u="none" strike="noStrike" kern="1200" cap="none" spc="0" baseline="0">
              <a:solidFill>
                <a:schemeClr val="tx1"/>
              </a:solidFill>
              <a:latin typeface="Calibri" charset="0"/>
              <a:ea typeface="等线" charset="0"/>
              <a:cs typeface="Calibri" charset="0"/>
            </a:endParaRPr>
          </a:p>
          <a:p>
            <a:pPr marL="0" indent="0" algn="l">
              <a:lnSpc>
                <a:spcPct val="100000"/>
              </a:lnSpc>
              <a:spcBef>
                <a:spcPts val="0"/>
              </a:spcBef>
              <a:spcAft>
                <a:spcPts val="0"/>
              </a:spcAft>
              <a:buNone/>
            </a:pPr>
            <a:r>
              <a:rPr lang="en-US" altLang="zh-CN" sz="1100" b="1" i="0" u="none" strike="noStrike" kern="1200" cap="none" spc="0" baseline="0">
                <a:solidFill>
                  <a:srgbClr val="1F2937"/>
                </a:solidFill>
                <a:latin typeface="Calibri" charset="0"/>
                <a:ea typeface="Calibri" charset="0"/>
                <a:cs typeface="Calibri" charset="0"/>
              </a:rPr>
              <a:t>Data + Key</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257" name="Rounded rectangle"/>
          <p:cNvSpPr>
            <a:spLocks/>
          </p:cNvSpPr>
          <p:nvPr/>
        </p:nvSpPr>
        <p:spPr>
          <a:xfrm>
            <a:off x="6035038" y="4114800"/>
            <a:ext cx="2286000" cy="1005839"/>
          </a:xfrm>
          <a:prstGeom prst="roundRect">
            <a:avLst>
              <a:gd name="adj" fmla="val 7273"/>
            </a:avLst>
          </a:prstGeom>
          <a:solidFill>
            <a:srgbClr val="EFF6FF"/>
          </a:solidFill>
          <a:ln w="12700" cap="flat" cmpd="sng">
            <a:noFill/>
            <a:prstDash val="solid"/>
            <a:miter/>
          </a:ln>
          <a:effectLst>
            <a:outerShdw blurRad="101600" dist="38100" dir="5400000" algn="bl" rotWithShape="0">
              <a:srgbClr val="1F2937">
                <a:alpha val="17647"/>
              </a:srgbClr>
            </a:outerShdw>
          </a:effectLst>
        </p:spPr>
      </p:sp>
      <p:sp>
        <p:nvSpPr>
          <p:cNvPr id="258" name="Oval"/>
          <p:cNvSpPr>
            <a:spLocks/>
          </p:cNvSpPr>
          <p:nvPr/>
        </p:nvSpPr>
        <p:spPr>
          <a:xfrm>
            <a:off x="6199631" y="4389120"/>
            <a:ext cx="457200" cy="457200"/>
          </a:xfrm>
          <a:prstGeom prst="ellipse">
            <a:avLst/>
          </a:prstGeom>
          <a:solidFill>
            <a:srgbClr val="2563EB"/>
          </a:solidFill>
          <a:ln w="12700" cap="flat" cmpd="sng">
            <a:noFill/>
            <a:prstDash val="solid"/>
            <a:miter/>
          </a:ln>
        </p:spPr>
      </p:sp>
      <p:pic>
        <p:nvPicPr>
          <p:cNvPr id="259" name="Image" descr="/home/claude/deck/assets/eye_off.png"/>
          <p:cNvPicPr>
            <a:picLocks noChangeAspect="1"/>
          </p:cNvPicPr>
          <p:nvPr/>
        </p:nvPicPr>
        <p:blipFill>
          <a:blip r:embed="rId8" cstate="print"/>
          <a:stretch>
            <a:fillRect/>
          </a:stretch>
        </p:blipFill>
        <p:spPr>
          <a:xfrm>
            <a:off x="6302502" y="4491990"/>
            <a:ext cx="251458" cy="251459"/>
          </a:xfrm>
          <a:prstGeom prst="rect">
            <a:avLst/>
          </a:prstGeom>
          <a:noFill/>
          <a:ln w="12700" cap="flat" cmpd="sng">
            <a:noFill/>
            <a:prstDash val="solid"/>
            <a:miter/>
          </a:ln>
        </p:spPr>
      </p:pic>
      <p:sp>
        <p:nvSpPr>
          <p:cNvPr id="260" name="Rectangle"/>
          <p:cNvSpPr>
            <a:spLocks/>
          </p:cNvSpPr>
          <p:nvPr/>
        </p:nvSpPr>
        <p:spPr>
          <a:xfrm>
            <a:off x="6766559" y="4114800"/>
            <a:ext cx="1417319" cy="100583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100" b="1" i="0" u="none" strike="noStrike" kern="1200" cap="none" spc="0" baseline="0">
                <a:solidFill>
                  <a:srgbClr val="1F2937"/>
                </a:solidFill>
                <a:latin typeface="Calibri" charset="0"/>
                <a:ea typeface="Calibri" charset="0"/>
                <a:cs typeface="Calibri" charset="0"/>
              </a:rPr>
              <a:t>Stego File</a:t>
            </a:r>
            <a:endParaRPr lang="en-US" altLang="zh-CN" sz="1100" b="0" i="0" u="none" strike="noStrike" kern="1200" cap="none" spc="0" baseline="0">
              <a:solidFill>
                <a:schemeClr val="tx1"/>
              </a:solidFill>
              <a:latin typeface="Calibri" charset="0"/>
              <a:ea typeface="等线" charset="0"/>
              <a:cs typeface="Calibri" charset="0"/>
            </a:endParaRPr>
          </a:p>
          <a:p>
            <a:pPr marL="0" indent="0" algn="l">
              <a:lnSpc>
                <a:spcPct val="100000"/>
              </a:lnSpc>
              <a:spcBef>
                <a:spcPts val="0"/>
              </a:spcBef>
              <a:spcAft>
                <a:spcPts val="0"/>
              </a:spcAft>
              <a:buNone/>
            </a:pPr>
            <a:r>
              <a:rPr lang="en-US" altLang="zh-CN" sz="1100" b="1" i="0" u="none" strike="noStrike" kern="1200" cap="none" spc="0" baseline="0">
                <a:solidFill>
                  <a:srgbClr val="1F2937"/>
                </a:solidFill>
                <a:latin typeface="Calibri" charset="0"/>
                <a:ea typeface="Calibri" charset="0"/>
                <a:cs typeface="Calibri" charset="0"/>
              </a:rPr>
              <a:t>(looks normal)</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261" name="Rounded rectangle"/>
          <p:cNvSpPr>
            <a:spLocks/>
          </p:cNvSpPr>
          <p:nvPr/>
        </p:nvSpPr>
        <p:spPr>
          <a:xfrm>
            <a:off x="8961120" y="4114800"/>
            <a:ext cx="2286000" cy="1005839"/>
          </a:xfrm>
          <a:prstGeom prst="roundRect">
            <a:avLst>
              <a:gd name="adj" fmla="val 7273"/>
            </a:avLst>
          </a:prstGeom>
          <a:solidFill>
            <a:srgbClr val="EFF6FF"/>
          </a:solidFill>
          <a:ln w="12700" cap="flat" cmpd="sng">
            <a:noFill/>
            <a:prstDash val="solid"/>
            <a:miter/>
          </a:ln>
          <a:effectLst>
            <a:outerShdw blurRad="101600" dist="38100" dir="5400000" algn="bl" rotWithShape="0">
              <a:srgbClr val="1F2937">
                <a:alpha val="17647"/>
              </a:srgbClr>
            </a:outerShdw>
          </a:effectLst>
        </p:spPr>
      </p:sp>
      <p:sp>
        <p:nvSpPr>
          <p:cNvPr id="262" name="Oval"/>
          <p:cNvSpPr>
            <a:spLocks/>
          </p:cNvSpPr>
          <p:nvPr/>
        </p:nvSpPr>
        <p:spPr>
          <a:xfrm>
            <a:off x="9125712" y="4389120"/>
            <a:ext cx="457200" cy="457200"/>
          </a:xfrm>
          <a:prstGeom prst="ellipse">
            <a:avLst/>
          </a:prstGeom>
          <a:solidFill>
            <a:srgbClr val="2563EB"/>
          </a:solidFill>
          <a:ln w="12700" cap="flat" cmpd="sng">
            <a:noFill/>
            <a:prstDash val="solid"/>
            <a:miter/>
          </a:ln>
        </p:spPr>
      </p:sp>
      <p:pic>
        <p:nvPicPr>
          <p:cNvPr id="263" name="Image" descr="/home/claude/deck/assets/search.png"/>
          <p:cNvPicPr>
            <a:picLocks noChangeAspect="1"/>
          </p:cNvPicPr>
          <p:nvPr/>
        </p:nvPicPr>
        <p:blipFill>
          <a:blip r:embed="rId9" cstate="print"/>
          <a:stretch>
            <a:fillRect/>
          </a:stretch>
        </p:blipFill>
        <p:spPr>
          <a:xfrm>
            <a:off x="9228582" y="4491990"/>
            <a:ext cx="251458" cy="251459"/>
          </a:xfrm>
          <a:prstGeom prst="rect">
            <a:avLst/>
          </a:prstGeom>
          <a:noFill/>
          <a:ln w="12700" cap="flat" cmpd="sng">
            <a:noFill/>
            <a:prstDash val="solid"/>
            <a:miter/>
          </a:ln>
        </p:spPr>
      </p:pic>
      <p:sp>
        <p:nvSpPr>
          <p:cNvPr id="264" name="Rectangle"/>
          <p:cNvSpPr>
            <a:spLocks/>
          </p:cNvSpPr>
          <p:nvPr/>
        </p:nvSpPr>
        <p:spPr>
          <a:xfrm>
            <a:off x="9692640" y="4114800"/>
            <a:ext cx="1417320" cy="100583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100" b="1" i="0" u="none" strike="noStrike" kern="1200" cap="none" spc="0" baseline="0">
                <a:solidFill>
                  <a:srgbClr val="1F2937"/>
                </a:solidFill>
                <a:latin typeface="Calibri" charset="0"/>
                <a:ea typeface="Calibri" charset="0"/>
                <a:cs typeface="Calibri" charset="0"/>
              </a:rPr>
              <a:t>Extract at</a:t>
            </a:r>
            <a:endParaRPr lang="en-US" altLang="zh-CN" sz="1100" b="0" i="0" u="none" strike="noStrike" kern="1200" cap="none" spc="0" baseline="0">
              <a:solidFill>
                <a:schemeClr val="tx1"/>
              </a:solidFill>
              <a:latin typeface="Calibri" charset="0"/>
              <a:ea typeface="等线" charset="0"/>
              <a:cs typeface="Calibri" charset="0"/>
            </a:endParaRPr>
          </a:p>
          <a:p>
            <a:pPr marL="0" indent="0" algn="l">
              <a:lnSpc>
                <a:spcPct val="100000"/>
              </a:lnSpc>
              <a:spcBef>
                <a:spcPts val="0"/>
              </a:spcBef>
              <a:spcAft>
                <a:spcPts val="0"/>
              </a:spcAft>
              <a:buNone/>
            </a:pPr>
            <a:r>
              <a:rPr lang="en-US" altLang="zh-CN" sz="1100" b="1" i="0" u="none" strike="noStrike" kern="1200" cap="none" spc="0" baseline="0">
                <a:solidFill>
                  <a:srgbClr val="1F2937"/>
                </a:solidFill>
                <a:latin typeface="Calibri" charset="0"/>
                <a:ea typeface="Calibri" charset="0"/>
                <a:cs typeface="Calibri" charset="0"/>
              </a:rPr>
              <a:t>Destination</a:t>
            </a:r>
            <a:endParaRPr lang="zh-CN" altLang="en-US" sz="1100" b="0" i="0" u="none" strike="noStrike" kern="1200" cap="none" spc="0" baseline="0">
              <a:solidFill>
                <a:schemeClr val="tx1"/>
              </a:solidFill>
              <a:latin typeface="Calibri" charset="0"/>
              <a:ea typeface="等线" charset="0"/>
              <a:cs typeface="Calibri" charset="0"/>
            </a:endParaRPr>
          </a:p>
        </p:txBody>
      </p:sp>
      <p:pic>
        <p:nvPicPr>
          <p:cNvPr id="265" name="Image" descr="/home/claude/deck/assets/arrow_right.png"/>
          <p:cNvPicPr>
            <a:picLocks noChangeAspect="1"/>
          </p:cNvPicPr>
          <p:nvPr/>
        </p:nvPicPr>
        <p:blipFill>
          <a:blip r:embed="rId10" cstate="print"/>
          <a:stretch>
            <a:fillRect/>
          </a:stretch>
        </p:blipFill>
        <p:spPr>
          <a:xfrm>
            <a:off x="2834640" y="4480560"/>
            <a:ext cx="274320" cy="274320"/>
          </a:xfrm>
          <a:prstGeom prst="rect">
            <a:avLst/>
          </a:prstGeom>
          <a:noFill/>
          <a:ln w="12700" cap="flat" cmpd="sng">
            <a:noFill/>
            <a:prstDash val="solid"/>
            <a:miter/>
          </a:ln>
        </p:spPr>
      </p:pic>
      <p:pic>
        <p:nvPicPr>
          <p:cNvPr id="266" name="Image" descr="/home/claude/deck/assets/arrow_right.png"/>
          <p:cNvPicPr>
            <a:picLocks noChangeAspect="1"/>
          </p:cNvPicPr>
          <p:nvPr/>
        </p:nvPicPr>
        <p:blipFill>
          <a:blip r:embed="rId10" cstate="print"/>
          <a:stretch>
            <a:fillRect/>
          </a:stretch>
        </p:blipFill>
        <p:spPr>
          <a:xfrm>
            <a:off x="5577840" y="4480560"/>
            <a:ext cx="274319" cy="274320"/>
          </a:xfrm>
          <a:prstGeom prst="rect">
            <a:avLst/>
          </a:prstGeom>
          <a:noFill/>
          <a:ln w="12700" cap="flat" cmpd="sng">
            <a:noFill/>
            <a:prstDash val="solid"/>
            <a:miter/>
          </a:ln>
        </p:spPr>
      </p:pic>
      <p:pic>
        <p:nvPicPr>
          <p:cNvPr id="267" name="Image" descr="/home/claude/deck/assets/arrow_right.png"/>
          <p:cNvPicPr>
            <a:picLocks noChangeAspect="1"/>
          </p:cNvPicPr>
          <p:nvPr/>
        </p:nvPicPr>
        <p:blipFill>
          <a:blip r:embed="rId10" cstate="print"/>
          <a:stretch>
            <a:fillRect/>
          </a:stretch>
        </p:blipFill>
        <p:spPr>
          <a:xfrm>
            <a:off x="8503920" y="4480560"/>
            <a:ext cx="274319" cy="274320"/>
          </a:xfrm>
          <a:prstGeom prst="rect">
            <a:avLst/>
          </a:prstGeom>
          <a:noFill/>
          <a:ln w="12700" cap="flat" cmpd="sng">
            <a:noFill/>
            <a:prstDash val="solid"/>
            <a:miter/>
          </a:ln>
        </p:spPr>
      </p:pic>
      <p:sp>
        <p:nvSpPr>
          <p:cNvPr id="268" name="Rectangle"/>
          <p:cNvSpPr>
            <a:spLocks/>
          </p:cNvSpPr>
          <p:nvPr/>
        </p:nvSpPr>
        <p:spPr>
          <a:xfrm>
            <a:off x="548640" y="6528816"/>
            <a:ext cx="548640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charset="0"/>
                <a:ea typeface="Calibri" charset="0"/>
                <a:cs typeface="Calibri" charset="0"/>
              </a:rPr>
              <a:t>Cryptography &amp; Network Security</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269" name="Rectangle"/>
          <p:cNvSpPr>
            <a:spLocks/>
          </p:cNvSpPr>
          <p:nvPr/>
        </p:nvSpPr>
        <p:spPr>
          <a:xfrm>
            <a:off x="11338560" y="6528816"/>
            <a:ext cx="36576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charset="0"/>
                <a:ea typeface="Calibri" charset="0"/>
                <a:cs typeface="Calibri" charset="0"/>
              </a:rPr>
              <a:t>9</a:t>
            </a:r>
            <a:endParaRPr lang="zh-CN" altLang="en-US" sz="9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708652047"/>
      </p:ext>
    </p:extLst>
  </p:cSld>
  <p:clrMapOvr>
    <a:masterClrMapping/>
  </p:clrMapOvr>
  <p:transition spd="med">
    <p:fade/>
  </p:transition>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4" name="Rectangle"/>
          <p:cNvSpPr>
            <a:spLocks/>
          </p:cNvSpPr>
          <p:nvPr/>
        </p:nvSpPr>
        <p:spPr>
          <a:xfrm>
            <a:off x="548640" y="320040"/>
            <a:ext cx="7315200" cy="32004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charset="0"/>
                <a:ea typeface="Calibri" charset="0"/>
                <a:cs typeface="Calibri" charset="0"/>
              </a:rPr>
              <a:t>TOPIC 2 · COMPARISON</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275" name="Rectangle"/>
          <p:cNvSpPr>
            <a:spLocks/>
          </p:cNvSpPr>
          <p:nvPr/>
        </p:nvSpPr>
        <p:spPr>
          <a:xfrm>
            <a:off x="548640" y="566928"/>
            <a:ext cx="11064240" cy="7315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Cryptography vs Steganography</a:t>
            </a:r>
            <a:endParaRPr lang="zh-CN" altLang="en-US" sz="3200" b="0" i="0" u="none" strike="noStrike" kern="1200" cap="none" spc="0" baseline="0">
              <a:solidFill>
                <a:schemeClr val="tx1"/>
              </a:solidFill>
              <a:latin typeface="Calibri" charset="0"/>
              <a:ea typeface="等线" charset="0"/>
              <a:cs typeface="Calibri" charset="0"/>
            </a:endParaRPr>
          </a:p>
        </p:txBody>
      </p:sp>
      <p:graphicFrame>
        <p:nvGraphicFramePr>
          <p:cNvPr id="276" name="Sheet"/>
          <p:cNvGraphicFramePr>
            <a:graphicFrameLocks noGrp="1"/>
          </p:cNvGraphicFramePr>
          <p:nvPr/>
        </p:nvGraphicFramePr>
        <p:xfrm>
          <a:off x="548640" y="1417320"/>
          <a:ext cx="11064164" cy="4937528"/>
        </p:xfrm>
        <a:graphic>
          <a:graphicData uri="http://schemas.openxmlformats.org/drawingml/2006/table">
            <a:tbl>
              <a:tblPr bandRow="1">
                <a:noFill/>
              </a:tblPr>
              <a:tblGrid>
                <a:gridCol w="2103094">
                  <a:extLst>
                    <a:ext uri="{9D8B030D-6E8A-4147-A177-3AD203B41FA5}">
                      <a16:colId xmlns:a16="http://schemas.microsoft.com/office/drawing/2014/main" val="20000"/>
                    </a:ext>
                  </a:extLst>
                </a:gridCol>
                <a:gridCol w="4480535">
                  <a:extLst>
                    <a:ext uri="{9D8B030D-6E8A-4147-A177-3AD203B41FA5}">
                      <a16:colId xmlns:a16="http://schemas.microsoft.com/office/drawing/2014/main" val="20001"/>
                    </a:ext>
                  </a:extLst>
                </a:gridCol>
                <a:gridCol w="4480535">
                  <a:extLst>
                    <a:ext uri="{9D8B030D-6E8A-4147-A177-3AD203B41FA5}">
                      <a16:colId xmlns:a16="http://schemas.microsoft.com/office/drawing/2014/main" val="20002"/>
                    </a:ext>
                  </a:extLst>
                </a:gridCol>
              </a:tblGrid>
              <a:tr h="617191">
                <a:tc>
                  <a:txBody>
                    <a:bodyPr/>
                    <a:lstStyle/>
                    <a:p>
                      <a:pPr marL="0" indent="0" algn="l" eaLnBrk="1" latinLnBrk="0" hangingPunct="1">
                        <a:lnSpc>
                          <a:spcPct val="100000"/>
                        </a:lnSpc>
                        <a:spcBef>
                          <a:spcPts val="0"/>
                        </a:spcBef>
                        <a:spcAft>
                          <a:spcPts val="0"/>
                        </a:spcAft>
                        <a:buNone/>
                      </a:pPr>
                      <a:r>
                        <a:rPr lang="en-US" altLang="zh-CN" sz="1250" b="1" i="0" u="none" strike="noStrike" kern="1200" cap="none" spc="0" baseline="0">
                          <a:solidFill>
                            <a:srgbClr val="FFFFFF"/>
                          </a:solidFill>
                          <a:latin typeface="Calibri" charset="0"/>
                          <a:ea typeface="Calibri" charset="0"/>
                          <a:cs typeface="Calibri" charset="0"/>
                        </a:rPr>
                        <a:t>Parameter</a:t>
                      </a:r>
                      <a:endParaRPr lang="zh-CN" altLang="en-US" sz="125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2563EB"/>
                    </a:solidFill>
                  </a:tcPr>
                </a:tc>
                <a:tc>
                  <a:txBody>
                    <a:bodyPr/>
                    <a:lstStyle/>
                    <a:p>
                      <a:pPr marL="0" indent="0" algn="l" eaLnBrk="1" latinLnBrk="0" hangingPunct="1">
                        <a:lnSpc>
                          <a:spcPct val="100000"/>
                        </a:lnSpc>
                        <a:spcBef>
                          <a:spcPts val="0"/>
                        </a:spcBef>
                        <a:spcAft>
                          <a:spcPts val="0"/>
                        </a:spcAft>
                        <a:buNone/>
                      </a:pPr>
                      <a:r>
                        <a:rPr lang="en-US" altLang="zh-CN" sz="1250" b="1" i="0" u="none" strike="noStrike" kern="1200" cap="none" spc="0" baseline="0">
                          <a:solidFill>
                            <a:srgbClr val="FFFFFF"/>
                          </a:solidFill>
                          <a:latin typeface="Calibri" charset="0"/>
                          <a:ea typeface="Calibri" charset="0"/>
                          <a:cs typeface="Calibri" charset="0"/>
                        </a:rPr>
                        <a:t>Cryptography</a:t>
                      </a:r>
                      <a:endParaRPr lang="zh-CN" altLang="en-US" sz="125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2563EB"/>
                    </a:solidFill>
                  </a:tcPr>
                </a:tc>
                <a:tc>
                  <a:txBody>
                    <a:bodyPr/>
                    <a:lstStyle/>
                    <a:p>
                      <a:pPr marL="0" indent="0" algn="l" eaLnBrk="1" latinLnBrk="0" hangingPunct="1">
                        <a:lnSpc>
                          <a:spcPct val="100000"/>
                        </a:lnSpc>
                        <a:spcBef>
                          <a:spcPts val="0"/>
                        </a:spcBef>
                        <a:spcAft>
                          <a:spcPts val="0"/>
                        </a:spcAft>
                        <a:buNone/>
                      </a:pPr>
                      <a:r>
                        <a:rPr lang="en-US" altLang="zh-CN" sz="1250" b="1" i="0" u="none" strike="noStrike" kern="1200" cap="none" spc="0" baseline="0">
                          <a:solidFill>
                            <a:srgbClr val="FFFFFF"/>
                          </a:solidFill>
                          <a:latin typeface="Calibri" charset="0"/>
                          <a:ea typeface="Calibri" charset="0"/>
                          <a:cs typeface="Calibri" charset="0"/>
                        </a:rPr>
                        <a:t>Steganography</a:t>
                      </a:r>
                      <a:endParaRPr lang="zh-CN" altLang="en-US" sz="125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2563EB"/>
                    </a:solidFill>
                  </a:tcPr>
                </a:tc>
                <a:extLst>
                  <a:ext uri="{0D108BD9-81ED-4DB2-BD59-A6C34878D82A}">
                    <a16:rowId xmlns:a16="http://schemas.microsoft.com/office/drawing/2014/main" val="10000"/>
                  </a:ext>
                </a:extLst>
              </a:tr>
              <a:tr h="617191">
                <a:tc>
                  <a:txBody>
                    <a:bodyPr/>
                    <a:lstStyle/>
                    <a:p>
                      <a:pPr marL="0" indent="0" algn="l" eaLnBrk="1" latinLnBrk="0" hangingPunct="1">
                        <a:lnSpc>
                          <a:spcPct val="100000"/>
                        </a:lnSpc>
                        <a:spcBef>
                          <a:spcPts val="0"/>
                        </a:spcBef>
                        <a:spcAft>
                          <a:spcPts val="0"/>
                        </a:spcAft>
                        <a:buNone/>
                      </a:pPr>
                      <a:r>
                        <a:rPr lang="en-US" altLang="zh-CN" sz="1100" b="1" i="0" u="none" strike="noStrike" kern="1200" cap="none" spc="0" baseline="0">
                          <a:solidFill>
                            <a:srgbClr val="1F2937"/>
                          </a:solidFill>
                          <a:latin typeface="Calibri" charset="0"/>
                          <a:ea typeface="Calibri" charset="0"/>
                          <a:cs typeface="Calibri" charset="0"/>
                        </a:rPr>
                        <a:t>Purpose</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charset="0"/>
                          <a:ea typeface="Calibri" charset="0"/>
                          <a:cs typeface="Calibri" charset="0"/>
                        </a:rPr>
                        <a:t>Make data unreadable to unauthorized users</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charset="0"/>
                          <a:ea typeface="Calibri" charset="0"/>
                          <a:cs typeface="Calibri" charset="0"/>
                        </a:rPr>
                        <a:t>Hide the existence of data itself</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extLst>
                  <a:ext uri="{0D108BD9-81ED-4DB2-BD59-A6C34878D82A}">
                    <a16:rowId xmlns:a16="http://schemas.microsoft.com/office/drawing/2014/main" val="10001"/>
                  </a:ext>
                </a:extLst>
              </a:tr>
              <a:tr h="617191">
                <a:tc>
                  <a:txBody>
                    <a:bodyPr/>
                    <a:lstStyle/>
                    <a:p>
                      <a:pPr marL="0" indent="0" algn="l" eaLnBrk="1" latinLnBrk="0" hangingPunct="1">
                        <a:lnSpc>
                          <a:spcPct val="100000"/>
                        </a:lnSpc>
                        <a:spcBef>
                          <a:spcPts val="0"/>
                        </a:spcBef>
                        <a:spcAft>
                          <a:spcPts val="0"/>
                        </a:spcAft>
                        <a:buNone/>
                      </a:pPr>
                      <a:r>
                        <a:rPr lang="en-US" altLang="zh-CN" sz="1100" b="1" i="0" u="none" strike="noStrike" kern="1200" cap="none" spc="0" baseline="0">
                          <a:solidFill>
                            <a:srgbClr val="1F2937"/>
                          </a:solidFill>
                          <a:latin typeface="Calibri" charset="0"/>
                          <a:ea typeface="Calibri" charset="0"/>
                          <a:cs typeface="Calibri" charset="0"/>
                        </a:rPr>
                        <a:t>Visibility</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3F4F6"/>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charset="0"/>
                          <a:ea typeface="Calibri" charset="0"/>
                          <a:cs typeface="Calibri" charset="0"/>
                        </a:rPr>
                        <a:t>Ciphertext is visible, but unreadable</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3F4F6"/>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charset="0"/>
                          <a:ea typeface="Calibri" charset="0"/>
                          <a:cs typeface="Calibri" charset="0"/>
                        </a:rPr>
                        <a:t>Hidden data is invisible within a cover file</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3F4F6"/>
                    </a:solidFill>
                  </a:tcPr>
                </a:tc>
                <a:extLst>
                  <a:ext uri="{0D108BD9-81ED-4DB2-BD59-A6C34878D82A}">
                    <a16:rowId xmlns:a16="http://schemas.microsoft.com/office/drawing/2014/main" val="10002"/>
                  </a:ext>
                </a:extLst>
              </a:tr>
              <a:tr h="617191">
                <a:tc>
                  <a:txBody>
                    <a:bodyPr/>
                    <a:lstStyle/>
                    <a:p>
                      <a:pPr marL="0" indent="0" algn="l" eaLnBrk="1" latinLnBrk="0" hangingPunct="1">
                        <a:lnSpc>
                          <a:spcPct val="100000"/>
                        </a:lnSpc>
                        <a:spcBef>
                          <a:spcPts val="0"/>
                        </a:spcBef>
                        <a:spcAft>
                          <a:spcPts val="0"/>
                        </a:spcAft>
                        <a:buNone/>
                      </a:pPr>
                      <a:r>
                        <a:rPr lang="en-US" altLang="zh-CN" sz="1100" b="1" i="0" u="none" strike="noStrike" kern="1200" cap="none" spc="0" baseline="0">
                          <a:solidFill>
                            <a:srgbClr val="1F2937"/>
                          </a:solidFill>
                          <a:latin typeface="Calibri" charset="0"/>
                          <a:ea typeface="Calibri" charset="0"/>
                          <a:cs typeface="Calibri" charset="0"/>
                        </a:rPr>
                        <a:t>Security Basis</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charset="0"/>
                          <a:ea typeface="Calibri" charset="0"/>
                          <a:cs typeface="Calibri" charset="0"/>
                        </a:rPr>
                        <a:t>Relies on mathematical key strength</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charset="0"/>
                          <a:ea typeface="Calibri" charset="0"/>
                          <a:cs typeface="Calibri" charset="0"/>
                        </a:rPr>
                        <a:t>Relies on secrecy of the hiding method</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extLst>
                  <a:ext uri="{0D108BD9-81ED-4DB2-BD59-A6C34878D82A}">
                    <a16:rowId xmlns:a16="http://schemas.microsoft.com/office/drawing/2014/main" val="10003"/>
                  </a:ext>
                </a:extLst>
              </a:tr>
              <a:tr h="617191">
                <a:tc>
                  <a:txBody>
                    <a:bodyPr/>
                    <a:lstStyle/>
                    <a:p>
                      <a:pPr marL="0" indent="0" algn="l" eaLnBrk="1" latinLnBrk="0" hangingPunct="1">
                        <a:lnSpc>
                          <a:spcPct val="100000"/>
                        </a:lnSpc>
                        <a:spcBef>
                          <a:spcPts val="0"/>
                        </a:spcBef>
                        <a:spcAft>
                          <a:spcPts val="0"/>
                        </a:spcAft>
                        <a:buNone/>
                      </a:pPr>
                      <a:r>
                        <a:rPr lang="en-US" altLang="zh-CN" sz="1100" b="1" i="0" u="none" strike="noStrike" kern="1200" cap="none" spc="0" baseline="0">
                          <a:solidFill>
                            <a:srgbClr val="1F2937"/>
                          </a:solidFill>
                          <a:latin typeface="Calibri" charset="0"/>
                          <a:ea typeface="Calibri" charset="0"/>
                          <a:cs typeface="Calibri" charset="0"/>
                        </a:rPr>
                        <a:t>Speed</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3F4F6"/>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charset="0"/>
                          <a:ea typeface="Calibri" charset="0"/>
                          <a:cs typeface="Calibri" charset="0"/>
                        </a:rPr>
                        <a:t>Can be slower with complex algorithms (esp. asymmetric)</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3F4F6"/>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charset="0"/>
                          <a:ea typeface="Calibri" charset="0"/>
                          <a:cs typeface="Calibri" charset="0"/>
                        </a:rPr>
                        <a:t>Generally faster; no heavy computation</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3F4F6"/>
                    </a:solidFill>
                  </a:tcPr>
                </a:tc>
                <a:extLst>
                  <a:ext uri="{0D108BD9-81ED-4DB2-BD59-A6C34878D82A}">
                    <a16:rowId xmlns:a16="http://schemas.microsoft.com/office/drawing/2014/main" val="10004"/>
                  </a:ext>
                </a:extLst>
              </a:tr>
              <a:tr h="617191">
                <a:tc>
                  <a:txBody>
                    <a:bodyPr/>
                    <a:lstStyle/>
                    <a:p>
                      <a:pPr marL="0" indent="0" algn="l" eaLnBrk="1" latinLnBrk="0" hangingPunct="1">
                        <a:lnSpc>
                          <a:spcPct val="100000"/>
                        </a:lnSpc>
                        <a:spcBef>
                          <a:spcPts val="0"/>
                        </a:spcBef>
                        <a:spcAft>
                          <a:spcPts val="0"/>
                        </a:spcAft>
                        <a:buNone/>
                      </a:pPr>
                      <a:r>
                        <a:rPr lang="en-US" altLang="zh-CN" sz="1100" b="1" i="0" u="none" strike="noStrike" kern="1200" cap="none" spc="0" baseline="0">
                          <a:solidFill>
                            <a:srgbClr val="1F2937"/>
                          </a:solidFill>
                          <a:latin typeface="Calibri" charset="0"/>
                          <a:ea typeface="Calibri" charset="0"/>
                          <a:cs typeface="Calibri" charset="0"/>
                        </a:rPr>
                        <a:t>Applications</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charset="0"/>
                          <a:ea typeface="Calibri" charset="0"/>
                          <a:cs typeface="Calibri" charset="0"/>
                        </a:rPr>
                        <a:t>Banking, HTTPS, VPN, digital signatures</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charset="0"/>
                          <a:ea typeface="Calibri" charset="0"/>
                          <a:cs typeface="Calibri" charset="0"/>
                        </a:rPr>
                        <a:t>Covert communication, watermarking, forensics</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extLst>
                  <a:ext uri="{0D108BD9-81ED-4DB2-BD59-A6C34878D82A}">
                    <a16:rowId xmlns:a16="http://schemas.microsoft.com/office/drawing/2014/main" val="10005"/>
                  </a:ext>
                </a:extLst>
              </a:tr>
              <a:tr h="617191">
                <a:tc>
                  <a:txBody>
                    <a:bodyPr/>
                    <a:lstStyle/>
                    <a:p>
                      <a:pPr marL="0" indent="0" algn="l" eaLnBrk="1" latinLnBrk="0" hangingPunct="1">
                        <a:lnSpc>
                          <a:spcPct val="100000"/>
                        </a:lnSpc>
                        <a:spcBef>
                          <a:spcPts val="0"/>
                        </a:spcBef>
                        <a:spcAft>
                          <a:spcPts val="0"/>
                        </a:spcAft>
                        <a:buNone/>
                      </a:pPr>
                      <a:r>
                        <a:rPr lang="en-US" altLang="zh-CN" sz="1100" b="1" i="0" u="none" strike="noStrike" kern="1200" cap="none" spc="0" baseline="0">
                          <a:solidFill>
                            <a:srgbClr val="1F2937"/>
                          </a:solidFill>
                          <a:latin typeface="Calibri" charset="0"/>
                          <a:ea typeface="Calibri" charset="0"/>
                          <a:cs typeface="Calibri" charset="0"/>
                        </a:rPr>
                        <a:t>Advantages</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3F4F6"/>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charset="0"/>
                          <a:ea typeface="Calibri" charset="0"/>
                          <a:cs typeface="Calibri" charset="0"/>
                        </a:rPr>
                        <a:t>Strong mathematical security, widely standardized</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3F4F6"/>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charset="0"/>
                          <a:ea typeface="Calibri" charset="0"/>
                          <a:cs typeface="Calibri" charset="0"/>
                        </a:rPr>
                        <a:t>Message existence itself stays concealed</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3F4F6"/>
                    </a:solidFill>
                  </a:tcPr>
                </a:tc>
                <a:extLst>
                  <a:ext uri="{0D108BD9-81ED-4DB2-BD59-A6C34878D82A}">
                    <a16:rowId xmlns:a16="http://schemas.microsoft.com/office/drawing/2014/main" val="10006"/>
                  </a:ext>
                </a:extLst>
              </a:tr>
              <a:tr h="617191">
                <a:tc>
                  <a:txBody>
                    <a:bodyPr/>
                    <a:lstStyle/>
                    <a:p>
                      <a:pPr marL="0" indent="0" algn="l" eaLnBrk="1" latinLnBrk="0" hangingPunct="1">
                        <a:lnSpc>
                          <a:spcPct val="100000"/>
                        </a:lnSpc>
                        <a:spcBef>
                          <a:spcPts val="0"/>
                        </a:spcBef>
                        <a:spcAft>
                          <a:spcPts val="0"/>
                        </a:spcAft>
                        <a:buNone/>
                      </a:pPr>
                      <a:r>
                        <a:rPr lang="en-US" altLang="zh-CN" sz="1100" b="1" i="0" u="none" strike="noStrike" kern="1200" cap="none" spc="0" baseline="0">
                          <a:solidFill>
                            <a:srgbClr val="1F2937"/>
                          </a:solidFill>
                          <a:latin typeface="Calibri" charset="0"/>
                          <a:ea typeface="Calibri" charset="0"/>
                          <a:cs typeface="Calibri" charset="0"/>
                        </a:rPr>
                        <a:t>Disadvantages</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charset="0"/>
                          <a:ea typeface="Calibri" charset="0"/>
                          <a:cs typeface="Calibri" charset="0"/>
                        </a:rPr>
                        <a:t>Encrypted data draws attention/suspicion</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tc>
                  <a:txBody>
                    <a:bodyPr/>
                    <a:lstStyle/>
                    <a:p>
                      <a:pPr marL="0" indent="0" algn="l" eaLnBrk="1" latinLnBrk="0" hangingPunct="1">
                        <a:lnSpc>
                          <a:spcPct val="100000"/>
                        </a:lnSpc>
                        <a:spcBef>
                          <a:spcPts val="0"/>
                        </a:spcBef>
                        <a:spcAft>
                          <a:spcPts val="0"/>
                        </a:spcAft>
                        <a:buNone/>
                      </a:pPr>
                      <a:r>
                        <a:rPr lang="en-US" altLang="zh-CN" sz="1100" b="0" i="0" u="none" strike="noStrike" kern="1200" cap="none" spc="0" baseline="0">
                          <a:solidFill>
                            <a:srgbClr val="1F2937"/>
                          </a:solidFill>
                          <a:latin typeface="Calibri" charset="0"/>
                          <a:ea typeface="Calibri" charset="0"/>
                          <a:cs typeface="Calibri" charset="0"/>
                        </a:rPr>
                        <a:t>Weak once hiding method is discovered</a:t>
                      </a:r>
                      <a:endParaRPr lang="zh-CN" altLang="en-US" sz="1100" b="0" i="0" u="none" strike="noStrike" kern="1200" cap="none" spc="0" baseline="0">
                        <a:solidFill>
                          <a:schemeClr val="tx1"/>
                        </a:solidFill>
                        <a:latin typeface="Calibri" charset="0"/>
                        <a:ea typeface="Calibri" charset="0"/>
                        <a:cs typeface="Calibri" charset="0"/>
                      </a:endParaRPr>
                    </a:p>
                  </a:txBody>
                  <a:tcPr anchor="ctr">
                    <a:lnL w="12700">
                      <a:solidFill>
                        <a:srgbClr val="E5E7EB"/>
                      </a:solidFill>
                      <a:prstDash val="solid"/>
                      <a:headEnd type="none" w="med" len="med"/>
                      <a:tailEnd type="none" w="med" len="med"/>
                    </a:lnL>
                    <a:lnR w="12700">
                      <a:solidFill>
                        <a:srgbClr val="E5E7EB"/>
                      </a:solidFill>
                      <a:prstDash val="solid"/>
                      <a:headEnd type="none" w="med" len="med"/>
                      <a:tailEnd type="none" w="med" len="med"/>
                    </a:lnR>
                    <a:lnT w="12700">
                      <a:solidFill>
                        <a:srgbClr val="E5E7EB"/>
                      </a:solidFill>
                      <a:prstDash val="solid"/>
                      <a:headEnd type="none" w="med" len="med"/>
                      <a:tailEnd type="none" w="med" len="med"/>
                    </a:lnT>
                    <a:lnB w="12700">
                      <a:solidFill>
                        <a:srgbClr val="E5E7EB"/>
                      </a:solidFill>
                      <a:prstDash val="soli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77" name="Rectangle"/>
          <p:cNvSpPr>
            <a:spLocks/>
          </p:cNvSpPr>
          <p:nvPr/>
        </p:nvSpPr>
        <p:spPr>
          <a:xfrm>
            <a:off x="548640" y="6528816"/>
            <a:ext cx="548640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charset="0"/>
                <a:ea typeface="Calibri" charset="0"/>
                <a:cs typeface="Calibri" charset="0"/>
              </a:rPr>
              <a:t>Cryptography &amp; Network Security</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278" name="Rectangle"/>
          <p:cNvSpPr>
            <a:spLocks/>
          </p:cNvSpPr>
          <p:nvPr/>
        </p:nvSpPr>
        <p:spPr>
          <a:xfrm>
            <a:off x="11338560" y="6528816"/>
            <a:ext cx="36576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charset="0"/>
                <a:ea typeface="Calibri" charset="0"/>
                <a:cs typeface="Calibri" charset="0"/>
              </a:rPr>
              <a:t>10</a:t>
            </a:r>
            <a:endParaRPr lang="zh-CN" altLang="en-US" sz="9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1942187022"/>
      </p:ext>
    </p:extLst>
  </p:cSld>
  <p:clrMapOvr>
    <a:masterClrMapping/>
  </p:clrMapOvr>
  <p:transition spd="med">
    <p:fade/>
  </p:transition>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3" name="Rectangle"/>
          <p:cNvSpPr>
            <a:spLocks/>
          </p:cNvSpPr>
          <p:nvPr/>
        </p:nvSpPr>
        <p:spPr>
          <a:xfrm>
            <a:off x="548640" y="320040"/>
            <a:ext cx="7315200" cy="32004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charset="0"/>
                <a:ea typeface="Calibri" charset="0"/>
                <a:cs typeface="Calibri" charset="0"/>
              </a:rPr>
              <a:t>TOPIC 2 · APPLICATIONS</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284" name="Rectangle"/>
          <p:cNvSpPr>
            <a:spLocks/>
          </p:cNvSpPr>
          <p:nvPr/>
        </p:nvSpPr>
        <p:spPr>
          <a:xfrm>
            <a:off x="548640" y="566928"/>
            <a:ext cx="11064240" cy="7315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Applications and Future Scope</a:t>
            </a:r>
            <a:endParaRPr lang="zh-CN" altLang="en-US" sz="3200" b="0" i="0" u="none" strike="noStrike" kern="1200" cap="none" spc="0" baseline="0">
              <a:solidFill>
                <a:schemeClr val="tx1"/>
              </a:solidFill>
              <a:latin typeface="Calibri" charset="0"/>
              <a:ea typeface="等线" charset="0"/>
              <a:cs typeface="Calibri" charset="0"/>
            </a:endParaRPr>
          </a:p>
        </p:txBody>
      </p:sp>
      <p:sp>
        <p:nvSpPr>
          <p:cNvPr id="285" name="Rounded rectangle"/>
          <p:cNvSpPr>
            <a:spLocks/>
          </p:cNvSpPr>
          <p:nvPr/>
        </p:nvSpPr>
        <p:spPr>
          <a:xfrm>
            <a:off x="548640" y="1463040"/>
            <a:ext cx="3566160" cy="2148840"/>
          </a:xfrm>
          <a:prstGeom prst="roundRect">
            <a:avLst>
              <a:gd name="adj" fmla="val 3402"/>
            </a:avLst>
          </a:prstGeom>
          <a:solidFill>
            <a:srgbClr val="F3F4F6"/>
          </a:solidFill>
          <a:ln w="12700" cap="flat" cmpd="sng">
            <a:noFill/>
            <a:prstDash val="solid"/>
            <a:miter/>
          </a:ln>
          <a:effectLst>
            <a:outerShdw blurRad="101600" dist="38100" dir="5400000" algn="bl" rotWithShape="0">
              <a:srgbClr val="1F2937">
                <a:alpha val="17647"/>
              </a:srgbClr>
            </a:outerShdw>
          </a:effectLst>
        </p:spPr>
      </p:sp>
      <p:sp>
        <p:nvSpPr>
          <p:cNvPr id="286" name="Oval"/>
          <p:cNvSpPr>
            <a:spLocks/>
          </p:cNvSpPr>
          <p:nvPr/>
        </p:nvSpPr>
        <p:spPr>
          <a:xfrm>
            <a:off x="804672" y="1719072"/>
            <a:ext cx="548640" cy="548640"/>
          </a:xfrm>
          <a:prstGeom prst="ellipse">
            <a:avLst/>
          </a:prstGeom>
          <a:solidFill>
            <a:srgbClr val="2563EB"/>
          </a:solidFill>
          <a:ln w="12700" cap="flat" cmpd="sng">
            <a:noFill/>
            <a:prstDash val="solid"/>
            <a:miter/>
          </a:ln>
        </p:spPr>
      </p:sp>
      <p:pic>
        <p:nvPicPr>
          <p:cNvPr id="287" name="Image" descr="/home/claude/deck/assets/bank.png"/>
          <p:cNvPicPr>
            <a:picLocks noChangeAspect="1"/>
          </p:cNvPicPr>
          <p:nvPr/>
        </p:nvPicPr>
        <p:blipFill>
          <a:blip r:embed="rId3" cstate="print"/>
          <a:stretch>
            <a:fillRect/>
          </a:stretch>
        </p:blipFill>
        <p:spPr>
          <a:xfrm>
            <a:off x="928116" y="1842516"/>
            <a:ext cx="301750" cy="301750"/>
          </a:xfrm>
          <a:prstGeom prst="rect">
            <a:avLst/>
          </a:prstGeom>
          <a:noFill/>
          <a:ln w="12700" cap="flat" cmpd="sng">
            <a:noFill/>
            <a:prstDash val="solid"/>
            <a:miter/>
          </a:ln>
        </p:spPr>
      </p:pic>
      <p:sp>
        <p:nvSpPr>
          <p:cNvPr id="288" name="Rectangle"/>
          <p:cNvSpPr>
            <a:spLocks/>
          </p:cNvSpPr>
          <p:nvPr/>
        </p:nvSpPr>
        <p:spPr>
          <a:xfrm>
            <a:off x="1508758" y="1737360"/>
            <a:ext cx="2468880" cy="502918"/>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500" b="1" i="0" u="none" strike="noStrike" kern="1200" cap="none" spc="0" baseline="0">
                <a:solidFill>
                  <a:srgbClr val="1F2937"/>
                </a:solidFill>
                <a:latin typeface="Cambria" pitchFamily="34" charset="0"/>
                <a:ea typeface="Cambria" pitchFamily="34" charset="0"/>
                <a:cs typeface="Cambria" pitchFamily="34" charset="0"/>
              </a:rPr>
              <a:t>Banking</a:t>
            </a:r>
            <a:endParaRPr lang="zh-CN" altLang="en-US" sz="1500" b="0" i="0" u="none" strike="noStrike" kern="1200" cap="none" spc="0" baseline="0">
              <a:solidFill>
                <a:schemeClr val="tx1"/>
              </a:solidFill>
              <a:latin typeface="Calibri" charset="0"/>
              <a:ea typeface="等线" charset="0"/>
              <a:cs typeface="Calibri" charset="0"/>
            </a:endParaRPr>
          </a:p>
        </p:txBody>
      </p:sp>
      <p:sp>
        <p:nvSpPr>
          <p:cNvPr id="289" name="Rectangle"/>
          <p:cNvSpPr>
            <a:spLocks/>
          </p:cNvSpPr>
          <p:nvPr/>
        </p:nvSpPr>
        <p:spPr>
          <a:xfrm>
            <a:off x="804672" y="2377440"/>
            <a:ext cx="3054095" cy="109727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150" b="0" i="0" u="none" strike="noStrike" kern="1200" cap="none" spc="0" baseline="0">
                <a:solidFill>
                  <a:srgbClr val="64748B"/>
                </a:solidFill>
                <a:latin typeface="Calibri" charset="0"/>
                <a:ea typeface="Calibri" charset="0"/>
                <a:cs typeface="Calibri" charset="0"/>
              </a:rPr>
              <a:t>Secure transactions, encrypted card data</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290" name="Rounded rectangle"/>
          <p:cNvSpPr>
            <a:spLocks/>
          </p:cNvSpPr>
          <p:nvPr/>
        </p:nvSpPr>
        <p:spPr>
          <a:xfrm>
            <a:off x="4297680" y="1463040"/>
            <a:ext cx="3566158" cy="2148840"/>
          </a:xfrm>
          <a:prstGeom prst="roundRect">
            <a:avLst>
              <a:gd name="adj" fmla="val 3402"/>
            </a:avLst>
          </a:prstGeom>
          <a:solidFill>
            <a:srgbClr val="F3F4F6"/>
          </a:solidFill>
          <a:ln w="12700" cap="flat" cmpd="sng">
            <a:noFill/>
            <a:prstDash val="solid"/>
            <a:miter/>
          </a:ln>
          <a:effectLst>
            <a:outerShdw blurRad="101600" dist="38100" dir="5400000" algn="bl" rotWithShape="0">
              <a:srgbClr val="1F2937">
                <a:alpha val="17647"/>
              </a:srgbClr>
            </a:outerShdw>
          </a:effectLst>
        </p:spPr>
      </p:sp>
      <p:sp>
        <p:nvSpPr>
          <p:cNvPr id="291" name="Oval"/>
          <p:cNvSpPr>
            <a:spLocks/>
          </p:cNvSpPr>
          <p:nvPr/>
        </p:nvSpPr>
        <p:spPr>
          <a:xfrm>
            <a:off x="4553712" y="1719072"/>
            <a:ext cx="548640" cy="548640"/>
          </a:xfrm>
          <a:prstGeom prst="ellipse">
            <a:avLst/>
          </a:prstGeom>
          <a:solidFill>
            <a:srgbClr val="2563EB"/>
          </a:solidFill>
          <a:ln w="12700" cap="flat" cmpd="sng">
            <a:noFill/>
            <a:prstDash val="solid"/>
            <a:miter/>
          </a:ln>
        </p:spPr>
      </p:sp>
      <p:pic>
        <p:nvPicPr>
          <p:cNvPr id="292" name="Image" descr="/home/claude/deck/assets/heart.png"/>
          <p:cNvPicPr>
            <a:picLocks noChangeAspect="1"/>
          </p:cNvPicPr>
          <p:nvPr/>
        </p:nvPicPr>
        <p:blipFill>
          <a:blip r:embed="rId4" cstate="print"/>
          <a:stretch>
            <a:fillRect/>
          </a:stretch>
        </p:blipFill>
        <p:spPr>
          <a:xfrm>
            <a:off x="4677156" y="1842516"/>
            <a:ext cx="301750" cy="301750"/>
          </a:xfrm>
          <a:prstGeom prst="rect">
            <a:avLst/>
          </a:prstGeom>
          <a:noFill/>
          <a:ln w="12700" cap="flat" cmpd="sng">
            <a:noFill/>
            <a:prstDash val="solid"/>
            <a:miter/>
          </a:ln>
        </p:spPr>
      </p:pic>
      <p:sp>
        <p:nvSpPr>
          <p:cNvPr id="293" name="Rectangle"/>
          <p:cNvSpPr>
            <a:spLocks/>
          </p:cNvSpPr>
          <p:nvPr/>
        </p:nvSpPr>
        <p:spPr>
          <a:xfrm>
            <a:off x="5257800" y="1737360"/>
            <a:ext cx="2468880" cy="502918"/>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500" b="1" i="0" u="none" strike="noStrike" kern="1200" cap="none" spc="0" baseline="0">
                <a:solidFill>
                  <a:srgbClr val="1F2937"/>
                </a:solidFill>
                <a:latin typeface="Cambria" pitchFamily="34" charset="0"/>
                <a:ea typeface="Cambria" pitchFamily="34" charset="0"/>
                <a:cs typeface="Cambria" pitchFamily="34" charset="0"/>
              </a:rPr>
              <a:t>Healthcare</a:t>
            </a:r>
            <a:endParaRPr lang="zh-CN" altLang="en-US" sz="1500" b="0" i="0" u="none" strike="noStrike" kern="1200" cap="none" spc="0" baseline="0">
              <a:solidFill>
                <a:schemeClr val="tx1"/>
              </a:solidFill>
              <a:latin typeface="Calibri" charset="0"/>
              <a:ea typeface="等线" charset="0"/>
              <a:cs typeface="Calibri" charset="0"/>
            </a:endParaRPr>
          </a:p>
        </p:txBody>
      </p:sp>
      <p:sp>
        <p:nvSpPr>
          <p:cNvPr id="294" name="Rectangle"/>
          <p:cNvSpPr>
            <a:spLocks/>
          </p:cNvSpPr>
          <p:nvPr/>
        </p:nvSpPr>
        <p:spPr>
          <a:xfrm>
            <a:off x="4553712" y="2377440"/>
            <a:ext cx="3054096" cy="109727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150" b="0" i="0" u="none" strike="noStrike" kern="1200" cap="none" spc="0" baseline="0">
                <a:solidFill>
                  <a:srgbClr val="64748B"/>
                </a:solidFill>
                <a:latin typeface="Calibri" charset="0"/>
                <a:ea typeface="Calibri" charset="0"/>
                <a:cs typeface="Calibri" charset="0"/>
              </a:rPr>
              <a:t>Protecting patient records (HIPAA compliance)</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295" name="Rounded rectangle"/>
          <p:cNvSpPr>
            <a:spLocks/>
          </p:cNvSpPr>
          <p:nvPr/>
        </p:nvSpPr>
        <p:spPr>
          <a:xfrm>
            <a:off x="8046719" y="1463040"/>
            <a:ext cx="3566160" cy="2148840"/>
          </a:xfrm>
          <a:prstGeom prst="roundRect">
            <a:avLst>
              <a:gd name="adj" fmla="val 3402"/>
            </a:avLst>
          </a:prstGeom>
          <a:solidFill>
            <a:srgbClr val="F3F4F6"/>
          </a:solidFill>
          <a:ln w="12700" cap="flat" cmpd="sng">
            <a:noFill/>
            <a:prstDash val="solid"/>
            <a:miter/>
          </a:ln>
          <a:effectLst>
            <a:outerShdw blurRad="101600" dist="38100" dir="5400000" algn="bl" rotWithShape="0">
              <a:srgbClr val="1F2937">
                <a:alpha val="17647"/>
              </a:srgbClr>
            </a:outerShdw>
          </a:effectLst>
        </p:spPr>
      </p:sp>
      <p:sp>
        <p:nvSpPr>
          <p:cNvPr id="296" name="Oval"/>
          <p:cNvSpPr>
            <a:spLocks/>
          </p:cNvSpPr>
          <p:nvPr/>
        </p:nvSpPr>
        <p:spPr>
          <a:xfrm>
            <a:off x="8302752" y="1719072"/>
            <a:ext cx="548640" cy="548640"/>
          </a:xfrm>
          <a:prstGeom prst="ellipse">
            <a:avLst/>
          </a:prstGeom>
          <a:solidFill>
            <a:srgbClr val="2563EB"/>
          </a:solidFill>
          <a:ln w="12700" cap="flat" cmpd="sng">
            <a:noFill/>
            <a:prstDash val="solid"/>
            <a:miter/>
          </a:ln>
        </p:spPr>
      </p:sp>
      <p:pic>
        <p:nvPicPr>
          <p:cNvPr id="297" name="Image" descr="/home/claude/deck/assets/military.png"/>
          <p:cNvPicPr>
            <a:picLocks noChangeAspect="1"/>
          </p:cNvPicPr>
          <p:nvPr/>
        </p:nvPicPr>
        <p:blipFill>
          <a:blip r:embed="rId5" cstate="print"/>
          <a:stretch>
            <a:fillRect/>
          </a:stretch>
        </p:blipFill>
        <p:spPr>
          <a:xfrm>
            <a:off x="8426196" y="1842516"/>
            <a:ext cx="301750" cy="301750"/>
          </a:xfrm>
          <a:prstGeom prst="rect">
            <a:avLst/>
          </a:prstGeom>
          <a:noFill/>
          <a:ln w="12700" cap="flat" cmpd="sng">
            <a:noFill/>
            <a:prstDash val="solid"/>
            <a:miter/>
          </a:ln>
        </p:spPr>
      </p:pic>
      <p:sp>
        <p:nvSpPr>
          <p:cNvPr id="298" name="Rectangle"/>
          <p:cNvSpPr>
            <a:spLocks/>
          </p:cNvSpPr>
          <p:nvPr/>
        </p:nvSpPr>
        <p:spPr>
          <a:xfrm>
            <a:off x="9006840" y="1737360"/>
            <a:ext cx="2468880" cy="502918"/>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500" b="1" i="0" u="none" strike="noStrike" kern="1200" cap="none" spc="0" baseline="0">
                <a:solidFill>
                  <a:srgbClr val="1F2937"/>
                </a:solidFill>
                <a:latin typeface="Cambria" pitchFamily="34" charset="0"/>
                <a:ea typeface="Cambria" pitchFamily="34" charset="0"/>
                <a:cs typeface="Cambria" pitchFamily="34" charset="0"/>
              </a:rPr>
              <a:t>Military</a:t>
            </a:r>
            <a:endParaRPr lang="zh-CN" altLang="en-US" sz="1500" b="0" i="0" u="none" strike="noStrike" kern="1200" cap="none" spc="0" baseline="0">
              <a:solidFill>
                <a:schemeClr val="tx1"/>
              </a:solidFill>
              <a:latin typeface="Calibri" charset="0"/>
              <a:ea typeface="等线" charset="0"/>
              <a:cs typeface="Calibri" charset="0"/>
            </a:endParaRPr>
          </a:p>
        </p:txBody>
      </p:sp>
      <p:sp>
        <p:nvSpPr>
          <p:cNvPr id="299" name="Rectangle"/>
          <p:cNvSpPr>
            <a:spLocks/>
          </p:cNvSpPr>
          <p:nvPr/>
        </p:nvSpPr>
        <p:spPr>
          <a:xfrm>
            <a:off x="8302752" y="2377440"/>
            <a:ext cx="3054095" cy="109727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150" b="0" i="0" u="none" strike="noStrike" kern="1200" cap="none" spc="0" baseline="0">
                <a:solidFill>
                  <a:srgbClr val="64748B"/>
                </a:solidFill>
                <a:latin typeface="Calibri" charset="0"/>
                <a:ea typeface="Calibri" charset="0"/>
                <a:cs typeface="Calibri" charset="0"/>
              </a:rPr>
              <a:t>Classified communication &amp; covert messaging</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300" name="Rounded rectangle"/>
          <p:cNvSpPr>
            <a:spLocks/>
          </p:cNvSpPr>
          <p:nvPr/>
        </p:nvSpPr>
        <p:spPr>
          <a:xfrm>
            <a:off x="548640" y="3794760"/>
            <a:ext cx="3566160" cy="2148840"/>
          </a:xfrm>
          <a:prstGeom prst="roundRect">
            <a:avLst>
              <a:gd name="adj" fmla="val 3402"/>
            </a:avLst>
          </a:prstGeom>
          <a:solidFill>
            <a:srgbClr val="F3F4F6"/>
          </a:solidFill>
          <a:ln w="12700" cap="flat" cmpd="sng">
            <a:noFill/>
            <a:prstDash val="solid"/>
            <a:miter/>
          </a:ln>
          <a:effectLst>
            <a:outerShdw blurRad="101600" dist="38100" dir="5400000" algn="bl" rotWithShape="0">
              <a:srgbClr val="1F2937">
                <a:alpha val="17647"/>
              </a:srgbClr>
            </a:outerShdw>
          </a:effectLst>
        </p:spPr>
      </p:sp>
      <p:sp>
        <p:nvSpPr>
          <p:cNvPr id="301" name="Oval"/>
          <p:cNvSpPr>
            <a:spLocks/>
          </p:cNvSpPr>
          <p:nvPr/>
        </p:nvSpPr>
        <p:spPr>
          <a:xfrm>
            <a:off x="804672" y="4050792"/>
            <a:ext cx="548640" cy="548640"/>
          </a:xfrm>
          <a:prstGeom prst="ellipse">
            <a:avLst/>
          </a:prstGeom>
          <a:solidFill>
            <a:srgbClr val="2563EB"/>
          </a:solidFill>
          <a:ln w="12700" cap="flat" cmpd="sng">
            <a:noFill/>
            <a:prstDash val="solid"/>
            <a:miter/>
          </a:ln>
        </p:spPr>
      </p:sp>
      <p:pic>
        <p:nvPicPr>
          <p:cNvPr id="302" name="Image" descr="/home/claude/deck/assets/cloud.png"/>
          <p:cNvPicPr>
            <a:picLocks noChangeAspect="1"/>
          </p:cNvPicPr>
          <p:nvPr/>
        </p:nvPicPr>
        <p:blipFill>
          <a:blip r:embed="rId6" cstate="print"/>
          <a:stretch>
            <a:fillRect/>
          </a:stretch>
        </p:blipFill>
        <p:spPr>
          <a:xfrm>
            <a:off x="928116" y="4174236"/>
            <a:ext cx="301750" cy="301751"/>
          </a:xfrm>
          <a:prstGeom prst="rect">
            <a:avLst/>
          </a:prstGeom>
          <a:noFill/>
          <a:ln w="12700" cap="flat" cmpd="sng">
            <a:noFill/>
            <a:prstDash val="solid"/>
            <a:miter/>
          </a:ln>
        </p:spPr>
      </p:pic>
      <p:sp>
        <p:nvSpPr>
          <p:cNvPr id="303" name="Rectangle"/>
          <p:cNvSpPr>
            <a:spLocks/>
          </p:cNvSpPr>
          <p:nvPr/>
        </p:nvSpPr>
        <p:spPr>
          <a:xfrm>
            <a:off x="1508758" y="4069080"/>
            <a:ext cx="2468880" cy="5029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500" b="1" i="0" u="none" strike="noStrike" kern="1200" cap="none" spc="0" baseline="0">
                <a:solidFill>
                  <a:srgbClr val="1F2937"/>
                </a:solidFill>
                <a:latin typeface="Cambria" pitchFamily="34" charset="0"/>
                <a:ea typeface="Cambria" pitchFamily="34" charset="0"/>
                <a:cs typeface="Cambria" pitchFamily="34" charset="0"/>
              </a:rPr>
              <a:t>Cloud Security</a:t>
            </a:r>
            <a:endParaRPr lang="zh-CN" altLang="en-US" sz="1500" b="0" i="0" u="none" strike="noStrike" kern="1200" cap="none" spc="0" baseline="0">
              <a:solidFill>
                <a:schemeClr val="tx1"/>
              </a:solidFill>
              <a:latin typeface="Calibri" charset="0"/>
              <a:ea typeface="等线" charset="0"/>
              <a:cs typeface="Calibri" charset="0"/>
            </a:endParaRPr>
          </a:p>
        </p:txBody>
      </p:sp>
      <p:sp>
        <p:nvSpPr>
          <p:cNvPr id="304" name="Rectangle"/>
          <p:cNvSpPr>
            <a:spLocks/>
          </p:cNvSpPr>
          <p:nvPr/>
        </p:nvSpPr>
        <p:spPr>
          <a:xfrm>
            <a:off x="804672" y="4709160"/>
            <a:ext cx="3054095" cy="109727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150" b="0" i="0" u="none" strike="noStrike" kern="1200" cap="none" spc="0" baseline="0">
                <a:solidFill>
                  <a:srgbClr val="64748B"/>
                </a:solidFill>
                <a:latin typeface="Calibri" charset="0"/>
                <a:ea typeface="Calibri" charset="0"/>
                <a:cs typeface="Calibri" charset="0"/>
              </a:rPr>
              <a:t>Encrypting data at rest and in transit</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305" name="Rounded rectangle"/>
          <p:cNvSpPr>
            <a:spLocks/>
          </p:cNvSpPr>
          <p:nvPr/>
        </p:nvSpPr>
        <p:spPr>
          <a:xfrm>
            <a:off x="4297680" y="3794760"/>
            <a:ext cx="3566158" cy="2148840"/>
          </a:xfrm>
          <a:prstGeom prst="roundRect">
            <a:avLst>
              <a:gd name="adj" fmla="val 3402"/>
            </a:avLst>
          </a:prstGeom>
          <a:solidFill>
            <a:srgbClr val="F3F4F6"/>
          </a:solidFill>
          <a:ln w="12700" cap="flat" cmpd="sng">
            <a:noFill/>
            <a:prstDash val="solid"/>
            <a:miter/>
          </a:ln>
          <a:effectLst>
            <a:outerShdw blurRad="101600" dist="38100" dir="5400000" algn="bl" rotWithShape="0">
              <a:srgbClr val="1F2937">
                <a:alpha val="17647"/>
              </a:srgbClr>
            </a:outerShdw>
          </a:effectLst>
        </p:spPr>
      </p:sp>
      <p:sp>
        <p:nvSpPr>
          <p:cNvPr id="306" name="Oval"/>
          <p:cNvSpPr>
            <a:spLocks/>
          </p:cNvSpPr>
          <p:nvPr/>
        </p:nvSpPr>
        <p:spPr>
          <a:xfrm>
            <a:off x="4553712" y="4050792"/>
            <a:ext cx="548640" cy="548640"/>
          </a:xfrm>
          <a:prstGeom prst="ellipse">
            <a:avLst/>
          </a:prstGeom>
          <a:solidFill>
            <a:srgbClr val="2563EB"/>
          </a:solidFill>
          <a:ln w="12700" cap="flat" cmpd="sng">
            <a:noFill/>
            <a:prstDash val="solid"/>
            <a:miter/>
          </a:ln>
        </p:spPr>
      </p:sp>
      <p:pic>
        <p:nvPicPr>
          <p:cNvPr id="307" name="Image" descr="/home/claude/deck/assets/search.png"/>
          <p:cNvPicPr>
            <a:picLocks noChangeAspect="1"/>
          </p:cNvPicPr>
          <p:nvPr/>
        </p:nvPicPr>
        <p:blipFill>
          <a:blip r:embed="rId7" cstate="print"/>
          <a:stretch>
            <a:fillRect/>
          </a:stretch>
        </p:blipFill>
        <p:spPr>
          <a:xfrm>
            <a:off x="4677156" y="4174236"/>
            <a:ext cx="301750" cy="301751"/>
          </a:xfrm>
          <a:prstGeom prst="rect">
            <a:avLst/>
          </a:prstGeom>
          <a:noFill/>
          <a:ln w="12700" cap="flat" cmpd="sng">
            <a:noFill/>
            <a:prstDash val="solid"/>
            <a:miter/>
          </a:ln>
        </p:spPr>
      </p:pic>
      <p:sp>
        <p:nvSpPr>
          <p:cNvPr id="308" name="Rectangle"/>
          <p:cNvSpPr>
            <a:spLocks/>
          </p:cNvSpPr>
          <p:nvPr/>
        </p:nvSpPr>
        <p:spPr>
          <a:xfrm>
            <a:off x="5257800" y="4069080"/>
            <a:ext cx="2468880" cy="5029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500" b="1" i="0" u="none" strike="noStrike" kern="1200" cap="none" spc="0" baseline="0">
                <a:solidFill>
                  <a:srgbClr val="1F2937"/>
                </a:solidFill>
                <a:latin typeface="Cambria" pitchFamily="34" charset="0"/>
                <a:ea typeface="Cambria" pitchFamily="34" charset="0"/>
                <a:cs typeface="Cambria" pitchFamily="34" charset="0"/>
              </a:rPr>
              <a:t>Digital Forensics</a:t>
            </a:r>
            <a:endParaRPr lang="zh-CN" altLang="en-US" sz="1500" b="0" i="0" u="none" strike="noStrike" kern="1200" cap="none" spc="0" baseline="0">
              <a:solidFill>
                <a:schemeClr val="tx1"/>
              </a:solidFill>
              <a:latin typeface="Calibri" charset="0"/>
              <a:ea typeface="等线" charset="0"/>
              <a:cs typeface="Calibri" charset="0"/>
            </a:endParaRPr>
          </a:p>
        </p:txBody>
      </p:sp>
      <p:sp>
        <p:nvSpPr>
          <p:cNvPr id="309" name="Rectangle"/>
          <p:cNvSpPr>
            <a:spLocks/>
          </p:cNvSpPr>
          <p:nvPr/>
        </p:nvSpPr>
        <p:spPr>
          <a:xfrm>
            <a:off x="4553712" y="4709160"/>
            <a:ext cx="3054096" cy="109727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150" b="0" i="0" u="none" strike="noStrike" kern="1200" cap="none" spc="0" baseline="0">
                <a:solidFill>
                  <a:srgbClr val="64748B"/>
                </a:solidFill>
                <a:latin typeface="Calibri" charset="0"/>
                <a:ea typeface="Calibri" charset="0"/>
                <a:cs typeface="Calibri" charset="0"/>
              </a:rPr>
              <a:t>Detecting hidden/stego data in investigations</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310" name="Rounded rectangle"/>
          <p:cNvSpPr>
            <a:spLocks/>
          </p:cNvSpPr>
          <p:nvPr/>
        </p:nvSpPr>
        <p:spPr>
          <a:xfrm>
            <a:off x="8046719" y="3794760"/>
            <a:ext cx="3566160" cy="2148840"/>
          </a:xfrm>
          <a:prstGeom prst="roundRect">
            <a:avLst>
              <a:gd name="adj" fmla="val 3402"/>
            </a:avLst>
          </a:prstGeom>
          <a:solidFill>
            <a:srgbClr val="F3F4F6"/>
          </a:solidFill>
          <a:ln w="12700" cap="flat" cmpd="sng">
            <a:noFill/>
            <a:prstDash val="solid"/>
            <a:miter/>
          </a:ln>
          <a:effectLst>
            <a:outerShdw blurRad="101600" dist="38100" dir="5400000" algn="bl" rotWithShape="0">
              <a:srgbClr val="1F2937">
                <a:alpha val="17647"/>
              </a:srgbClr>
            </a:outerShdw>
          </a:effectLst>
        </p:spPr>
      </p:sp>
      <p:sp>
        <p:nvSpPr>
          <p:cNvPr id="311" name="Oval"/>
          <p:cNvSpPr>
            <a:spLocks/>
          </p:cNvSpPr>
          <p:nvPr/>
        </p:nvSpPr>
        <p:spPr>
          <a:xfrm>
            <a:off x="8302752" y="4050792"/>
            <a:ext cx="548640" cy="548640"/>
          </a:xfrm>
          <a:prstGeom prst="ellipse">
            <a:avLst/>
          </a:prstGeom>
          <a:solidFill>
            <a:srgbClr val="2563EB"/>
          </a:solidFill>
          <a:ln w="12700" cap="flat" cmpd="sng">
            <a:noFill/>
            <a:prstDash val="solid"/>
            <a:miter/>
          </a:ln>
        </p:spPr>
      </p:sp>
      <p:pic>
        <p:nvPicPr>
          <p:cNvPr id="312" name="Image" descr="/home/claude/deck/assets/ai_brain.png"/>
          <p:cNvPicPr>
            <a:picLocks noChangeAspect="1"/>
          </p:cNvPicPr>
          <p:nvPr/>
        </p:nvPicPr>
        <p:blipFill>
          <a:blip r:embed="rId8" cstate="print"/>
          <a:stretch>
            <a:fillRect/>
          </a:stretch>
        </p:blipFill>
        <p:spPr>
          <a:xfrm>
            <a:off x="8426196" y="4174236"/>
            <a:ext cx="301750" cy="301751"/>
          </a:xfrm>
          <a:prstGeom prst="rect">
            <a:avLst/>
          </a:prstGeom>
          <a:noFill/>
          <a:ln w="12700" cap="flat" cmpd="sng">
            <a:noFill/>
            <a:prstDash val="solid"/>
            <a:miter/>
          </a:ln>
        </p:spPr>
      </p:pic>
      <p:sp>
        <p:nvSpPr>
          <p:cNvPr id="313" name="Rectangle"/>
          <p:cNvSpPr>
            <a:spLocks/>
          </p:cNvSpPr>
          <p:nvPr/>
        </p:nvSpPr>
        <p:spPr>
          <a:xfrm>
            <a:off x="9006840" y="4069080"/>
            <a:ext cx="2468880" cy="5029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500" b="1" i="0" u="none" strike="noStrike" kern="1200" cap="none" spc="0" baseline="0">
                <a:solidFill>
                  <a:srgbClr val="1F2937"/>
                </a:solidFill>
                <a:latin typeface="Cambria" pitchFamily="34" charset="0"/>
                <a:ea typeface="Cambria" pitchFamily="34" charset="0"/>
                <a:cs typeface="Cambria" pitchFamily="34" charset="0"/>
              </a:rPr>
              <a:t>AI-Powered Security</a:t>
            </a:r>
            <a:endParaRPr lang="zh-CN" altLang="en-US" sz="1500" b="0" i="0" u="none" strike="noStrike" kern="1200" cap="none" spc="0" baseline="0">
              <a:solidFill>
                <a:schemeClr val="tx1"/>
              </a:solidFill>
              <a:latin typeface="Calibri" charset="0"/>
              <a:ea typeface="等线" charset="0"/>
              <a:cs typeface="Calibri" charset="0"/>
            </a:endParaRPr>
          </a:p>
        </p:txBody>
      </p:sp>
      <p:sp>
        <p:nvSpPr>
          <p:cNvPr id="314" name="Rectangle"/>
          <p:cNvSpPr>
            <a:spLocks/>
          </p:cNvSpPr>
          <p:nvPr/>
        </p:nvSpPr>
        <p:spPr>
          <a:xfrm>
            <a:off x="8302752" y="4709160"/>
            <a:ext cx="3054095" cy="1097279"/>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150" b="0" i="0" u="none" strike="noStrike" kern="1200" cap="none" spc="0" baseline="0">
                <a:solidFill>
                  <a:srgbClr val="64748B"/>
                </a:solidFill>
                <a:latin typeface="Calibri" charset="0"/>
                <a:ea typeface="Calibri" charset="0"/>
                <a:cs typeface="Calibri" charset="0"/>
              </a:rPr>
              <a:t>ML-based anomaly &amp; threat detection</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315" name="Rectangle"/>
          <p:cNvSpPr>
            <a:spLocks/>
          </p:cNvSpPr>
          <p:nvPr/>
        </p:nvSpPr>
        <p:spPr>
          <a:xfrm>
            <a:off x="548640" y="6528816"/>
            <a:ext cx="548640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charset="0"/>
                <a:ea typeface="Calibri" charset="0"/>
                <a:cs typeface="Calibri" charset="0"/>
              </a:rPr>
              <a:t>Cryptography &amp; Network Security</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316" name="Rectangle"/>
          <p:cNvSpPr>
            <a:spLocks/>
          </p:cNvSpPr>
          <p:nvPr/>
        </p:nvSpPr>
        <p:spPr>
          <a:xfrm>
            <a:off x="11338560" y="6528816"/>
            <a:ext cx="36576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charset="0"/>
                <a:ea typeface="Calibri" charset="0"/>
                <a:cs typeface="Calibri" charset="0"/>
              </a:rPr>
              <a:t>11</a:t>
            </a:r>
            <a:endParaRPr lang="zh-CN" altLang="en-US" sz="9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523817118"/>
      </p:ext>
    </p:extLst>
  </p:cSld>
  <p:clrMapOvr>
    <a:masterClrMapping/>
  </p:clrMapOvr>
  <p:transition spd="med">
    <p:fade/>
  </p:transition>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B1E3D"/>
        </a:solidFill>
        <a:effectLst/>
      </p:bgPr>
    </p:bg>
    <p:spTree>
      <p:nvGrpSpPr>
        <p:cNvPr id="1" name=""/>
        <p:cNvGrpSpPr/>
        <p:nvPr/>
      </p:nvGrpSpPr>
      <p:grpSpPr>
        <a:xfrm>
          <a:off x="0" y="0"/>
          <a:ext cx="0" cy="0"/>
          <a:chOff x="0" y="0"/>
          <a:chExt cx="0" cy="0"/>
        </a:xfrm>
      </p:grpSpPr>
      <p:sp>
        <p:nvSpPr>
          <p:cNvPr id="321" name="Rectangle"/>
          <p:cNvSpPr>
            <a:spLocks/>
          </p:cNvSpPr>
          <p:nvPr/>
        </p:nvSpPr>
        <p:spPr>
          <a:xfrm>
            <a:off x="548640" y="320040"/>
            <a:ext cx="7315200" cy="32004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0" cap="none" spc="200" baseline="0">
                <a:solidFill>
                  <a:srgbClr val="60A5FA"/>
                </a:solidFill>
                <a:latin typeface="Calibri" charset="0"/>
                <a:ea typeface="Calibri" charset="0"/>
                <a:cs typeface="Calibri" charset="0"/>
              </a:rPr>
              <a:t>SUMMARY</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322" name="Rectangle"/>
          <p:cNvSpPr>
            <a:spLocks/>
          </p:cNvSpPr>
          <p:nvPr/>
        </p:nvSpPr>
        <p:spPr>
          <a:xfrm>
            <a:off x="548640" y="566928"/>
            <a:ext cx="11064240" cy="7315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3200" b="1" i="0" u="none" strike="noStrike" kern="1200" cap="none" spc="0" baseline="0">
                <a:solidFill>
                  <a:srgbClr val="FFFFFF"/>
                </a:solidFill>
                <a:latin typeface="Cambria" pitchFamily="34" charset="0"/>
                <a:ea typeface="Cambria" pitchFamily="34" charset="0"/>
                <a:cs typeface="Cambria" pitchFamily="34" charset="0"/>
              </a:rPr>
              <a:t>Key Takeaways</a:t>
            </a:r>
            <a:endParaRPr lang="zh-CN" altLang="en-US" sz="3200" b="0" i="0" u="none" strike="noStrike" kern="1200" cap="none" spc="0" baseline="0">
              <a:solidFill>
                <a:schemeClr val="tx1"/>
              </a:solidFill>
              <a:latin typeface="Calibri" charset="0"/>
              <a:ea typeface="等线" charset="0"/>
              <a:cs typeface="Calibri" charset="0"/>
            </a:endParaRPr>
          </a:p>
        </p:txBody>
      </p:sp>
      <p:sp>
        <p:nvSpPr>
          <p:cNvPr id="323" name="Rectangle"/>
          <p:cNvSpPr>
            <a:spLocks/>
          </p:cNvSpPr>
          <p:nvPr/>
        </p:nvSpPr>
        <p:spPr>
          <a:xfrm>
            <a:off x="640080" y="1554480"/>
            <a:ext cx="10881359" cy="5029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342900" indent="-342900" algn="l">
              <a:lnSpc>
                <a:spcPct val="125000"/>
              </a:lnSpc>
              <a:spcBef>
                <a:spcPts val="0"/>
              </a:spcBef>
              <a:spcAft>
                <a:spcPts val="1584"/>
              </a:spcAft>
              <a:buClrTx/>
              <a:buChar char="▪"/>
            </a:pPr>
            <a:r>
              <a:rPr lang="en-US" altLang="zh-CN" sz="1650" b="0" i="0" u="none" strike="noStrike" kern="1200" cap="none" spc="0" baseline="0">
                <a:solidFill>
                  <a:srgbClr val="E5E7EB"/>
                </a:solidFill>
                <a:latin typeface="Calibri" charset="0"/>
                <a:ea typeface="Calibri" charset="0"/>
                <a:cs typeface="Calibri" charset="0"/>
              </a:rPr>
              <a:t>Security attacks are passive (eavesdropping) or active (modifying/disrupting data).</a:t>
            </a:r>
            <a:endParaRPr lang="en-US" altLang="zh-CN" sz="1650" b="0" i="0" u="none" strike="noStrike" kern="1200" cap="none" spc="0" baseline="0">
              <a:solidFill>
                <a:schemeClr val="tx1"/>
              </a:solidFill>
              <a:latin typeface="Calibri" charset="0"/>
              <a:ea typeface="等线" charset="0"/>
              <a:cs typeface="Calibri" charset="0"/>
            </a:endParaRPr>
          </a:p>
          <a:p>
            <a:pPr marL="342900" indent="-342900" algn="l">
              <a:lnSpc>
                <a:spcPct val="125000"/>
              </a:lnSpc>
              <a:spcBef>
                <a:spcPts val="0"/>
              </a:spcBef>
              <a:spcAft>
                <a:spcPts val="1584"/>
              </a:spcAft>
              <a:buClrTx/>
              <a:buChar char="▪"/>
            </a:pPr>
            <a:r>
              <a:rPr lang="en-US" altLang="zh-CN" sz="1650" b="0" i="0" u="none" strike="noStrike" kern="1200" cap="none" spc="0" baseline="0">
                <a:solidFill>
                  <a:srgbClr val="E5E7EB"/>
                </a:solidFill>
                <a:latin typeface="Calibri" charset="0"/>
                <a:ea typeface="Calibri" charset="0"/>
                <a:cs typeface="Calibri" charset="0"/>
              </a:rPr>
              <a:t>The CIA Triad — Confidentiality, Integrity, Availability — plus Authentication and Non-Repudiation form the core security goals.</a:t>
            </a:r>
            <a:endParaRPr lang="en-US" altLang="zh-CN" sz="1650" b="0" i="0" u="none" strike="noStrike" kern="1200" cap="none" spc="0" baseline="0">
              <a:solidFill>
                <a:schemeClr val="tx1"/>
              </a:solidFill>
              <a:latin typeface="Calibri" charset="0"/>
              <a:ea typeface="等线" charset="0"/>
              <a:cs typeface="Calibri" charset="0"/>
            </a:endParaRPr>
          </a:p>
          <a:p>
            <a:pPr marL="342900" indent="-342900" algn="l">
              <a:lnSpc>
                <a:spcPct val="125000"/>
              </a:lnSpc>
              <a:spcBef>
                <a:spcPts val="0"/>
              </a:spcBef>
              <a:spcAft>
                <a:spcPts val="1584"/>
              </a:spcAft>
              <a:buClrTx/>
              <a:buChar char="▪"/>
            </a:pPr>
            <a:r>
              <a:rPr lang="en-US" altLang="zh-CN" sz="1650" b="0" i="0" u="none" strike="noStrike" kern="1200" cap="none" spc="0" baseline="0">
                <a:solidFill>
                  <a:srgbClr val="E5E7EB"/>
                </a:solidFill>
                <a:latin typeface="Calibri" charset="0"/>
                <a:ea typeface="Calibri" charset="0"/>
                <a:cs typeface="Calibri" charset="0"/>
              </a:rPr>
              <a:t>Prevention combines encryption, firewalls, IDS/IPS, and multi-factor authentication.</a:t>
            </a:r>
            <a:endParaRPr lang="en-US" altLang="zh-CN" sz="1650" b="0" i="0" u="none" strike="noStrike" kern="1200" cap="none" spc="0" baseline="0">
              <a:solidFill>
                <a:schemeClr val="tx1"/>
              </a:solidFill>
              <a:latin typeface="Calibri" charset="0"/>
              <a:ea typeface="等线" charset="0"/>
              <a:cs typeface="Calibri" charset="0"/>
            </a:endParaRPr>
          </a:p>
          <a:p>
            <a:pPr marL="342900" indent="-342900" algn="l">
              <a:lnSpc>
                <a:spcPct val="125000"/>
              </a:lnSpc>
              <a:spcBef>
                <a:spcPts val="0"/>
              </a:spcBef>
              <a:spcAft>
                <a:spcPts val="1584"/>
              </a:spcAft>
              <a:buClrTx/>
              <a:buChar char="▪"/>
            </a:pPr>
            <a:r>
              <a:rPr lang="en-US" altLang="zh-CN" sz="1650" b="0" i="0" u="none" strike="noStrike" kern="1200" cap="none" spc="0" baseline="0">
                <a:solidFill>
                  <a:srgbClr val="E5E7EB"/>
                </a:solidFill>
                <a:latin typeface="Calibri" charset="0"/>
                <a:ea typeface="Calibri" charset="0"/>
                <a:cs typeface="Calibri" charset="0"/>
              </a:rPr>
              <a:t>Cryptography scrambles data; steganography hides its existence — both serve complementary security roles.</a:t>
            </a:r>
            <a:endParaRPr lang="en-US" altLang="zh-CN" sz="1650" b="0" i="0" u="none" strike="noStrike" kern="1200" cap="none" spc="0" baseline="0">
              <a:solidFill>
                <a:schemeClr val="tx1"/>
              </a:solidFill>
              <a:latin typeface="Calibri" charset="0"/>
              <a:ea typeface="等线" charset="0"/>
              <a:cs typeface="Calibri" charset="0"/>
            </a:endParaRPr>
          </a:p>
          <a:p>
            <a:pPr marL="342900" indent="-342900" algn="l">
              <a:lnSpc>
                <a:spcPct val="125000"/>
              </a:lnSpc>
              <a:spcBef>
                <a:spcPts val="0"/>
              </a:spcBef>
              <a:spcAft>
                <a:spcPts val="1584"/>
              </a:spcAft>
              <a:buClrTx/>
              <a:buChar char="▪"/>
            </a:pPr>
            <a:r>
              <a:rPr lang="en-US" altLang="zh-CN" sz="1650" b="0" i="0" u="none" strike="noStrike" kern="1200" cap="none" spc="0" baseline="0">
                <a:solidFill>
                  <a:srgbClr val="E5E7EB"/>
                </a:solidFill>
                <a:latin typeface="Calibri" charset="0"/>
                <a:ea typeface="Calibri" charset="0"/>
                <a:cs typeface="Calibri" charset="0"/>
              </a:rPr>
              <a:t>Symmetric and asymmetric encryption each solve different real-world trade-offs of speed vs. key distribution.</a:t>
            </a:r>
            <a:endParaRPr lang="en-US" altLang="zh-CN" sz="1650" b="0" i="0" u="none" strike="noStrike" kern="1200" cap="none" spc="0" baseline="0">
              <a:solidFill>
                <a:schemeClr val="tx1"/>
              </a:solidFill>
              <a:latin typeface="Calibri" charset="0"/>
              <a:ea typeface="等线" charset="0"/>
              <a:cs typeface="Calibri" charset="0"/>
            </a:endParaRPr>
          </a:p>
          <a:p>
            <a:pPr marL="342900" indent="-342900" algn="l">
              <a:lnSpc>
                <a:spcPct val="125000"/>
              </a:lnSpc>
              <a:spcBef>
                <a:spcPts val="0"/>
              </a:spcBef>
              <a:spcAft>
                <a:spcPts val="1584"/>
              </a:spcAft>
              <a:buClrTx/>
              <a:buChar char="▪"/>
            </a:pPr>
            <a:r>
              <a:rPr lang="en-US" altLang="zh-CN" sz="1650" b="0" i="0" u="none" strike="noStrike" kern="1200" cap="none" spc="0" baseline="0">
                <a:solidFill>
                  <a:srgbClr val="E5E7EB"/>
                </a:solidFill>
                <a:latin typeface="Calibri" charset="0"/>
                <a:ea typeface="Calibri" charset="0"/>
                <a:cs typeface="Calibri" charset="0"/>
              </a:rPr>
              <a:t>Combining cryptography with steganography provides layered, real-world-ready digital protection.</a:t>
            </a:r>
            <a:endParaRPr lang="zh-CN" altLang="en-US" sz="1650" b="0" i="0" u="none" strike="noStrike" kern="1200" cap="none" spc="0" baseline="0">
              <a:solidFill>
                <a:schemeClr val="tx1"/>
              </a:solidFill>
              <a:latin typeface="Calibri" charset="0"/>
              <a:ea typeface="等线" charset="0"/>
              <a:cs typeface="Calibri" charset="0"/>
            </a:endParaRPr>
          </a:p>
        </p:txBody>
      </p:sp>
      <p:sp>
        <p:nvSpPr>
          <p:cNvPr id="324" name="Rectangle"/>
          <p:cNvSpPr>
            <a:spLocks/>
          </p:cNvSpPr>
          <p:nvPr/>
        </p:nvSpPr>
        <p:spPr>
          <a:xfrm>
            <a:off x="548640" y="6528816"/>
            <a:ext cx="548640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900" b="0" i="1" u="none" strike="noStrike" kern="1200" cap="none" spc="0" baseline="0">
                <a:solidFill>
                  <a:srgbClr val="8FA3C4"/>
                </a:solidFill>
                <a:latin typeface="Calibri" charset="0"/>
                <a:ea typeface="Calibri" charset="0"/>
                <a:cs typeface="Calibri" charset="0"/>
              </a:rPr>
              <a:t>Cryptography &amp; Network Security</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325" name="Rectangle"/>
          <p:cNvSpPr>
            <a:spLocks/>
          </p:cNvSpPr>
          <p:nvPr/>
        </p:nvSpPr>
        <p:spPr>
          <a:xfrm>
            <a:off x="11338560" y="6528816"/>
            <a:ext cx="36576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r>
              <a:rPr lang="en-US" altLang="zh-CN" sz="900" b="0" i="0" u="none" strike="noStrike" kern="1200" cap="none" spc="0" baseline="0">
                <a:solidFill>
                  <a:srgbClr val="8FA3C4"/>
                </a:solidFill>
                <a:latin typeface="Calibri" charset="0"/>
                <a:ea typeface="Calibri" charset="0"/>
                <a:cs typeface="Calibri" charset="0"/>
              </a:rPr>
              <a:t>12</a:t>
            </a:r>
            <a:endParaRPr lang="zh-CN" altLang="en-US" sz="9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690709325"/>
      </p:ext>
    </p:extLst>
  </p:cSld>
  <p:clrMapOvr>
    <a:masterClrMapping/>
  </p:clrMapOvr>
  <p:transition spd="med">
    <p:fade/>
  </p:transition>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0" name="Rectangle"/>
          <p:cNvSpPr>
            <a:spLocks/>
          </p:cNvSpPr>
          <p:nvPr/>
        </p:nvSpPr>
        <p:spPr>
          <a:xfrm>
            <a:off x="548640" y="320040"/>
            <a:ext cx="7315200" cy="32004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charset="0"/>
                <a:ea typeface="Calibri" charset="0"/>
                <a:cs typeface="Calibri" charset="0"/>
              </a:rPr>
              <a:t>SUMMARY</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331" name="Rectangle"/>
          <p:cNvSpPr>
            <a:spLocks/>
          </p:cNvSpPr>
          <p:nvPr/>
        </p:nvSpPr>
        <p:spPr>
          <a:xfrm>
            <a:off x="548640" y="566928"/>
            <a:ext cx="11064240" cy="7315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Conclusion</a:t>
            </a:r>
            <a:endParaRPr lang="zh-CN" altLang="en-US" sz="3200" b="0" i="0" u="none" strike="noStrike" kern="1200" cap="none" spc="0" baseline="0">
              <a:solidFill>
                <a:schemeClr val="tx1"/>
              </a:solidFill>
              <a:latin typeface="Calibri" charset="0"/>
              <a:ea typeface="等线" charset="0"/>
              <a:cs typeface="Calibri" charset="0"/>
            </a:endParaRPr>
          </a:p>
        </p:txBody>
      </p:sp>
      <p:sp>
        <p:nvSpPr>
          <p:cNvPr id="332" name="Rectangle"/>
          <p:cNvSpPr>
            <a:spLocks/>
          </p:cNvSpPr>
          <p:nvPr/>
        </p:nvSpPr>
        <p:spPr>
          <a:xfrm>
            <a:off x="640080" y="1554480"/>
            <a:ext cx="6675120" cy="50292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342900" indent="-342900" algn="l">
              <a:lnSpc>
                <a:spcPct val="115000"/>
              </a:lnSpc>
              <a:spcBef>
                <a:spcPts val="0"/>
              </a:spcBef>
              <a:spcAft>
                <a:spcPts val="1440"/>
              </a:spcAft>
              <a:buClrTx/>
              <a:buChar char="▪"/>
            </a:pPr>
            <a:r>
              <a:rPr lang="en-US" altLang="zh-CN" sz="1550" b="0" i="0" u="none" strike="noStrike" kern="1200" cap="none" spc="0" baseline="0">
                <a:solidFill>
                  <a:srgbClr val="1F2937"/>
                </a:solidFill>
                <a:latin typeface="Calibri" charset="0"/>
                <a:ea typeface="Calibri" charset="0"/>
                <a:cs typeface="Calibri" charset="0"/>
              </a:rPr>
              <a:t>Modern digital systems face constant, evolving security attacks and risks.</a:t>
            </a:r>
            <a:endParaRPr lang="en-US" altLang="zh-CN" sz="155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1440"/>
              </a:spcAft>
              <a:buClrTx/>
              <a:buChar char="▪"/>
            </a:pPr>
            <a:r>
              <a:rPr lang="en-US" altLang="zh-CN" sz="1550" b="0" i="0" u="none" strike="noStrike" kern="1200" cap="none" spc="0" baseline="0">
                <a:solidFill>
                  <a:srgbClr val="1F2937"/>
                </a:solidFill>
                <a:latin typeface="Calibri" charset="0"/>
                <a:ea typeface="Calibri" charset="0"/>
                <a:cs typeface="Calibri" charset="0"/>
              </a:rPr>
              <a:t>Understanding CIA Triad goals guides effective defense design.</a:t>
            </a:r>
            <a:endParaRPr lang="en-US" altLang="zh-CN" sz="155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1440"/>
              </a:spcAft>
              <a:buClrTx/>
              <a:buChar char="▪"/>
            </a:pPr>
            <a:r>
              <a:rPr lang="en-US" altLang="zh-CN" sz="1550" b="0" i="0" u="none" strike="noStrike" kern="1200" cap="none" spc="0" baseline="0">
                <a:solidFill>
                  <a:srgbClr val="1F2937"/>
                </a:solidFill>
                <a:latin typeface="Calibri" charset="0"/>
                <a:ea typeface="Calibri" charset="0"/>
                <a:cs typeface="Calibri" charset="0"/>
              </a:rPr>
              <a:t>Cryptography and Steganography offer two distinct, complementary approaches to protecting information.</a:t>
            </a:r>
            <a:endParaRPr lang="en-US" altLang="zh-CN" sz="155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1440"/>
              </a:spcAft>
              <a:buClrTx/>
              <a:buChar char="▪"/>
            </a:pPr>
            <a:r>
              <a:rPr lang="en-US" altLang="zh-CN" sz="1550" b="0" i="0" u="none" strike="noStrike" kern="1200" cap="none" spc="0" baseline="0">
                <a:solidFill>
                  <a:srgbClr val="1F2937"/>
                </a:solidFill>
                <a:latin typeface="Calibri" charset="0"/>
                <a:ea typeface="Calibri" charset="0"/>
                <a:cs typeface="Calibri" charset="0"/>
              </a:rPr>
              <a:t>Real-world case studies (e.g., WannaCry) prove prevention techniques are non-negotiable.</a:t>
            </a:r>
            <a:endParaRPr lang="en-US" altLang="zh-CN" sz="1550" b="0" i="0" u="none" strike="noStrike" kern="1200" cap="none" spc="0" baseline="0">
              <a:solidFill>
                <a:schemeClr val="tx1"/>
              </a:solidFill>
              <a:latin typeface="Calibri" charset="0"/>
              <a:ea typeface="等线" charset="0"/>
              <a:cs typeface="Calibri" charset="0"/>
            </a:endParaRPr>
          </a:p>
          <a:p>
            <a:pPr marL="342900" indent="-342900" algn="l">
              <a:lnSpc>
                <a:spcPct val="115000"/>
              </a:lnSpc>
              <a:spcBef>
                <a:spcPts val="0"/>
              </a:spcBef>
              <a:spcAft>
                <a:spcPts val="1440"/>
              </a:spcAft>
              <a:buClrTx/>
              <a:buChar char="▪"/>
            </a:pPr>
            <a:r>
              <a:rPr lang="en-US" altLang="zh-CN" sz="1550" b="0" i="0" u="none" strike="noStrike" kern="1200" cap="none" spc="0" baseline="0">
                <a:solidFill>
                  <a:srgbClr val="1F2937"/>
                </a:solidFill>
                <a:latin typeface="Calibri" charset="0"/>
                <a:ea typeface="Calibri" charset="0"/>
                <a:cs typeface="Calibri" charset="0"/>
              </a:rPr>
              <a:t>Future security will increasingly integrate AI-driven detection with classical cryptographic foundations.</a:t>
            </a:r>
            <a:endParaRPr lang="zh-CN" altLang="en-US" sz="1550" b="0" i="0" u="none" strike="noStrike" kern="1200" cap="none" spc="0" baseline="0">
              <a:solidFill>
                <a:schemeClr val="tx1"/>
              </a:solidFill>
              <a:latin typeface="Calibri" charset="0"/>
              <a:ea typeface="等线" charset="0"/>
              <a:cs typeface="Calibri" charset="0"/>
            </a:endParaRPr>
          </a:p>
        </p:txBody>
      </p:sp>
      <p:sp>
        <p:nvSpPr>
          <p:cNvPr id="333" name="Oval"/>
          <p:cNvSpPr>
            <a:spLocks/>
          </p:cNvSpPr>
          <p:nvPr/>
        </p:nvSpPr>
        <p:spPr>
          <a:xfrm>
            <a:off x="8229600" y="2103120"/>
            <a:ext cx="2926078" cy="2926080"/>
          </a:xfrm>
          <a:prstGeom prst="ellipse">
            <a:avLst/>
          </a:prstGeom>
          <a:solidFill>
            <a:srgbClr val="E8F0FE"/>
          </a:solidFill>
          <a:ln w="12700" cap="flat" cmpd="sng">
            <a:noFill/>
            <a:prstDash val="solid"/>
            <a:miter/>
          </a:ln>
        </p:spPr>
      </p:sp>
      <p:sp>
        <p:nvSpPr>
          <p:cNvPr id="334" name="Oval"/>
          <p:cNvSpPr>
            <a:spLocks/>
          </p:cNvSpPr>
          <p:nvPr/>
        </p:nvSpPr>
        <p:spPr>
          <a:xfrm>
            <a:off x="9006840" y="2880360"/>
            <a:ext cx="1371600" cy="1371600"/>
          </a:xfrm>
          <a:prstGeom prst="ellipse">
            <a:avLst/>
          </a:prstGeom>
          <a:solidFill>
            <a:srgbClr val="2563EB"/>
          </a:solidFill>
          <a:ln w="12700" cap="flat" cmpd="sng">
            <a:noFill/>
            <a:prstDash val="solid"/>
            <a:miter/>
          </a:ln>
        </p:spPr>
      </p:sp>
      <p:pic>
        <p:nvPicPr>
          <p:cNvPr id="335" name="Image" descr="/home/claude/deck/assets/shield_check.png"/>
          <p:cNvPicPr>
            <a:picLocks noChangeAspect="1"/>
          </p:cNvPicPr>
          <p:nvPr/>
        </p:nvPicPr>
        <p:blipFill>
          <a:blip r:embed="rId3" cstate="print"/>
          <a:stretch>
            <a:fillRect/>
          </a:stretch>
        </p:blipFill>
        <p:spPr>
          <a:xfrm>
            <a:off x="9315450" y="3188970"/>
            <a:ext cx="754378" cy="754379"/>
          </a:xfrm>
          <a:prstGeom prst="rect">
            <a:avLst/>
          </a:prstGeom>
          <a:noFill/>
          <a:ln w="12700" cap="flat" cmpd="sng">
            <a:noFill/>
            <a:prstDash val="solid"/>
            <a:miter/>
          </a:ln>
        </p:spPr>
      </p:pic>
      <p:sp>
        <p:nvSpPr>
          <p:cNvPr id="336" name="Rectangle"/>
          <p:cNvSpPr>
            <a:spLocks/>
          </p:cNvSpPr>
          <p:nvPr/>
        </p:nvSpPr>
        <p:spPr>
          <a:xfrm>
            <a:off x="7955280" y="4480560"/>
            <a:ext cx="3474720" cy="822958"/>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250" b="1" i="1" u="none" strike="noStrike" kern="1200" cap="none" spc="0" baseline="0">
                <a:solidFill>
                  <a:srgbClr val="1F2937"/>
                </a:solidFill>
                <a:latin typeface="Calibri" charset="0"/>
                <a:ea typeface="Calibri" charset="0"/>
                <a:cs typeface="Calibri" charset="0"/>
              </a:rPr>
              <a:t>Security is a</a:t>
            </a:r>
            <a:endParaRPr lang="en-US" altLang="zh-CN" sz="1250" b="0" i="0" u="none" strike="noStrike" kern="1200" cap="none" spc="0" baseline="0">
              <a:solidFill>
                <a:schemeClr val="tx1"/>
              </a:solidFill>
              <a:latin typeface="Calibri" charset="0"/>
              <a:ea typeface="等线" charset="0"/>
              <a:cs typeface="Calibri" charset="0"/>
            </a:endParaRPr>
          </a:p>
          <a:p>
            <a:pPr marL="0" indent="0" algn="ctr">
              <a:lnSpc>
                <a:spcPct val="100000"/>
              </a:lnSpc>
              <a:spcBef>
                <a:spcPts val="0"/>
              </a:spcBef>
              <a:spcAft>
                <a:spcPts val="0"/>
              </a:spcAft>
              <a:buNone/>
            </a:pPr>
            <a:r>
              <a:rPr lang="en-US" altLang="zh-CN" sz="1250" b="1" i="1" u="none" strike="noStrike" kern="1200" cap="none" spc="0" baseline="0">
                <a:solidFill>
                  <a:srgbClr val="1F2937"/>
                </a:solidFill>
                <a:latin typeface="Calibri" charset="0"/>
                <a:ea typeface="Calibri" charset="0"/>
                <a:cs typeface="Calibri" charset="0"/>
              </a:rPr>
              <a:t>Continuous Process,</a:t>
            </a:r>
            <a:endParaRPr lang="en-US" altLang="zh-CN" sz="1250" b="0" i="0" u="none" strike="noStrike" kern="1200" cap="none" spc="0" baseline="0">
              <a:solidFill>
                <a:schemeClr val="tx1"/>
              </a:solidFill>
              <a:latin typeface="Calibri" charset="0"/>
              <a:ea typeface="等线" charset="0"/>
              <a:cs typeface="Calibri" charset="0"/>
            </a:endParaRPr>
          </a:p>
          <a:p>
            <a:pPr marL="0" indent="0" algn="ctr">
              <a:lnSpc>
                <a:spcPct val="100000"/>
              </a:lnSpc>
              <a:spcBef>
                <a:spcPts val="0"/>
              </a:spcBef>
              <a:spcAft>
                <a:spcPts val="0"/>
              </a:spcAft>
              <a:buNone/>
            </a:pPr>
            <a:r>
              <a:rPr lang="en-US" altLang="zh-CN" sz="1250" b="1" i="1" u="none" strike="noStrike" kern="1200" cap="none" spc="0" baseline="0">
                <a:solidFill>
                  <a:srgbClr val="1F2937"/>
                </a:solidFill>
                <a:latin typeface="Calibri" charset="0"/>
                <a:ea typeface="Calibri" charset="0"/>
                <a:cs typeface="Calibri" charset="0"/>
              </a:rPr>
              <a:t>not a Product</a:t>
            </a:r>
            <a:endParaRPr lang="zh-CN" altLang="en-US" sz="1250" b="0" i="0" u="none" strike="noStrike" kern="1200" cap="none" spc="0" baseline="0">
              <a:solidFill>
                <a:schemeClr val="tx1"/>
              </a:solidFill>
              <a:latin typeface="Calibri" charset="0"/>
              <a:ea typeface="等线" charset="0"/>
              <a:cs typeface="Calibri" charset="0"/>
            </a:endParaRPr>
          </a:p>
        </p:txBody>
      </p:sp>
      <p:sp>
        <p:nvSpPr>
          <p:cNvPr id="337" name="Rectangle"/>
          <p:cNvSpPr>
            <a:spLocks/>
          </p:cNvSpPr>
          <p:nvPr/>
        </p:nvSpPr>
        <p:spPr>
          <a:xfrm>
            <a:off x="548640" y="6528816"/>
            <a:ext cx="548640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charset="0"/>
                <a:ea typeface="Calibri" charset="0"/>
                <a:cs typeface="Calibri" charset="0"/>
              </a:rPr>
              <a:t>Cryptography &amp; Network Security</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338" name="Rectangle"/>
          <p:cNvSpPr>
            <a:spLocks/>
          </p:cNvSpPr>
          <p:nvPr/>
        </p:nvSpPr>
        <p:spPr>
          <a:xfrm>
            <a:off x="11338560" y="6528816"/>
            <a:ext cx="36576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charset="0"/>
                <a:ea typeface="Calibri" charset="0"/>
                <a:cs typeface="Calibri" charset="0"/>
              </a:rPr>
              <a:t>13</a:t>
            </a:r>
            <a:endParaRPr lang="zh-CN" altLang="en-US" sz="9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1357920820"/>
      </p:ext>
    </p:extLst>
  </p:cSld>
  <p:clrMapOvr>
    <a:masterClrMapping/>
  </p:clrMapOvr>
  <p:transition spd="med">
    <p:fade/>
  </p:transition>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3" name="Rectangle"/>
          <p:cNvSpPr>
            <a:spLocks/>
          </p:cNvSpPr>
          <p:nvPr/>
        </p:nvSpPr>
        <p:spPr>
          <a:xfrm>
            <a:off x="548640" y="320040"/>
            <a:ext cx="7315200" cy="32004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0" cap="none" spc="200" baseline="0">
                <a:solidFill>
                  <a:srgbClr val="2563EB"/>
                </a:solidFill>
                <a:latin typeface="Calibri" charset="0"/>
                <a:ea typeface="Calibri" charset="0"/>
                <a:cs typeface="Calibri" charset="0"/>
              </a:rPr>
              <a:t>REFERENCES</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344" name="Rectangle"/>
          <p:cNvSpPr>
            <a:spLocks/>
          </p:cNvSpPr>
          <p:nvPr/>
        </p:nvSpPr>
        <p:spPr>
          <a:xfrm>
            <a:off x="548640" y="566928"/>
            <a:ext cx="11064240" cy="73152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3200" b="1" i="0" u="none" strike="noStrike" kern="1200" cap="none" spc="0" baseline="0">
                <a:solidFill>
                  <a:srgbClr val="1F2937"/>
                </a:solidFill>
                <a:latin typeface="Cambria" pitchFamily="34" charset="0"/>
                <a:ea typeface="Cambria" pitchFamily="34" charset="0"/>
                <a:cs typeface="Cambria" pitchFamily="34" charset="0"/>
              </a:rPr>
              <a:t>References (IEEE / APA)</a:t>
            </a:r>
            <a:endParaRPr lang="zh-CN" altLang="en-US" sz="3200" b="0" i="0" u="none" strike="noStrike" kern="1200" cap="none" spc="0" baseline="0">
              <a:solidFill>
                <a:schemeClr val="tx1"/>
              </a:solidFill>
              <a:latin typeface="Calibri" charset="0"/>
              <a:ea typeface="等线" charset="0"/>
              <a:cs typeface="Calibri" charset="0"/>
            </a:endParaRPr>
          </a:p>
        </p:txBody>
      </p:sp>
      <p:sp>
        <p:nvSpPr>
          <p:cNvPr id="345" name="Rectangle"/>
          <p:cNvSpPr>
            <a:spLocks/>
          </p:cNvSpPr>
          <p:nvPr/>
        </p:nvSpPr>
        <p:spPr>
          <a:xfrm>
            <a:off x="640080" y="1463040"/>
            <a:ext cx="10881359" cy="475488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l">
              <a:lnSpc>
                <a:spcPct val="120000"/>
              </a:lnSpc>
              <a:spcBef>
                <a:spcPts val="0"/>
              </a:spcBef>
              <a:spcAft>
                <a:spcPts val="1200"/>
              </a:spcAft>
              <a:buNone/>
            </a:pPr>
            <a:r>
              <a:rPr lang="en-US" altLang="zh-CN" sz="1250" b="0" i="0" u="none" strike="noStrike" kern="1200" cap="none" spc="0" baseline="0">
                <a:solidFill>
                  <a:srgbClr val="1F2937"/>
                </a:solidFill>
                <a:latin typeface="Calibri" charset="0"/>
                <a:ea typeface="Calibri" charset="0"/>
                <a:cs typeface="Calibri" charset="0"/>
              </a:rPr>
              <a:t>[1] W. Stallings, Cryptography and Network Security: Principles and Practice, 8th ed. Pearson, 2020.</a:t>
            </a:r>
            <a:endParaRPr lang="en-US" altLang="zh-CN" sz="1250" b="0" i="0" u="none" strike="noStrike" kern="1200" cap="none" spc="0" baseline="0">
              <a:solidFill>
                <a:schemeClr val="tx1"/>
              </a:solidFill>
              <a:latin typeface="Calibri" charset="0"/>
              <a:ea typeface="等线" charset="0"/>
              <a:cs typeface="Calibri" charset="0"/>
            </a:endParaRPr>
          </a:p>
          <a:p>
            <a:pPr marL="0" indent="0" algn="l">
              <a:lnSpc>
                <a:spcPct val="120000"/>
              </a:lnSpc>
              <a:spcBef>
                <a:spcPts val="0"/>
              </a:spcBef>
              <a:spcAft>
                <a:spcPts val="1200"/>
              </a:spcAft>
              <a:buNone/>
            </a:pPr>
            <a:r>
              <a:rPr lang="en-US" altLang="zh-CN" sz="1250" b="0" i="0" u="none" strike="noStrike" kern="1200" cap="none" spc="0" baseline="0">
                <a:solidFill>
                  <a:srgbClr val="1F2937"/>
                </a:solidFill>
                <a:latin typeface="Calibri" charset="0"/>
                <a:ea typeface="Calibri" charset="0"/>
                <a:cs typeface="Calibri" charset="0"/>
              </a:rPr>
              <a:t>[2] National Institute of Standards and Technology (NIST), "Guide to General Server Security," NIST SP 800-123, 2023. Available: https://csrc.nist.gov</a:t>
            </a:r>
            <a:endParaRPr lang="en-US" altLang="zh-CN" sz="1250" b="0" i="0" u="none" strike="noStrike" kern="1200" cap="none" spc="0" baseline="0">
              <a:solidFill>
                <a:schemeClr val="tx1"/>
              </a:solidFill>
              <a:latin typeface="Calibri" charset="0"/>
              <a:ea typeface="等线" charset="0"/>
              <a:cs typeface="Calibri" charset="0"/>
            </a:endParaRPr>
          </a:p>
          <a:p>
            <a:pPr marL="0" indent="0" algn="l">
              <a:lnSpc>
                <a:spcPct val="120000"/>
              </a:lnSpc>
              <a:spcBef>
                <a:spcPts val="0"/>
              </a:spcBef>
              <a:spcAft>
                <a:spcPts val="1200"/>
              </a:spcAft>
              <a:buNone/>
            </a:pPr>
            <a:r>
              <a:rPr lang="en-US" altLang="zh-CN" sz="1250" b="0" i="0" u="none" strike="noStrike" kern="1200" cap="none" spc="0" baseline="0">
                <a:solidFill>
                  <a:srgbClr val="1F2937"/>
                </a:solidFill>
                <a:latin typeface="Calibri" charset="0"/>
                <a:ea typeface="Calibri" charset="0"/>
                <a:cs typeface="Calibri" charset="0"/>
              </a:rPr>
              <a:t>[3] National Institute of Standards and Technology (NIST), "Digital Signature Standard (DSS)," FIPS PUB 186-5, 2023.</a:t>
            </a:r>
            <a:endParaRPr lang="en-US" altLang="zh-CN" sz="1250" b="0" i="0" u="none" strike="noStrike" kern="1200" cap="none" spc="0" baseline="0">
              <a:solidFill>
                <a:schemeClr val="tx1"/>
              </a:solidFill>
              <a:latin typeface="Calibri" charset="0"/>
              <a:ea typeface="等线" charset="0"/>
              <a:cs typeface="Calibri" charset="0"/>
            </a:endParaRPr>
          </a:p>
          <a:p>
            <a:pPr marL="0" indent="0" algn="l">
              <a:lnSpc>
                <a:spcPct val="120000"/>
              </a:lnSpc>
              <a:spcBef>
                <a:spcPts val="0"/>
              </a:spcBef>
              <a:spcAft>
                <a:spcPts val="1200"/>
              </a:spcAft>
              <a:buNone/>
            </a:pPr>
            <a:r>
              <a:rPr lang="en-US" altLang="zh-CN" sz="1250" b="0" i="0" u="none" strike="noStrike" kern="1200" cap="none" spc="0" baseline="0">
                <a:solidFill>
                  <a:srgbClr val="1F2937"/>
                </a:solidFill>
                <a:latin typeface="Calibri" charset="0"/>
                <a:ea typeface="Calibri" charset="0"/>
                <a:cs typeface="Calibri" charset="0"/>
              </a:rPr>
              <a:t>[4] Microsoft Learn, "Cryptography Overview and Best Practices," Microsoft Docs, 2024. Available: https://learn.microsoft.com</a:t>
            </a:r>
            <a:endParaRPr lang="en-US" altLang="zh-CN" sz="1250" b="0" i="0" u="none" strike="noStrike" kern="1200" cap="none" spc="0" baseline="0">
              <a:solidFill>
                <a:schemeClr val="tx1"/>
              </a:solidFill>
              <a:latin typeface="Calibri" charset="0"/>
              <a:ea typeface="等线" charset="0"/>
              <a:cs typeface="Calibri" charset="0"/>
            </a:endParaRPr>
          </a:p>
          <a:p>
            <a:pPr marL="0" indent="0" algn="l">
              <a:lnSpc>
                <a:spcPct val="120000"/>
              </a:lnSpc>
              <a:spcBef>
                <a:spcPts val="0"/>
              </a:spcBef>
              <a:spcAft>
                <a:spcPts val="1200"/>
              </a:spcAft>
              <a:buNone/>
            </a:pPr>
            <a:r>
              <a:rPr lang="en-US" altLang="zh-CN" sz="1250" b="0" i="0" u="none" strike="noStrike" kern="1200" cap="none" spc="0" baseline="0">
                <a:solidFill>
                  <a:srgbClr val="1F2937"/>
                </a:solidFill>
                <a:latin typeface="Calibri" charset="0"/>
                <a:ea typeface="Calibri" charset="0"/>
                <a:cs typeface="Calibri" charset="0"/>
              </a:rPr>
              <a:t>[5] IEEE, "IEEE Transactions on Information Forensics and Security," IEEE Xplore Digital Library, 2024.</a:t>
            </a:r>
            <a:endParaRPr lang="en-US" altLang="zh-CN" sz="1250" b="0" i="0" u="none" strike="noStrike" kern="1200" cap="none" spc="0" baseline="0">
              <a:solidFill>
                <a:schemeClr val="tx1"/>
              </a:solidFill>
              <a:latin typeface="Calibri" charset="0"/>
              <a:ea typeface="等线" charset="0"/>
              <a:cs typeface="Calibri" charset="0"/>
            </a:endParaRPr>
          </a:p>
          <a:p>
            <a:pPr marL="0" indent="0" algn="l">
              <a:lnSpc>
                <a:spcPct val="120000"/>
              </a:lnSpc>
              <a:spcBef>
                <a:spcPts val="0"/>
              </a:spcBef>
              <a:spcAft>
                <a:spcPts val="1200"/>
              </a:spcAft>
              <a:buNone/>
            </a:pPr>
            <a:r>
              <a:rPr lang="en-US" altLang="zh-CN" sz="1250" b="0" i="0" u="none" strike="noStrike" kern="1200" cap="none" spc="0" baseline="0">
                <a:solidFill>
                  <a:srgbClr val="1F2937"/>
                </a:solidFill>
                <a:latin typeface="Calibri" charset="0"/>
                <a:ea typeface="Calibri" charset="0"/>
                <a:cs typeface="Calibri" charset="0"/>
              </a:rPr>
              <a:t>[6] N. F. Johnson and S. Jajodia, "Exploring steganography: Seeing the unseen," IEEE Computer, vol. 31, no. 2, pp. 26-34, 1998.</a:t>
            </a:r>
            <a:endParaRPr lang="en-US" altLang="zh-CN" sz="1250" b="0" i="0" u="none" strike="noStrike" kern="1200" cap="none" spc="0" baseline="0">
              <a:solidFill>
                <a:schemeClr val="tx1"/>
              </a:solidFill>
              <a:latin typeface="Calibri" charset="0"/>
              <a:ea typeface="等线" charset="0"/>
              <a:cs typeface="Calibri" charset="0"/>
            </a:endParaRPr>
          </a:p>
          <a:p>
            <a:pPr marL="0" indent="0" algn="l">
              <a:lnSpc>
                <a:spcPct val="120000"/>
              </a:lnSpc>
              <a:spcBef>
                <a:spcPts val="0"/>
              </a:spcBef>
              <a:spcAft>
                <a:spcPts val="1200"/>
              </a:spcAft>
              <a:buNone/>
            </a:pPr>
            <a:r>
              <a:rPr lang="en-US" altLang="zh-CN" sz="1250" b="0" i="0" u="none" strike="noStrike" kern="1200" cap="none" spc="0" baseline="0">
                <a:solidFill>
                  <a:srgbClr val="1F2937"/>
                </a:solidFill>
                <a:latin typeface="Calibri" charset="0"/>
                <a:ea typeface="Calibri" charset="0"/>
                <a:cs typeface="Calibri" charset="0"/>
              </a:rPr>
              <a:t>[7] European Union Agency for Cybersecurity (ENISA), "Threat Landscape Report," ENISA, 2024. Available: https://www.enisa.europa.eu</a:t>
            </a:r>
            <a:endParaRPr lang="zh-CN" altLang="en-US" sz="1250" b="0" i="0" u="none" strike="noStrike" kern="1200" cap="none" spc="0" baseline="0">
              <a:solidFill>
                <a:schemeClr val="tx1"/>
              </a:solidFill>
              <a:latin typeface="Calibri" charset="0"/>
              <a:ea typeface="等线" charset="0"/>
              <a:cs typeface="Calibri" charset="0"/>
            </a:endParaRPr>
          </a:p>
        </p:txBody>
      </p:sp>
      <p:sp>
        <p:nvSpPr>
          <p:cNvPr id="346" name="Rectangle"/>
          <p:cNvSpPr>
            <a:spLocks/>
          </p:cNvSpPr>
          <p:nvPr/>
        </p:nvSpPr>
        <p:spPr>
          <a:xfrm>
            <a:off x="548640" y="6528816"/>
            <a:ext cx="548640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r>
              <a:rPr lang="en-US" altLang="zh-CN" sz="900" b="0" i="1" u="none" strike="noStrike" kern="1200" cap="none" spc="0" baseline="0">
                <a:solidFill>
                  <a:srgbClr val="64748B"/>
                </a:solidFill>
                <a:latin typeface="Calibri" charset="0"/>
                <a:ea typeface="Calibri" charset="0"/>
                <a:cs typeface="Calibri" charset="0"/>
              </a:rPr>
              <a:t>Cryptography &amp; Network Security</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347" name="Rectangle"/>
          <p:cNvSpPr>
            <a:spLocks/>
          </p:cNvSpPr>
          <p:nvPr/>
        </p:nvSpPr>
        <p:spPr>
          <a:xfrm>
            <a:off x="11338560" y="6528816"/>
            <a:ext cx="365760" cy="256032"/>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r>
              <a:rPr lang="en-US" altLang="zh-CN" sz="900" b="0" i="0" u="none" strike="noStrike" kern="1200" cap="none" spc="0" baseline="0">
                <a:solidFill>
                  <a:srgbClr val="64748B"/>
                </a:solidFill>
                <a:latin typeface="Calibri" charset="0"/>
                <a:ea typeface="Calibri" charset="0"/>
                <a:cs typeface="Calibri" charset="0"/>
              </a:rPr>
              <a:t>14</a:t>
            </a:r>
            <a:endParaRPr lang="zh-CN" altLang="en-US" sz="9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598759503"/>
      </p:ext>
    </p:extLst>
  </p:cSld>
  <p:clrMapOvr>
    <a:masterClrMapping/>
  </p:clrMapOvr>
  <p:transition spd="med">
    <p:fade/>
  </p:transition>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B1E3D"/>
        </a:solidFill>
        <a:effectLst/>
      </p:bgPr>
    </p:bg>
    <p:spTree>
      <p:nvGrpSpPr>
        <p:cNvPr id="1" name=""/>
        <p:cNvGrpSpPr/>
        <p:nvPr/>
      </p:nvGrpSpPr>
      <p:grpSpPr>
        <a:xfrm>
          <a:off x="0" y="0"/>
          <a:ext cx="0" cy="0"/>
          <a:chOff x="0" y="0"/>
          <a:chExt cx="0" cy="0"/>
        </a:xfrm>
      </p:grpSpPr>
      <p:sp>
        <p:nvSpPr>
          <p:cNvPr id="352" name="Oval"/>
          <p:cNvSpPr>
            <a:spLocks/>
          </p:cNvSpPr>
          <p:nvPr/>
        </p:nvSpPr>
        <p:spPr>
          <a:xfrm>
            <a:off x="8503920" y="-1645920"/>
            <a:ext cx="5303520" cy="5303520"/>
          </a:xfrm>
          <a:prstGeom prst="ellipse">
            <a:avLst/>
          </a:prstGeom>
          <a:solidFill>
            <a:srgbClr val="142B52"/>
          </a:solidFill>
          <a:ln w="12700" cap="flat" cmpd="sng">
            <a:noFill/>
            <a:prstDash val="solid"/>
            <a:miter/>
          </a:ln>
        </p:spPr>
      </p:sp>
      <p:sp>
        <p:nvSpPr>
          <p:cNvPr id="353" name="Oval"/>
          <p:cNvSpPr>
            <a:spLocks/>
          </p:cNvSpPr>
          <p:nvPr/>
        </p:nvSpPr>
        <p:spPr>
          <a:xfrm>
            <a:off x="-1371600" y="4114800"/>
            <a:ext cx="4114800" cy="4114800"/>
          </a:xfrm>
          <a:prstGeom prst="ellipse">
            <a:avLst/>
          </a:prstGeom>
          <a:solidFill>
            <a:srgbClr val="12274A"/>
          </a:solidFill>
          <a:ln w="12700" cap="flat" cmpd="sng">
            <a:noFill/>
            <a:prstDash val="solid"/>
            <a:miter/>
          </a:ln>
        </p:spPr>
      </p:sp>
      <p:sp>
        <p:nvSpPr>
          <p:cNvPr id="354" name="Oval"/>
          <p:cNvSpPr>
            <a:spLocks/>
          </p:cNvSpPr>
          <p:nvPr/>
        </p:nvSpPr>
        <p:spPr>
          <a:xfrm>
            <a:off x="5592928" y="1920240"/>
            <a:ext cx="1005840" cy="1005839"/>
          </a:xfrm>
          <a:prstGeom prst="ellipse">
            <a:avLst/>
          </a:prstGeom>
          <a:solidFill>
            <a:srgbClr val="2563EB"/>
          </a:solidFill>
          <a:ln w="12700" cap="flat" cmpd="sng">
            <a:noFill/>
            <a:prstDash val="solid"/>
            <a:miter/>
          </a:ln>
        </p:spPr>
      </p:sp>
      <p:pic>
        <p:nvPicPr>
          <p:cNvPr id="355" name="Image" descr="/home/claude/deck/assets/shield_check.png"/>
          <p:cNvPicPr>
            <a:picLocks noChangeAspect="1"/>
          </p:cNvPicPr>
          <p:nvPr/>
        </p:nvPicPr>
        <p:blipFill>
          <a:blip r:embed="rId3" cstate="print"/>
          <a:stretch>
            <a:fillRect/>
          </a:stretch>
        </p:blipFill>
        <p:spPr>
          <a:xfrm>
            <a:off x="5819242" y="2146554"/>
            <a:ext cx="553210" cy="553212"/>
          </a:xfrm>
          <a:prstGeom prst="rect">
            <a:avLst/>
          </a:prstGeom>
          <a:noFill/>
          <a:ln w="12700" cap="flat" cmpd="sng">
            <a:noFill/>
            <a:prstDash val="solid"/>
            <a:miter/>
          </a:ln>
        </p:spPr>
      </p:pic>
      <p:sp>
        <p:nvSpPr>
          <p:cNvPr id="356" name="Rectangle"/>
          <p:cNvSpPr>
            <a:spLocks/>
          </p:cNvSpPr>
          <p:nvPr/>
        </p:nvSpPr>
        <p:spPr>
          <a:xfrm>
            <a:off x="0" y="3108960"/>
            <a:ext cx="12191694" cy="91440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4400" b="1" i="0" u="none" strike="noStrike" kern="1200" cap="none" spc="0" baseline="0">
                <a:solidFill>
                  <a:srgbClr val="FFFFFF"/>
                </a:solidFill>
                <a:latin typeface="Cambria" pitchFamily="34" charset="0"/>
                <a:ea typeface="Cambria" pitchFamily="34" charset="0"/>
                <a:cs typeface="Cambria" pitchFamily="34" charset="0"/>
              </a:rPr>
              <a:t>Thank You</a:t>
            </a:r>
            <a:endParaRPr lang="zh-CN" altLang="en-US" sz="4400" b="0" i="0" u="none" strike="noStrike" kern="1200" cap="none" spc="0" baseline="0">
              <a:solidFill>
                <a:schemeClr val="tx1"/>
              </a:solidFill>
              <a:latin typeface="Calibri" charset="0"/>
              <a:ea typeface="等线" charset="0"/>
              <a:cs typeface="Calibri" charset="0"/>
            </a:endParaRPr>
          </a:p>
        </p:txBody>
      </p:sp>
      <p:sp>
        <p:nvSpPr>
          <p:cNvPr id="357" name="Rectangle"/>
          <p:cNvSpPr>
            <a:spLocks/>
          </p:cNvSpPr>
          <p:nvPr/>
        </p:nvSpPr>
        <p:spPr>
          <a:xfrm>
            <a:off x="0" y="3977640"/>
            <a:ext cx="12191694" cy="45720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600" b="0" i="1" u="none" strike="noStrike" kern="1200" cap="none" spc="0" baseline="0">
                <a:solidFill>
                  <a:srgbClr val="60A5FA"/>
                </a:solidFill>
                <a:latin typeface="Calibri" charset="0"/>
                <a:ea typeface="Calibri" charset="0"/>
                <a:cs typeface="Calibri" charset="0"/>
              </a:rPr>
              <a:t>Questions &amp; Discussion Welcome</a:t>
            </a:r>
            <a:endParaRPr lang="zh-CN" altLang="en-US" sz="1600" b="0" i="0" u="none" strike="noStrike" kern="1200" cap="none" spc="0" baseline="0">
              <a:solidFill>
                <a:schemeClr val="tx1"/>
              </a:solidFill>
              <a:latin typeface="Calibri" charset="0"/>
              <a:ea typeface="等线" charset="0"/>
              <a:cs typeface="Calibri" charset="0"/>
            </a:endParaRPr>
          </a:p>
        </p:txBody>
      </p:sp>
      <p:sp>
        <p:nvSpPr>
          <p:cNvPr id="358" name="Rectangle"/>
          <p:cNvSpPr>
            <a:spLocks/>
          </p:cNvSpPr>
          <p:nvPr/>
        </p:nvSpPr>
        <p:spPr>
          <a:xfrm>
            <a:off x="0" y="6309360"/>
            <a:ext cx="12191694" cy="32004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100" b="0" i="0" u="none" strike="noStrike" kern="1200" cap="none" spc="0" baseline="0">
                <a:solidFill>
                  <a:srgbClr val="8FA3C4"/>
                </a:solidFill>
                <a:latin typeface="Calibri" charset="0"/>
                <a:ea typeface="Calibri" charset="0"/>
                <a:cs typeface="Calibri" charset="0"/>
              </a:rPr>
              <a:t>Cryptography and Network Security  |  [Preethika M]  |  [192511216]</a:t>
            </a:r>
            <a:endParaRPr lang="zh-CN" altLang="en-US" sz="11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525801491"/>
      </p:ext>
    </p:extLst>
  </p:cSld>
  <p:clrMapOvr>
    <a:masterClrMapping/>
  </p:clrMapOvr>
  <p:transition spd="med">
    <p:fade/>
  </p:transition>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Normal.eit</Template>
  <TotalTime>52</TotalTime>
  <Words>3432</Words>
  <Application>Microsoft Office PowerPoint</Application>
  <PresentationFormat>Widescreen</PresentationFormat>
  <Paragraphs>286</Paragraphs>
  <Slides>68</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68</vt:i4>
      </vt:variant>
    </vt:vector>
  </HeadingPairs>
  <TitlesOfParts>
    <vt:vector size="75" baseType="lpstr">
      <vt:lpstr>AndroidClock</vt:lpstr>
      <vt:lpstr>Arial</vt:lpstr>
      <vt:lpstr>Calibri</vt:lpstr>
      <vt:lpstr>Calibri Light</vt:lpstr>
      <vt:lpstr>Cambria</vt:lpstr>
      <vt:lpstr>Droid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preethikamanojkumar@gmail.com</cp:lastModifiedBy>
  <cp:revision>1</cp:revision>
  <dcterms:created xsi:type="dcterms:W3CDTF">2026-07-15T04:36:48Z</dcterms:created>
  <dcterms:modified xsi:type="dcterms:W3CDTF">2026-07-20T05:34:07Z</dcterms:modified>
</cp:coreProperties>
</file>