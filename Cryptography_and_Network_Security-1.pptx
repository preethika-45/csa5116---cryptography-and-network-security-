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1"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9500" autoAdjust="0"/>
  </p:normalViewPr>
  <p:slideViewPr>
    <p:cSldViewPr snapToGrid="0" snapToObjects="1">
      <p:cViewPr varScale="1">
        <p:scale>
          <a:sx n="84" d="100"/>
          <a:sy n="84"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
        <p:nvSpPr>
          <p:cNvPr id="3" name="Text box"/>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4" name="Text box"/>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7/15/2026</a:t>
            </a:fld>
            <a:endParaRPr lang="zh-CN" altLang="en-US" sz="1200">
              <a:latin typeface="Calibri" pitchFamily="0" charset="0"/>
              <a:ea typeface="等线" pitchFamily="0" charset="0"/>
              <a:cs typeface="Calibri" pitchFamily="0" charset="0"/>
            </a:endParaRPr>
          </a:p>
        </p:txBody>
      </p:sp>
      <p:sp>
        <p:nvSpPr>
          <p:cNvPr id="5" name="Object"/>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6" name="Text box"/>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Text box"/>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050629636"/>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33"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34"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5"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Good morning everyone. Today's technical presentation covers Cryptography and Network Security, organized into two major topics: first, Security Attacks, Threats, Risks, and their impact on core security goals; and second, a comparison between Steganography and Cryptography as two different approaches to hiding and protecting information. Before we begin, let me briefly introduce myself and the academic context of this presentation, including my department and institution. Over the next several slides, we will explore fundamental concepts, real-world examples, and a professional comparison of these two important security techniques used across industries today.</a:t>
            </a:r>
            <a:endParaRPr lang="zh-CN" altLang="en-US"/>
          </a:p>
        </p:txBody>
      </p:sp>
      <p:sp>
        <p:nvSpPr>
          <p:cNvPr id="36"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1</a:t>
            </a:fld>
            <a:endParaRPr lang="zh-CN" altLang="en-US"/>
          </a:p>
        </p:txBody>
      </p:sp>
    </p:spTree>
    <p:extLst>
      <p:ext uri="{BB962C8B-B14F-4D97-AF65-F5344CB8AC3E}">
        <p14:creationId xmlns:p14="http://schemas.microsoft.com/office/powerpoint/2010/main" val="1175615391"/>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47"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48"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49"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Information security, often called InfoSec, is the practice of protecting information and information systems from unauthorized access, use, disclosure, disruption, modification, or destruction. It rests on three key pillars: people, processes, and technology, all working together to safeguard data. This applies whether data is stored, being transmitted across a network, or actively being processed. With the explosion of digital banking, online shopping, electronic health records, and billions of connected IoT devices, information security has become absolutely critical. International frameworks like ISO 27001 and NIST guidelines help organizations build structured, layered defenses, which is the visual concept shown on the right — protection built in multiple layers around the most critical assets.</a:t>
            </a:r>
            <a:endParaRPr lang="zh-CN" altLang="en-US"/>
          </a:p>
        </p:txBody>
      </p:sp>
      <p:sp>
        <p:nvSpPr>
          <p:cNvPr id="50"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2</a:t>
            </a:fld>
            <a:endParaRPr lang="zh-CN" altLang="en-US"/>
          </a:p>
        </p:txBody>
      </p:sp>
    </p:spTree>
    <p:extLst>
      <p:ext uri="{BB962C8B-B14F-4D97-AF65-F5344CB8AC3E}">
        <p14:creationId xmlns:p14="http://schemas.microsoft.com/office/powerpoint/2010/main" val="1123202521"/>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78"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79"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8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Security attacks are broadly classified into two categories. Passive attacks involve monitoring or eavesdropping on communication without altering the data itself — the attacker's goal is simply to gather information, such as through traffic analysis or wiretapping. These are difficult to detect because the data remains unchanged. Active attacks, on the other hand, involve actual modification of data or disruption of system operations — this includes masquerading as another user, replay attacks, denial-of-service attacks, and unauthorized modification of data. Active attacks are easier to detect but harder to prevent entirely. On the bottom, we see real-world examples: Wi-Fi eavesdropping is a classic passive attack, while DDoS attacks on web servers and session hijacking are active attacks that directly disrupt or compromise a system.</a:t>
            </a:r>
            <a:endParaRPr lang="zh-CN" altLang="en-US"/>
          </a:p>
        </p:txBody>
      </p:sp>
      <p:sp>
        <p:nvSpPr>
          <p:cNvPr id="81"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3</a:t>
            </a:fld>
            <a:endParaRPr lang="zh-CN" altLang="en-US"/>
          </a:p>
        </p:txBody>
      </p:sp>
    </p:spTree>
    <p:extLst>
      <p:ext uri="{BB962C8B-B14F-4D97-AF65-F5344CB8AC3E}">
        <p14:creationId xmlns:p14="http://schemas.microsoft.com/office/powerpoint/2010/main" val="1746149627"/>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110"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111"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12"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This slide covers key threats and how organizations assess risk. Malware includes viruses, worms, trojans, and ransomware designed to damage or exploit systems. Phishing uses deceptive emails or messages to trick users into revealing sensitive credentials — it remains one of the most common attack vectors today. Insider threats come from employees or trusted individuals who misuse their authorized access, whether maliciously or accidentally. Risk assessment is the structured process of identifying, analyzing, and prioritizing these risks so organizations know where to focus their defenses first. At the bottom, we show a simplified risk formula: Risk equals Threat multiplied by Vulnerability multiplied by Impact — meaning the actual risk depends on how likely a threat is, how exposed the system is, and how severe the consequences would be.</a:t>
            </a:r>
            <a:endParaRPr lang="zh-CN" altLang="en-US"/>
          </a:p>
        </p:txBody>
      </p:sp>
      <p:sp>
        <p:nvSpPr>
          <p:cNvPr id="113"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4</a:t>
            </a:fld>
            <a:endParaRPr lang="zh-CN" altLang="en-US"/>
          </a:p>
        </p:txBody>
      </p:sp>
    </p:spTree>
    <p:extLst>
      <p:ext uri="{BB962C8B-B14F-4D97-AF65-F5344CB8AC3E}">
        <p14:creationId xmlns:p14="http://schemas.microsoft.com/office/powerpoint/2010/main" val="2047580022"/>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132"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133"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34"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The core objectives of information security are best summarized by the CIA Triad, shown as a triangle diagram on the left. Confidentiality ensures that information is accessible only to those authorized to view it — protected using encryption and access controls. Integrity ensures data remains accurate and hasn't been tampered with, often verified using hash functions and checksums. Availability ensures that systems and data remain accessible to authorized users whenever needed, which is why organizations defend against denial-of-service attacks. Beyond the classic triad, two extended goals are equally important: Authentication, which verifies the identity of a user or system before granting access, and Non-Repudiation, which ensures that a sender cannot later deny having sent a message — typically enforced using digital signatures.</a:t>
            </a:r>
            <a:endParaRPr lang="zh-CN" altLang="en-US"/>
          </a:p>
        </p:txBody>
      </p:sp>
      <p:sp>
        <p:nvSpPr>
          <p:cNvPr id="135"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5</a:t>
            </a:fld>
            <a:endParaRPr lang="zh-CN" altLang="en-US"/>
          </a:p>
        </p:txBody>
      </p:sp>
    </p:spTree>
    <p:extLst>
      <p:ext uri="{BB962C8B-B14F-4D97-AF65-F5344CB8AC3E}">
        <p14:creationId xmlns:p14="http://schemas.microsoft.com/office/powerpoint/2010/main" val="1923988234"/>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165"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166"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67"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To defend against the threats discussed earlier, organizations rely on several prevention techniques. Encryption converts readable data into unreadable ciphertext, protecting confidentiality even if data is intercepted. Firewalls filter incoming and outgoing network traffic based on defined security rules, acting as a barrier between trusted and untrusted networks. Intrusion Detection and Prevention Systems, or IDS and IPS, monitor network activity in real time to detect and block suspicious behavior. Multi-Factor Authentication strengthens identity verification by requiring two or more proofs of identity, such as a password plus an OTP. To ground this in reality, consider the WannaCry ransomware attack of 2017, which exploited an unpatched Windows vulnerability called EternalBlue, spreading to over 150 countries and encrypting files on more than 200,000 computers. This case study underscores why timely patching, firewalls, intrusion detection, and offline backups are essential prevention strategies.</a:t>
            </a:r>
            <a:endParaRPr lang="zh-CN" altLang="en-US"/>
          </a:p>
        </p:txBody>
      </p:sp>
      <p:sp>
        <p:nvSpPr>
          <p:cNvPr id="168"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6</a:t>
            </a:fld>
            <a:endParaRPr lang="zh-CN" altLang="en-US"/>
          </a:p>
        </p:txBody>
      </p:sp>
    </p:spTree>
    <p:extLst>
      <p:ext uri="{BB962C8B-B14F-4D97-AF65-F5344CB8AC3E}">
        <p14:creationId xmlns:p14="http://schemas.microsoft.com/office/powerpoint/2010/main" val="1328537759"/>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183"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184"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85"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We now move to our second topic: Cryptography versus Steganography. Both are techniques used to protect information, but they take fundamentally different approaches. Cryptography is the science of transforming readable information, called plaintext, into an unreadable form called ciphertext, using mathematical algorithms and keys. It protects confidentiality, integrity, and authentication, but the presence of protected data is visible — anyone can see that encrypted data exists, even if they can't read it. Steganography, on the other hand, is the art of hiding the very existence of a secret message. Instead of scrambling the message, it conceals it inside another file — an image, audio clip, video, or even text — so that the cover file appears completely normal to an outside observer. Understanding both techniques, and how they complement each other, is essential for modern digital security.</a:t>
            </a:r>
            <a:endParaRPr lang="zh-CN" altLang="en-US"/>
          </a:p>
        </p:txBody>
      </p:sp>
      <p:sp>
        <p:nvSpPr>
          <p:cNvPr id="186"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7</a:t>
            </a:fld>
            <a:endParaRPr lang="zh-CN" altLang="en-US"/>
          </a:p>
        </p:txBody>
      </p:sp>
    </p:spTree>
    <p:extLst>
      <p:ext uri="{BB962C8B-B14F-4D97-AF65-F5344CB8AC3E}">
        <p14:creationId xmlns:p14="http://schemas.microsoft.com/office/powerpoint/2010/main" val="612179790"/>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8</a:t>
            </a:fld>
            <a:endParaRPr lang="zh-CN" altLang="en-US" sz="1200">
              <a:latin typeface="Calibri" pitchFamily="0" charset="0"/>
              <a:ea typeface="等线" pitchFamily="0" charset="0"/>
              <a:cs typeface="Calibri" pitchFamily="0" charset="0"/>
            </a:endParaRPr>
          </a:p>
        </p:txBody>
      </p:sp>
      <p:sp>
        <p:nvSpPr>
          <p:cNvPr id="222"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8</a:t>
            </a:fld>
            <a:endParaRPr lang="zh-CN" altLang="en-US" sz="1200">
              <a:latin typeface="Calibri" pitchFamily="0" charset="0"/>
              <a:ea typeface="等线" pitchFamily="0" charset="0"/>
              <a:cs typeface="Calibri" pitchFamily="0" charset="0"/>
            </a:endParaRPr>
          </a:p>
        </p:txBody>
      </p:sp>
      <p:sp>
        <p:nvSpPr>
          <p:cNvPr id="223"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24"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Cryptography works through the process shown in this flow diagram: plaintext, the original readable message, is transformed through encryption using a key into ciphertext, an unreadable form. That ciphertext travels across the network, and at the receiving end, decryption using the appropriate key converts it back into the original plaintext. There are two major types of encryption. Symmetric encryption uses the same key for both encryption and decryption — it's fast and efficient for large volumes of data, with AES and DES being common examples, but distributing that shared key securely is a major challenge. Asymmetric encryption uses a mathematically linked public and private key pair — it's slower computationally, but elegantly solves the key distribution problem and enables digital signatures, with RSA and ECC being widely used examples. Together, these techniques power applications we use daily: online banking, HTTPS websites, VPNs, digital signatures, and secure email.</a:t>
            </a:r>
            <a:endParaRPr lang="zh-CN" altLang="en-US"/>
          </a:p>
        </p:txBody>
      </p:sp>
      <p:sp>
        <p:nvSpPr>
          <p:cNvPr id="225"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8</a:t>
            </a:fld>
            <a:endParaRPr lang="zh-CN" altLang="en-US"/>
          </a:p>
        </p:txBody>
      </p:sp>
    </p:spTree>
    <p:extLst>
      <p:ext uri="{BB962C8B-B14F-4D97-AF65-F5344CB8AC3E}">
        <p14:creationId xmlns:p14="http://schemas.microsoft.com/office/powerpoint/2010/main" val="1019699396"/>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9</a:t>
            </a:fld>
            <a:endParaRPr lang="zh-CN" altLang="en-US" sz="1200">
              <a:latin typeface="Calibri" pitchFamily="0" charset="0"/>
              <a:ea typeface="等线" pitchFamily="0" charset="0"/>
              <a:cs typeface="Calibri" pitchFamily="0" charset="0"/>
            </a:endParaRPr>
          </a:p>
        </p:txBody>
      </p:sp>
      <p:sp>
        <p:nvSpPr>
          <p:cNvPr id="270"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9</a:t>
            </a:fld>
            <a:endParaRPr lang="zh-CN" altLang="en-US" sz="1200">
              <a:latin typeface="Calibri" pitchFamily="0" charset="0"/>
              <a:ea typeface="等线" pitchFamily="0" charset="0"/>
              <a:cs typeface="Calibri" pitchFamily="0" charset="0"/>
            </a:endParaRPr>
          </a:p>
        </p:txBody>
      </p:sp>
      <p:sp>
        <p:nvSpPr>
          <p:cNvPr id="271"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72"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Steganography can be implemented across multiple media types. Image steganography is the most common, typically hiding data within the least significant bits of pixel values so the change is imperceptible to the human eye. Audio steganography embeds secret data within the frequencies of an audio signal. Video steganography conceals data across the many frames of a video file, taking advantage of its large data capacity. Text steganography uses more subtle techniques like specific spacing, font variations, or word patterns to hide information within visible text. The working principle, shown in the flow diagram, is consistent across all types: we start with an ordinary cover file, embed the secret data using an embedding algorithm and often a key, producing a stego file that looks completely normal to any observer, and finally the intended recipient uses an extraction process to recover the hidden data.</a:t>
            </a:r>
            <a:endParaRPr lang="zh-CN" altLang="en-US"/>
          </a:p>
        </p:txBody>
      </p:sp>
      <p:sp>
        <p:nvSpPr>
          <p:cNvPr id="273"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9</a:t>
            </a:fld>
            <a:endParaRPr lang="zh-CN" altLang="en-US"/>
          </a:p>
        </p:txBody>
      </p:sp>
    </p:spTree>
    <p:extLst>
      <p:ext uri="{BB962C8B-B14F-4D97-AF65-F5344CB8AC3E}">
        <p14:creationId xmlns:p14="http://schemas.microsoft.com/office/powerpoint/2010/main" val="27921737"/>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10</a:t>
            </a:fld>
            <a:endParaRPr lang="zh-CN" altLang="en-US" sz="1200">
              <a:latin typeface="Calibri" pitchFamily="0" charset="0"/>
              <a:ea typeface="等线" pitchFamily="0" charset="0"/>
              <a:cs typeface="Calibri" pitchFamily="0" charset="0"/>
            </a:endParaRPr>
          </a:p>
        </p:txBody>
      </p:sp>
      <p:sp>
        <p:nvSpPr>
          <p:cNvPr id="279"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10</a:t>
            </a:fld>
            <a:endParaRPr lang="zh-CN" altLang="en-US" sz="1200">
              <a:latin typeface="Calibri" pitchFamily="0" charset="0"/>
              <a:ea typeface="等线" pitchFamily="0" charset="0"/>
              <a:cs typeface="Calibri" pitchFamily="0" charset="0"/>
            </a:endParaRPr>
          </a:p>
        </p:txBody>
      </p:sp>
      <p:sp>
        <p:nvSpPr>
          <p:cNvPr id="280"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81"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This table gives a professional, side-by-side comparison of cryptography and steganography across seven key parameters. In terms of purpose, cryptography aims to make data unreadable to unauthorized users, while steganography aims to hide that the data even exists. Regarding visibility, ciphertext is visible but unreadable, whereas hidden steganographic data is completely invisible within a normal-looking cover file. Their security basis differs too: cryptography relies on the mathematical strength of the key, while steganography relies on the secrecy of the hiding method itself — once discovered, it offers little protection. In terms of speed, steganography is generally faster since it avoids heavy computation. Applications also differ: cryptography secures banking and HTTPS traffic, while steganography is used for covert communication, digital watermarking, and forensic investigations. Each has its own advantages and disadvantages, which is why in practice, the two are often combined for layered protection.</a:t>
            </a:r>
            <a:endParaRPr lang="zh-CN" altLang="en-US"/>
          </a:p>
        </p:txBody>
      </p:sp>
      <p:sp>
        <p:nvSpPr>
          <p:cNvPr id="282"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10</a:t>
            </a:fld>
            <a:endParaRPr lang="zh-CN" altLang="en-US"/>
          </a:p>
        </p:txBody>
      </p:sp>
    </p:spTree>
    <p:extLst>
      <p:ext uri="{BB962C8B-B14F-4D97-AF65-F5344CB8AC3E}">
        <p14:creationId xmlns:p14="http://schemas.microsoft.com/office/powerpoint/2010/main" val="738295773"/>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11</a:t>
            </a:fld>
            <a:endParaRPr lang="zh-CN" altLang="en-US" sz="1200">
              <a:latin typeface="Calibri" pitchFamily="0" charset="0"/>
              <a:ea typeface="等线" pitchFamily="0" charset="0"/>
              <a:cs typeface="Calibri" pitchFamily="0" charset="0"/>
            </a:endParaRPr>
          </a:p>
        </p:txBody>
      </p:sp>
      <p:sp>
        <p:nvSpPr>
          <p:cNvPr id="317"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11</a:t>
            </a:fld>
            <a:endParaRPr lang="zh-CN" altLang="en-US" sz="1200">
              <a:latin typeface="Calibri" pitchFamily="0" charset="0"/>
              <a:ea typeface="等线" pitchFamily="0" charset="0"/>
              <a:cs typeface="Calibri" pitchFamily="0" charset="0"/>
            </a:endParaRPr>
          </a:p>
        </p:txBody>
      </p:sp>
      <p:sp>
        <p:nvSpPr>
          <p:cNvPr id="318"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19"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Cryptography and steganography together power security across virtually every modern industry. In banking, they secure transactions and protect card data from interception. In healthcare, encryption protects sensitive patient records in compliance with regulations like HIPAA. Military applications rely on classified, encrypted communication and covert steganographic messaging for sensitive operations. Cloud security depends heavily on encrypting data both at rest on servers and in transit across networks. Digital forensics investigators use steganalysis techniques to detect hidden data during criminal investigations. And looking to the future, AI-powered security is an emerging frontier, using machine learning for anomaly detection, automated threat hunting, and even for detecting sophisticated steganographic content that traditional tools might miss. This convergence of classical cryptographic principles with modern AI represents the future scope of this field.</a:t>
            </a:r>
            <a:endParaRPr lang="zh-CN" altLang="en-US"/>
          </a:p>
        </p:txBody>
      </p:sp>
      <p:sp>
        <p:nvSpPr>
          <p:cNvPr id="320"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11</a:t>
            </a:fld>
            <a:endParaRPr lang="zh-CN" altLang="en-US"/>
          </a:p>
        </p:txBody>
      </p:sp>
    </p:spTree>
    <p:extLst>
      <p:ext uri="{BB962C8B-B14F-4D97-AF65-F5344CB8AC3E}">
        <p14:creationId xmlns:p14="http://schemas.microsoft.com/office/powerpoint/2010/main" val="1243104422"/>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12</a:t>
            </a:fld>
            <a:endParaRPr lang="zh-CN" altLang="en-US" sz="1200">
              <a:latin typeface="Calibri" pitchFamily="0" charset="0"/>
              <a:ea typeface="等线" pitchFamily="0" charset="0"/>
              <a:cs typeface="Calibri" pitchFamily="0" charset="0"/>
            </a:endParaRPr>
          </a:p>
        </p:txBody>
      </p:sp>
      <p:sp>
        <p:nvSpPr>
          <p:cNvPr id="326"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12</a:t>
            </a:fld>
            <a:endParaRPr lang="zh-CN" altLang="en-US" sz="1200">
              <a:latin typeface="Calibri" pitchFamily="0" charset="0"/>
              <a:ea typeface="等线" pitchFamily="0" charset="0"/>
              <a:cs typeface="Calibri" pitchFamily="0" charset="0"/>
            </a:endParaRPr>
          </a:p>
        </p:txBody>
      </p:sp>
      <p:sp>
        <p:nvSpPr>
          <p:cNvPr id="327"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28"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Let's summarize the key takeaways from this presentation. Security attacks fall into two categories: passive attacks that eavesdrop without altering data, and active attacks that modify or disrupt systems. The CIA Triad — confidentiality, integrity, and availability — along with authentication and non-repudiation, form the foundational goals that every security system aims to achieve. Preventing attacks requires a combination of encryption, firewalls, intrusion detection and prevention systems, and multi-factor authentication working together. On our second topic, cryptography scrambles data to make it unreadable, while steganography hides the very existence of that data — these are complementary, not competing, techniques. Symmetric and asymmetric encryption each address different trade-offs between speed and secure key distribution. Ultimately, combining cryptography with steganography gives organizations layered, real-world-ready protection against an evolving threat landscape.</a:t>
            </a:r>
            <a:endParaRPr lang="zh-CN" altLang="en-US"/>
          </a:p>
        </p:txBody>
      </p:sp>
      <p:sp>
        <p:nvSpPr>
          <p:cNvPr id="329"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12</a:t>
            </a:fld>
            <a:endParaRPr lang="zh-CN" altLang="en-US"/>
          </a:p>
        </p:txBody>
      </p:sp>
    </p:spTree>
    <p:extLst>
      <p:ext uri="{BB962C8B-B14F-4D97-AF65-F5344CB8AC3E}">
        <p14:creationId xmlns:p14="http://schemas.microsoft.com/office/powerpoint/2010/main" val="1335040551"/>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13</a:t>
            </a:fld>
            <a:endParaRPr lang="zh-CN" altLang="en-US" sz="1200">
              <a:latin typeface="Calibri" pitchFamily="0" charset="0"/>
              <a:ea typeface="等线" pitchFamily="0" charset="0"/>
              <a:cs typeface="Calibri" pitchFamily="0" charset="0"/>
            </a:endParaRPr>
          </a:p>
        </p:txBody>
      </p:sp>
      <p:sp>
        <p:nvSpPr>
          <p:cNvPr id="339"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13</a:t>
            </a:fld>
            <a:endParaRPr lang="zh-CN" altLang="en-US" sz="1200">
              <a:latin typeface="Calibri" pitchFamily="0" charset="0"/>
              <a:ea typeface="等线" pitchFamily="0" charset="0"/>
              <a:cs typeface="Calibri" pitchFamily="0" charset="0"/>
            </a:endParaRPr>
          </a:p>
        </p:txBody>
      </p:sp>
      <p:sp>
        <p:nvSpPr>
          <p:cNvPr id="340"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41"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In conclusion, modern digital systems face constant and evolving security attacks, threats, and risks that demand structured defenses guided by the CIA Triad and extended goals like authentication and non-repudiation. We've seen that cryptography and steganography represent two distinct but complementary approaches to protecting information — one scrambles data mathematically, the other conceals its very existence. Real-world incidents like the WannaCry ransomware attack prove that prevention techniques such as patching, encryption, firewalls, and multi-factor authentication are not optional extras but essential practices. Looking forward, the future of this field lies in integrating AI-driven detection and response with these classical cryptographic foundations. As the illustration suggests, security is best understood as a continuous process of vigilance and improvement, not a one-time product or checkbox.</a:t>
            </a:r>
            <a:endParaRPr lang="zh-CN" altLang="en-US"/>
          </a:p>
        </p:txBody>
      </p:sp>
      <p:sp>
        <p:nvSpPr>
          <p:cNvPr id="342"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13</a:t>
            </a:fld>
            <a:endParaRPr lang="zh-CN" altLang="en-US"/>
          </a:p>
        </p:txBody>
      </p:sp>
    </p:spTree>
    <p:extLst>
      <p:ext uri="{BB962C8B-B14F-4D97-AF65-F5344CB8AC3E}">
        <p14:creationId xmlns:p14="http://schemas.microsoft.com/office/powerpoint/2010/main" val="1953666610"/>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14</a:t>
            </a:fld>
            <a:endParaRPr lang="zh-CN" altLang="en-US" sz="1200">
              <a:latin typeface="Calibri" pitchFamily="0" charset="0"/>
              <a:ea typeface="等线" pitchFamily="0" charset="0"/>
              <a:cs typeface="Calibri" pitchFamily="0" charset="0"/>
            </a:endParaRPr>
          </a:p>
        </p:txBody>
      </p:sp>
      <p:sp>
        <p:nvSpPr>
          <p:cNvPr id="348"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14</a:t>
            </a:fld>
            <a:endParaRPr lang="zh-CN" altLang="en-US" sz="1200">
              <a:latin typeface="Calibri" pitchFamily="0" charset="0"/>
              <a:ea typeface="等线" pitchFamily="0" charset="0"/>
              <a:cs typeface="Calibri" pitchFamily="0" charset="0"/>
            </a:endParaRPr>
          </a:p>
        </p:txBody>
      </p:sp>
      <p:sp>
        <p:nvSpPr>
          <p:cNvPr id="349"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5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These are the academic and industry references that informed this presentation, following IEEE citation style. Our primary textbook reference is William Stallings' well-known text, Cryptography and Network Security: Principles and Practice. We've also drawn on official NIST Special Publications and Federal Information Processing Standards for server security and digital signature standards, Microsoft's official documentation on cryptography best practices, IEEE's peer-reviewed journal on information forensics and security, a foundational IEEE paper on steganography by Johnson and Jajodia, and the ENISA Threat Landscape Report for current real-world threat data. These sources ensure the technical accuracy and credibility of the concepts presented today.</a:t>
            </a:r>
            <a:endParaRPr lang="zh-CN" altLang="en-US"/>
          </a:p>
        </p:txBody>
      </p:sp>
      <p:sp>
        <p:nvSpPr>
          <p:cNvPr id="351"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14</a:t>
            </a:fld>
            <a:endParaRPr lang="zh-CN" altLang="en-US"/>
          </a:p>
        </p:txBody>
      </p:sp>
    </p:spTree>
    <p:extLst>
      <p:ext uri="{BB962C8B-B14F-4D97-AF65-F5344CB8AC3E}">
        <p14:creationId xmlns:p14="http://schemas.microsoft.com/office/powerpoint/2010/main" val="348141504"/>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15</a:t>
            </a:fld>
            <a:endParaRPr lang="zh-CN" altLang="en-US" sz="1200">
              <a:latin typeface="Calibri" pitchFamily="0" charset="0"/>
              <a:ea typeface="等线" pitchFamily="0" charset="0"/>
              <a:cs typeface="Calibri" pitchFamily="0" charset="0"/>
            </a:endParaRPr>
          </a:p>
        </p:txBody>
      </p:sp>
      <p:sp>
        <p:nvSpPr>
          <p:cNvPr id="359" name="Rectangle"/>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15</a:t>
            </a:fld>
            <a:endParaRPr lang="zh-CN" altLang="en-US" sz="1200">
              <a:latin typeface="Calibri" pitchFamily="0" charset="0"/>
              <a:ea typeface="等线" pitchFamily="0" charset="0"/>
              <a:cs typeface="Calibri" pitchFamily="0" charset="0"/>
            </a:endParaRPr>
          </a:p>
        </p:txBody>
      </p:sp>
      <p:sp>
        <p:nvSpPr>
          <p:cNvPr id="360"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61"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Thank you all for your time and attention. That brings us to the end of this presentation on Cryptography and Network Security, covering security attacks, threats, and the CIA triad, as well as a detailed comparison between cryptography and steganography. I'm happy to take any questions or discuss any of these topics further.</a:t>
            </a:r>
            <a:endParaRPr lang="zh-CN" altLang="en-US"/>
          </a:p>
        </p:txBody>
      </p:sp>
      <p:sp>
        <p:nvSpPr>
          <p:cNvPr id="362" name="Rectangle"/>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pitchFamily="0" charset="0"/>
              </a:rPr>
              <a:t>15</a:t>
            </a:fld>
            <a:endParaRPr lang="zh-CN" altLang="en-US"/>
          </a:p>
        </p:txBody>
      </p:sp>
    </p:spTree>
    <p:extLst>
      <p:ext uri="{BB962C8B-B14F-4D97-AF65-F5344CB8AC3E}">
        <p14:creationId xmlns:p14="http://schemas.microsoft.com/office/powerpoint/2010/main" val="1575631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742298270"/>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19864673"/>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108038742"/>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19952590"/>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51073376"/>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17657885"/>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186181"/>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16836425"/>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850979029"/>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79148359"/>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74530936"/>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rgbClr val="0B1E3D"/>
        </a:solidFill>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169547"/>
      </p:ext>
    </p:extLst>
  </p:cSld>
  <p:clrMapOvr>
    <a:masterClrMapping/>
  </p:clrMapOvr>
  <p:hf sldNum="0"/>
</p:sldLayout>
</file>

<file path=ppt/slideLayouts/slideLayout13.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rgbClr val="FFFFFF"/>
        </a:solidFill>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310966"/>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1294907"/>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lvl1pPr algn="ctr" defTabSz="914400" eaLnBrk="1" fontAlgn="auto" latinLnBrk="0" hangingPunct="1">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pitchFamily="0" charset="0"/>
          <a:ea typeface="等线" pitchFamily="0" charset="0"/>
          <a:cs typeface="Calibri" pitchFamily="0"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slideLayout" Target="../slideLayouts/slideLayout1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3.png"/><Relationship Id="rId2" Type="http://schemas.openxmlformats.org/officeDocument/2006/relationships/image" Target="../media/4.png"/><Relationship Id="rId3" Type="http://schemas.openxmlformats.org/officeDocument/2006/relationships/image" Target="../media/5.png"/><Relationship Id="rId4" Type="http://schemas.openxmlformats.org/officeDocument/2006/relationships/image" Target="../media/6.png"/><Relationship Id="rId5" Type="http://schemas.openxmlformats.org/officeDocument/2006/relationships/image" Target="../media/7.png"/><Relationship Id="rId6" Type="http://schemas.openxmlformats.org/officeDocument/2006/relationships/slideLayout" Target="../slideLayouts/slideLayout1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8.png"/><Relationship Id="rId2" Type="http://schemas.openxmlformats.org/officeDocument/2006/relationships/image" Target="../media/9.png"/><Relationship Id="rId3" Type="http://schemas.openxmlformats.org/officeDocument/2006/relationships/image" Target="../media/10.png"/><Relationship Id="rId4" Type="http://schemas.openxmlformats.org/officeDocument/2006/relationships/image" Target="../media/11.png"/><Relationship Id="rId5" Type="http://schemas.openxmlformats.org/officeDocument/2006/relationships/slideLayout" Target="../slideLayouts/slideLayout1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12.png"/><Relationship Id="rId2" Type="http://schemas.openxmlformats.org/officeDocument/2006/relationships/image" Target="../media/13.png"/><Relationship Id="rId3" Type="http://schemas.openxmlformats.org/officeDocument/2006/relationships/image" Target="../media/14.png"/><Relationship Id="rId4" Type="http://schemas.openxmlformats.org/officeDocument/2006/relationships/slideLayout" Target="../slideLayouts/slideLayout1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15.png"/><Relationship Id="rId2" Type="http://schemas.openxmlformats.org/officeDocument/2006/relationships/image" Target="../media/16.png"/><Relationship Id="rId3" Type="http://schemas.openxmlformats.org/officeDocument/2006/relationships/image" Target="../media/17.png"/><Relationship Id="rId4" Type="http://schemas.openxmlformats.org/officeDocument/2006/relationships/image" Target="../media/18.png"/><Relationship Id="rId5" Type="http://schemas.openxmlformats.org/officeDocument/2006/relationships/image" Target="../media/19.png"/><Relationship Id="rId6" Type="http://schemas.openxmlformats.org/officeDocument/2006/relationships/slideLayout" Target="../slideLayouts/slideLayout1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20.png"/><Relationship Id="rId2" Type="http://schemas.openxmlformats.org/officeDocument/2006/relationships/image" Target="../media/21.png"/><Relationship Id="rId3" Type="http://schemas.openxmlformats.org/officeDocument/2006/relationships/slideLayout" Target="../slideLayouts/slideLayout1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22.png"/><Relationship Id="rId2" Type="http://schemas.openxmlformats.org/officeDocument/2006/relationships/image" Target="../media/23.png"/><Relationship Id="rId3" Type="http://schemas.openxmlformats.org/officeDocument/2006/relationships/image" Target="../media/24.png"/><Relationship Id="rId4" Type="http://schemas.openxmlformats.org/officeDocument/2006/relationships/image" Target="../media/25.png"/><Relationship Id="rId5" Type="http://schemas.openxmlformats.org/officeDocument/2006/relationships/image" Target="../media/22.png"/><Relationship Id="rId6" Type="http://schemas.openxmlformats.org/officeDocument/2006/relationships/image" Target="../media/26.png"/><Relationship Id="rId7" Type="http://schemas.openxmlformats.org/officeDocument/2006/relationships/image" Target="../media/26.png"/><Relationship Id="rId8" Type="http://schemas.openxmlformats.org/officeDocument/2006/relationships/image" Target="../media/26.png"/><Relationship Id="rId9" Type="http://schemas.openxmlformats.org/officeDocument/2006/relationships/image" Target="../media/26.png"/><Relationship Id="rId10" Type="http://schemas.openxmlformats.org/officeDocument/2006/relationships/slideLayout" Target="../slideLayouts/slideLayout13.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27.png"/><Relationship Id="rId2" Type="http://schemas.openxmlformats.org/officeDocument/2006/relationships/image" Target="../media/28.png"/><Relationship Id="rId3" Type="http://schemas.openxmlformats.org/officeDocument/2006/relationships/image" Target="../media/29.png"/><Relationship Id="rId4" Type="http://schemas.openxmlformats.org/officeDocument/2006/relationships/image" Target="../media/30.png"/><Relationship Id="rId5" Type="http://schemas.openxmlformats.org/officeDocument/2006/relationships/image" Target="../media/27.png"/><Relationship Id="rId6" Type="http://schemas.openxmlformats.org/officeDocument/2006/relationships/image" Target="../media/31.png"/><Relationship Id="rId7" Type="http://schemas.openxmlformats.org/officeDocument/2006/relationships/image" Target="../media/32.png"/><Relationship Id="rId8" Type="http://schemas.openxmlformats.org/officeDocument/2006/relationships/image" Target="../media/33.png"/><Relationship Id="rId9" Type="http://schemas.openxmlformats.org/officeDocument/2006/relationships/image" Target="../media/34.png"/><Relationship Id="rId10" Type="http://schemas.openxmlformats.org/officeDocument/2006/relationships/image" Target="../media/34.png"/><Relationship Id="rId11" Type="http://schemas.openxmlformats.org/officeDocument/2006/relationships/image" Target="../media/34.png"/><Relationship Id="rId12" Type="http://schemas.openxmlformats.org/officeDocument/2006/relationships/slideLayout" Target="../slideLayouts/slideLayout13.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35.png"/><Relationship Id="rId2" Type="http://schemas.openxmlformats.org/officeDocument/2006/relationships/image" Target="../media/36.png"/><Relationship Id="rId3" Type="http://schemas.openxmlformats.org/officeDocument/2006/relationships/image" Target="../media/37.png"/><Relationship Id="rId4" Type="http://schemas.openxmlformats.org/officeDocument/2006/relationships/image" Target="../media/38.png"/><Relationship Id="rId5" Type="http://schemas.openxmlformats.org/officeDocument/2006/relationships/image" Target="../media/39.png"/><Relationship Id="rId6" Type="http://schemas.openxmlformats.org/officeDocument/2006/relationships/image" Target="../media/40.png"/><Relationship Id="rId7" Type="http://schemas.openxmlformats.org/officeDocument/2006/relationships/slideLayout" Target="../slideLayouts/slideLayout1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41.png"/><Relationship Id="rId2" Type="http://schemas.openxmlformats.org/officeDocument/2006/relationships/slideLayout" Target="../slideLayouts/slideLayout1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42.png"/><Relationship Id="rId2" Type="http://schemas.openxmlformats.org/officeDocument/2006/relationships/slideLayout" Target="../slideLayouts/slideLayout12.xml"/><Relationship Id="rId3" Type="http://schemas.openxmlformats.org/officeDocument/2006/relationships/notesSlide" Target="../notesSlides/notesSlide15.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id="8" name="Oval"/>
          <p:cNvSpPr>
            <a:spLocks/>
          </p:cNvSpPr>
          <p:nvPr/>
        </p:nvSpPr>
        <p:spPr>
          <a:xfrm rot="0">
            <a:off x="8961120" y="274320"/>
            <a:ext cx="54863" cy="54863"/>
          </a:xfrm>
          <a:prstGeom prst="ellipse"/>
          <a:solidFill>
            <a:srgbClr val="60A5FA"/>
          </a:solidFill>
          <a:ln w="12700" cmpd="sng" cap="flat">
            <a:noFill/>
            <a:prstDash val="solid"/>
            <a:miter/>
          </a:ln>
        </p:spPr>
      </p:sp>
      <p:sp>
        <p:nvSpPr>
          <p:cNvPr id="9" name="Oval"/>
          <p:cNvSpPr>
            <a:spLocks/>
          </p:cNvSpPr>
          <p:nvPr/>
        </p:nvSpPr>
        <p:spPr>
          <a:xfrm rot="0">
            <a:off x="9464040" y="2011679"/>
            <a:ext cx="54863" cy="54862"/>
          </a:xfrm>
          <a:prstGeom prst="ellipse"/>
          <a:solidFill>
            <a:srgbClr val="60A5FA"/>
          </a:solidFill>
          <a:ln w="12700" cmpd="sng" cap="flat">
            <a:noFill/>
            <a:prstDash val="solid"/>
            <a:miter/>
          </a:ln>
        </p:spPr>
      </p:sp>
      <p:sp>
        <p:nvSpPr>
          <p:cNvPr id="10" name="Oval"/>
          <p:cNvSpPr>
            <a:spLocks/>
          </p:cNvSpPr>
          <p:nvPr/>
        </p:nvSpPr>
        <p:spPr>
          <a:xfrm rot="0">
            <a:off x="9966960" y="3749040"/>
            <a:ext cx="54864" cy="54864"/>
          </a:xfrm>
          <a:prstGeom prst="ellipse"/>
          <a:solidFill>
            <a:srgbClr val="60A5FA"/>
          </a:solidFill>
          <a:ln w="12700" cmpd="sng" cap="flat">
            <a:noFill/>
            <a:prstDash val="solid"/>
            <a:miter/>
          </a:ln>
        </p:spPr>
      </p:sp>
      <p:sp>
        <p:nvSpPr>
          <p:cNvPr id="11" name="Oval"/>
          <p:cNvSpPr>
            <a:spLocks/>
          </p:cNvSpPr>
          <p:nvPr/>
        </p:nvSpPr>
        <p:spPr>
          <a:xfrm rot="0">
            <a:off x="10469880" y="274320"/>
            <a:ext cx="54864" cy="54863"/>
          </a:xfrm>
          <a:prstGeom prst="ellipse"/>
          <a:solidFill>
            <a:srgbClr val="60A5FA"/>
          </a:solidFill>
          <a:ln w="12700" cmpd="sng" cap="flat">
            <a:noFill/>
            <a:prstDash val="solid"/>
            <a:miter/>
          </a:ln>
        </p:spPr>
      </p:sp>
      <p:sp>
        <p:nvSpPr>
          <p:cNvPr id="12" name="Oval"/>
          <p:cNvSpPr>
            <a:spLocks/>
          </p:cNvSpPr>
          <p:nvPr/>
        </p:nvSpPr>
        <p:spPr>
          <a:xfrm rot="0">
            <a:off x="10972800" y="2011679"/>
            <a:ext cx="54864" cy="54862"/>
          </a:xfrm>
          <a:prstGeom prst="ellipse"/>
          <a:solidFill>
            <a:srgbClr val="60A5FA"/>
          </a:solidFill>
          <a:ln w="12700" cmpd="sng" cap="flat">
            <a:noFill/>
            <a:prstDash val="solid"/>
            <a:miter/>
          </a:ln>
        </p:spPr>
      </p:sp>
      <p:sp>
        <p:nvSpPr>
          <p:cNvPr id="13" name="Oval"/>
          <p:cNvSpPr>
            <a:spLocks/>
          </p:cNvSpPr>
          <p:nvPr/>
        </p:nvSpPr>
        <p:spPr>
          <a:xfrm rot="0">
            <a:off x="11475720" y="3749040"/>
            <a:ext cx="54864" cy="54864"/>
          </a:xfrm>
          <a:prstGeom prst="ellipse"/>
          <a:solidFill>
            <a:srgbClr val="60A5FA"/>
          </a:solidFill>
          <a:ln w="12700" cmpd="sng" cap="flat">
            <a:noFill/>
            <a:prstDash val="solid"/>
            <a:miter/>
          </a:ln>
        </p:spPr>
      </p:sp>
      <p:sp>
        <p:nvSpPr>
          <p:cNvPr id="14" name="Oval"/>
          <p:cNvSpPr>
            <a:spLocks/>
          </p:cNvSpPr>
          <p:nvPr/>
        </p:nvSpPr>
        <p:spPr>
          <a:xfrm rot="0">
            <a:off x="8778240" y="-1463040"/>
            <a:ext cx="5029200" cy="5029200"/>
          </a:xfrm>
          <a:prstGeom prst="ellipse"/>
          <a:solidFill>
            <a:srgbClr val="142B52"/>
          </a:solidFill>
          <a:ln w="12700" cmpd="sng" cap="flat">
            <a:noFill/>
            <a:prstDash val="solid"/>
            <a:miter/>
          </a:ln>
        </p:spPr>
      </p:sp>
      <p:sp>
        <p:nvSpPr>
          <p:cNvPr id="15" name="Oval"/>
          <p:cNvSpPr>
            <a:spLocks/>
          </p:cNvSpPr>
          <p:nvPr/>
        </p:nvSpPr>
        <p:spPr>
          <a:xfrm rot="0">
            <a:off x="10241281" y="3840480"/>
            <a:ext cx="3657600" cy="3657600"/>
          </a:xfrm>
          <a:prstGeom prst="ellipse"/>
          <a:solidFill>
            <a:srgbClr val="12274A"/>
          </a:solidFill>
          <a:ln w="12700" cmpd="sng" cap="flat">
            <a:noFill/>
            <a:prstDash val="solid"/>
            <a:miter/>
          </a:ln>
        </p:spPr>
      </p:sp>
      <p:sp>
        <p:nvSpPr>
          <p:cNvPr id="16" name="Oval"/>
          <p:cNvSpPr>
            <a:spLocks/>
          </p:cNvSpPr>
          <p:nvPr/>
        </p:nvSpPr>
        <p:spPr>
          <a:xfrm rot="0">
            <a:off x="685800" y="685800"/>
            <a:ext cx="777240" cy="777240"/>
          </a:xfrm>
          <a:prstGeom prst="ellipse"/>
          <a:solidFill>
            <a:srgbClr val="2563EB"/>
          </a:solidFill>
          <a:ln w="12700" cmpd="sng" cap="flat">
            <a:noFill/>
            <a:prstDash val="solid"/>
            <a:miter/>
          </a:ln>
        </p:spPr>
      </p:sp>
      <p:pic>
        <p:nvPicPr>
          <p:cNvPr id="17" name="Image" descr="/home/claude/deck/assets/shield_check.png"/>
          <p:cNvPicPr>
            <a:picLocks noChangeAspect="1"/>
          </p:cNvPicPr>
          <p:nvPr/>
        </p:nvPicPr>
        <p:blipFill>
          <a:blip r:embed="rId1" cstate="print"/>
          <a:stretch>
            <a:fillRect/>
          </a:stretch>
        </p:blipFill>
        <p:spPr>
          <a:xfrm rot="0">
            <a:off x="841248" y="841248"/>
            <a:ext cx="466344" cy="466344"/>
          </a:xfrm>
          <a:prstGeom prst="rect"/>
          <a:noFill/>
          <a:ln w="12700" cmpd="sng" cap="flat">
            <a:noFill/>
            <a:prstDash val="solid"/>
            <a:miter/>
          </a:ln>
        </p:spPr>
      </p:pic>
      <p:sp>
        <p:nvSpPr>
          <p:cNvPr id="18" name="Rectangle"/>
          <p:cNvSpPr>
            <a:spLocks/>
          </p:cNvSpPr>
          <p:nvPr/>
        </p:nvSpPr>
        <p:spPr>
          <a:xfrm rot="0">
            <a:off x="685800" y="1691639"/>
            <a:ext cx="7315200" cy="36576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00" b="1" i="0" u="none" strike="noStrike" kern="0" cap="none" spc="300" baseline="0">
                <a:solidFill>
                  <a:srgbClr val="60A5FA"/>
                </a:solidFill>
                <a:latin typeface="Calibri" pitchFamily="0" charset="0"/>
                <a:ea typeface="Calibri" pitchFamily="0" charset="0"/>
                <a:cs typeface="Calibri" pitchFamily="0" charset="0"/>
              </a:rPr>
              <a:t>TECHNICAL PRESENTATION</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9" name="Rectangle"/>
          <p:cNvSpPr>
            <a:spLocks/>
          </p:cNvSpPr>
          <p:nvPr/>
        </p:nvSpPr>
        <p:spPr>
          <a:xfrm rot="0">
            <a:off x="640080" y="2057400"/>
            <a:ext cx="9601200" cy="173736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4000"/>
              </a:lnSpc>
              <a:spcBef>
                <a:spcPts val="0"/>
              </a:spcBef>
              <a:spcAft>
                <a:spcPts val="0"/>
              </a:spcAft>
              <a:buNone/>
            </a:pPr>
            <a:r>
              <a:rPr lang="en-US" altLang="zh-CN" sz="4600" b="1" i="0" u="none" strike="noStrike" kern="1200" cap="none" spc="0" baseline="0">
                <a:solidFill>
                  <a:srgbClr val="FFFFFF"/>
                </a:solidFill>
                <a:latin typeface="Cambria" pitchFamily="34" charset="0"/>
                <a:ea typeface="Cambria" pitchFamily="34" charset="0"/>
                <a:cs typeface="Cambria" pitchFamily="34" charset="0"/>
              </a:rPr>
              <a:t>CSA5116-</a:t>
            </a:r>
            <a:r>
              <a:rPr lang="en-US" altLang="zh-CN" sz="4600" b="1" i="0" u="none" strike="noStrike" kern="1200" cap="none" spc="0" baseline="0">
                <a:solidFill>
                  <a:srgbClr val="FFFFFF"/>
                </a:solidFill>
                <a:latin typeface="Cambria" pitchFamily="34" charset="0"/>
                <a:ea typeface="Cambria" pitchFamily="34" charset="0"/>
                <a:cs typeface="Cambria" pitchFamily="34" charset="0"/>
              </a:rPr>
              <a:t>Cryptography and</a:t>
            </a:r>
            <a:endParaRPr lang="en-US" altLang="zh-CN" sz="46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4000"/>
              </a:lnSpc>
              <a:spcBef>
                <a:spcPts val="0"/>
              </a:spcBef>
              <a:spcAft>
                <a:spcPts val="0"/>
              </a:spcAft>
              <a:buNone/>
            </a:pPr>
            <a:r>
              <a:rPr lang="en-US" altLang="zh-CN" sz="4600" b="1" i="0" u="none" strike="noStrike" kern="1200" cap="none" spc="0" baseline="0">
                <a:solidFill>
                  <a:srgbClr val="FFFFFF"/>
                </a:solidFill>
                <a:latin typeface="Cambria" pitchFamily="34" charset="0"/>
                <a:ea typeface="Cambria" pitchFamily="34" charset="0"/>
                <a:cs typeface="Cambria" pitchFamily="34" charset="0"/>
              </a:rPr>
              <a:t>Network Security</a:t>
            </a:r>
            <a:endParaRPr lang="zh-CN" altLang="en-US" sz="4600" b="0" i="0" u="none" strike="noStrike" kern="1200" cap="none" spc="0" baseline="0">
              <a:solidFill>
                <a:schemeClr val="tx1"/>
              </a:solidFill>
              <a:latin typeface="Calibri" pitchFamily="0" charset="0"/>
              <a:ea typeface="等线" pitchFamily="0" charset="0"/>
              <a:cs typeface="Calibri" pitchFamily="0" charset="0"/>
            </a:endParaRPr>
          </a:p>
        </p:txBody>
      </p:sp>
      <p:sp>
        <p:nvSpPr>
          <p:cNvPr id="20" name="Rectangle"/>
          <p:cNvSpPr>
            <a:spLocks/>
          </p:cNvSpPr>
          <p:nvPr/>
        </p:nvSpPr>
        <p:spPr>
          <a:xfrm rot="0">
            <a:off x="685800" y="3794760"/>
            <a:ext cx="9875520" cy="91440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35000"/>
              </a:lnSpc>
              <a:spcBef>
                <a:spcPts val="0"/>
              </a:spcBef>
              <a:spcAft>
                <a:spcPts val="0"/>
              </a:spcAft>
              <a:buNone/>
            </a:pPr>
            <a:r>
              <a:rPr lang="en-US" altLang="zh-CN" sz="1450" b="1" i="0" u="none" strike="noStrike" kern="1200" cap="none" spc="0" baseline="0">
                <a:solidFill>
                  <a:srgbClr val="60A5FA"/>
                </a:solidFill>
                <a:latin typeface="Calibri" pitchFamily="0" charset="0"/>
                <a:ea typeface="Calibri" pitchFamily="0" charset="0"/>
                <a:cs typeface="Calibri" pitchFamily="0" charset="0"/>
              </a:rPr>
              <a:t>Topic 1: </a:t>
            </a:r>
            <a:r>
              <a:rPr lang="en-US" altLang="zh-CN" sz="1450" b="0" i="0" u="none" strike="noStrike" kern="1200" cap="none" spc="0" baseline="0">
                <a:solidFill>
                  <a:srgbClr val="D7E3FA"/>
                </a:solidFill>
                <a:latin typeface="Calibri" pitchFamily="0" charset="0"/>
                <a:ea typeface="Calibri" pitchFamily="0" charset="0"/>
                <a:cs typeface="Calibri" pitchFamily="0" charset="0"/>
              </a:rPr>
              <a:t>Security Attacks, Threats, Risks and Their Impact on Security Goals
</a:t>
            </a:r>
            <a:r>
              <a:rPr lang="en-US" altLang="zh-CN" sz="1450" b="1" i="0" u="none" strike="noStrike" kern="1200" cap="none" spc="0" baseline="0">
                <a:solidFill>
                  <a:srgbClr val="60A5FA"/>
                </a:solidFill>
                <a:latin typeface="Calibri" pitchFamily="0" charset="0"/>
                <a:ea typeface="Calibri" pitchFamily="0" charset="0"/>
                <a:cs typeface="Calibri" pitchFamily="0" charset="0"/>
              </a:rPr>
              <a:t>Topic 2: </a:t>
            </a:r>
            <a:r>
              <a:rPr lang="en-US" altLang="zh-CN" sz="1450" b="0" i="0" u="none" strike="noStrike" kern="1200" cap="none" spc="0" baseline="0">
                <a:solidFill>
                  <a:srgbClr val="D7E3FA"/>
                </a:solidFill>
                <a:latin typeface="Calibri" pitchFamily="0" charset="0"/>
                <a:ea typeface="Calibri" pitchFamily="0" charset="0"/>
                <a:cs typeface="Calibri" pitchFamily="0" charset="0"/>
              </a:rPr>
              <a:t>Steganography vs Cryptography: Hidden Security in the Digital World</a:t>
            </a:r>
            <a:endParaRPr lang="zh-CN" altLang="en-US" sz="1450" b="0" i="0" u="none" strike="noStrike" kern="1200" cap="none" spc="0" baseline="0">
              <a:solidFill>
                <a:schemeClr val="tx1"/>
              </a:solidFill>
              <a:latin typeface="Calibri" pitchFamily="0" charset="0"/>
              <a:ea typeface="等线" pitchFamily="0" charset="0"/>
              <a:cs typeface="Calibri" pitchFamily="0" charset="0"/>
            </a:endParaRPr>
          </a:p>
        </p:txBody>
      </p:sp>
      <p:sp>
        <p:nvSpPr>
          <p:cNvPr id="21" name="Rounded rectangle"/>
          <p:cNvSpPr>
            <a:spLocks/>
          </p:cNvSpPr>
          <p:nvPr/>
        </p:nvSpPr>
        <p:spPr>
          <a:xfrm rot="0">
            <a:off x="685800" y="4892040"/>
            <a:ext cx="7863840" cy="1508758"/>
          </a:xfrm>
          <a:prstGeom prst="roundRect">
            <a:avLst>
              <a:gd name="adj" fmla="val 4847"/>
            </a:avLst>
          </a:prstGeom>
          <a:solidFill>
            <a:srgbClr val="132A4F"/>
          </a:solidFill>
          <a:ln w="12700" cmpd="sng" cap="flat">
            <a:noFill/>
            <a:prstDash val="solid"/>
            <a:miter/>
          </a:ln>
          <a:effectLst>
            <a:outerShdw sx="100000" sy="100000" algn="bl" rotWithShape="0" blurRad="101600" dist="38100" dir="5400000">
              <a:srgbClr val="1F2937">
                <a:alpha val="17647"/>
              </a:srgbClr>
            </a:outerShdw>
          </a:effectLst>
        </p:spPr>
      </p:sp>
      <p:sp>
        <p:nvSpPr>
          <p:cNvPr id="22" name="Rectangle"/>
          <p:cNvSpPr>
            <a:spLocks/>
          </p:cNvSpPr>
          <p:nvPr/>
        </p:nvSpPr>
        <p:spPr>
          <a:xfrm rot="0">
            <a:off x="868680" y="5029200"/>
            <a:ext cx="36576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00" b="1" i="0" u="none" strike="noStrike" kern="0" cap="none" spc="100" baseline="0">
                <a:solidFill>
                  <a:srgbClr val="60A5FA"/>
                </a:solidFill>
                <a:latin typeface="Calibri" pitchFamily="0" charset="0"/>
                <a:ea typeface="Calibri" pitchFamily="0" charset="0"/>
                <a:cs typeface="Calibri" pitchFamily="0" charset="0"/>
              </a:rPr>
              <a:t>STUDENT NAME</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3" name="Rectangle"/>
          <p:cNvSpPr>
            <a:spLocks/>
          </p:cNvSpPr>
          <p:nvPr/>
        </p:nvSpPr>
        <p:spPr>
          <a:xfrm rot="0">
            <a:off x="868680" y="5285232"/>
            <a:ext cx="3657600" cy="292606"/>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pitchFamily="0" charset="0"/>
                <a:ea typeface="Calibri" pitchFamily="0" charset="0"/>
                <a:cs typeface="Calibri" pitchFamily="0" charset="0"/>
              </a:rPr>
              <a:t>Preethika M</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 name="Rectangle"/>
          <p:cNvSpPr>
            <a:spLocks/>
          </p:cNvSpPr>
          <p:nvPr/>
        </p:nvSpPr>
        <p:spPr>
          <a:xfrm rot="0">
            <a:off x="4800600" y="5029200"/>
            <a:ext cx="36576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00" b="1" i="0" u="none" strike="noStrike" kern="0" cap="none" spc="100" baseline="0">
                <a:solidFill>
                  <a:srgbClr val="60A5FA"/>
                </a:solidFill>
                <a:latin typeface="Calibri" pitchFamily="0" charset="0"/>
                <a:ea typeface="Calibri" pitchFamily="0" charset="0"/>
                <a:cs typeface="Calibri" pitchFamily="0" charset="0"/>
              </a:rPr>
              <a:t>REGISTER NUMBER</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5" name="Rectangle"/>
          <p:cNvSpPr>
            <a:spLocks/>
          </p:cNvSpPr>
          <p:nvPr/>
        </p:nvSpPr>
        <p:spPr>
          <a:xfrm rot="0">
            <a:off x="4800600" y="5285232"/>
            <a:ext cx="3657600" cy="292606"/>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pitchFamily="0" charset="0"/>
                <a:ea typeface="等线" pitchFamily="0" charset="0"/>
                <a:cs typeface="Calibri" pitchFamily="0" charset="0"/>
              </a:rPr>
              <a:t>192511216</a:t>
            </a:r>
            <a:endParaRPr lang="zh-CN" altLang="en-US" sz="1350" b="0" i="0" u="none" strike="noStrike" kern="1200" cap="none" spc="0" baseline="0">
              <a:solidFill>
                <a:srgbClr val="FFFFFF"/>
              </a:solidFill>
              <a:latin typeface="Calibri" pitchFamily="0" charset="0"/>
              <a:ea typeface="等线" pitchFamily="0" charset="0"/>
              <a:cs typeface="Calibri" pitchFamily="0" charset="0"/>
            </a:endParaRPr>
          </a:p>
        </p:txBody>
      </p:sp>
      <p:sp>
        <p:nvSpPr>
          <p:cNvPr id="26" name="Rectangle"/>
          <p:cNvSpPr>
            <a:spLocks/>
          </p:cNvSpPr>
          <p:nvPr/>
        </p:nvSpPr>
        <p:spPr>
          <a:xfrm rot="0">
            <a:off x="868680" y="5742432"/>
            <a:ext cx="36576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00" b="1" i="0" u="none" strike="noStrike" kern="0" cap="none" spc="100" baseline="0">
                <a:solidFill>
                  <a:srgbClr val="60A5FA"/>
                </a:solidFill>
                <a:latin typeface="Calibri" pitchFamily="0" charset="0"/>
                <a:ea typeface="Calibri" pitchFamily="0" charset="0"/>
                <a:cs typeface="Calibri" pitchFamily="0" charset="0"/>
              </a:rPr>
              <a:t>DEPARTMENT</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 name="Rectangle"/>
          <p:cNvSpPr>
            <a:spLocks/>
          </p:cNvSpPr>
          <p:nvPr/>
        </p:nvSpPr>
        <p:spPr>
          <a:xfrm rot="0">
            <a:off x="868680" y="5998464"/>
            <a:ext cx="3657600" cy="292606"/>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pitchFamily="0" charset="0"/>
                <a:ea typeface="Calibri" pitchFamily="0" charset="0"/>
                <a:cs typeface="Calibri" pitchFamily="0" charset="0"/>
              </a:rPr>
              <a:t>AI &amp; Machine Learning</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28" name="Rectangle"/>
          <p:cNvSpPr>
            <a:spLocks/>
          </p:cNvSpPr>
          <p:nvPr/>
        </p:nvSpPr>
        <p:spPr>
          <a:xfrm rot="0">
            <a:off x="4800600" y="5742432"/>
            <a:ext cx="36576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00" b="1" i="0" u="none" strike="noStrike" kern="0" cap="none" spc="100" baseline="0">
                <a:solidFill>
                  <a:srgbClr val="60A5FA"/>
                </a:solidFill>
                <a:latin typeface="Calibri" pitchFamily="0" charset="0"/>
                <a:ea typeface="Calibri" pitchFamily="0" charset="0"/>
                <a:cs typeface="Calibri" pitchFamily="0" charset="0"/>
              </a:rPr>
              <a:t>COLLEGE</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 name="Rectangle"/>
          <p:cNvSpPr>
            <a:spLocks/>
          </p:cNvSpPr>
          <p:nvPr/>
        </p:nvSpPr>
        <p:spPr>
          <a:xfrm rot="0">
            <a:off x="4800600" y="5998464"/>
            <a:ext cx="3657600" cy="292606"/>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pitchFamily="0" charset="0"/>
                <a:ea typeface="Calibri" pitchFamily="0" charset="0"/>
                <a:cs typeface="Calibri" pitchFamily="0" charset="0"/>
              </a:rPr>
              <a:t>Saveetha School of Engineering, SIMATS</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30" name="Rectangle"/>
          <p:cNvSpPr>
            <a:spLocks/>
          </p:cNvSpPr>
          <p:nvPr/>
        </p:nvSpPr>
        <p:spPr>
          <a:xfrm rot="0">
            <a:off x="605789" y="6404993"/>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8FA3C4"/>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1"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8FA3C4"/>
                </a:solidFill>
                <a:latin typeface="Calibri" pitchFamily="0" charset="0"/>
                <a:ea typeface="Calibri" pitchFamily="0" charset="0"/>
                <a:cs typeface="Calibri" pitchFamily="0" charset="0"/>
              </a:rPr>
              <a:t>1</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2" name="Rectangle" descr="*#TXT_SIGN#*"/>
          <p:cNvSpPr>
            <a:spLocks/>
          </p:cNvSpPr>
          <p:nvPr/>
        </p:nvSpPr>
        <p:spPr>
          <a:xfrm flipH="1" rot="21581088">
            <a:off x="5004167" y="1048054"/>
            <a:ext cx="2253565" cy="419099"/>
          </a:xfrm>
          <a:prstGeom prst="rect"/>
          <a:noFill/>
          <a:ln w="12700" cmpd="sng" cap="flat">
            <a:noFill/>
            <a:prstDash val="solid"/>
            <a:miter/>
          </a:ln>
        </p:spPr>
        <p:txBody>
          <a:bodyPr vert="horz" wrap="square" lIns="76200" tIns="76200" rIns="76200" bIns="7620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rgbClr val="FFFFFF"/>
                </a:solidFill>
                <a:latin typeface="Droid Sans" pitchFamily="0" charset="0"/>
                <a:ea typeface="宋体" pitchFamily="0" charset="0"/>
                <a:cs typeface="Lucida Sans" pitchFamily="0" charset="0"/>
              </a:rPr>
              <a:t>CO1 AT3</a:t>
            </a:r>
            <a:endParaRPr lang="zh-CN" altLang="en-US" sz="1800" b="0" i="0" u="none" strike="noStrike" kern="1200" cap="none" spc="0" baseline="0">
              <a:solidFill>
                <a:srgbClr val="FFFFFF"/>
              </a:solidFill>
              <a:latin typeface="AndroidClock"/>
              <a:ea typeface="AndroidClock"/>
              <a:cs typeface="Lucida Sans" pitchFamily="0" charset="0"/>
            </a:endParaRPr>
          </a:p>
        </p:txBody>
      </p:sp>
    </p:spTree>
    <p:extLst>
      <p:ext uri="{BB962C8B-B14F-4D97-AF65-F5344CB8AC3E}">
        <p14:creationId xmlns:p14="http://schemas.microsoft.com/office/powerpoint/2010/main" val="959535586"/>
      </p:ext>
    </p:extLst>
  </p:cSld>
  <p:clrMapOvr>
    <a:masterClrMapping/>
  </p:clrMapOvr>
  <p:transition spd="med">
    <p:fade/>
  </p:transition>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37"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1 · FOUNDATIONS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Introduction to Information Security</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9" name="Rectangle"/>
          <p:cNvSpPr>
            <a:spLocks/>
          </p:cNvSpPr>
          <p:nvPr/>
        </p:nvSpPr>
        <p:spPr>
          <a:xfrm rot="0">
            <a:off x="548640" y="1417320"/>
            <a:ext cx="6309360"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Information Security protects data and systems from unauthorized access, disclosure, disruption, or destruction.</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Covers three pillars: people, processes, and technology working together.</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Applies to data at rest, in transit, and in use across networks, devices, and cloud systems.</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Growing importance driven by digital banking, e-commerce, healthcare records, and IoT devices.</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Foundation for building trust in digital communication and online transactions.</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Framed by international standards such as ISO/IEC 27001 and NIST SP 800-53.</a:t>
            </a:r>
            <a:endParaRPr lang="zh-CN" altLang="en-US" sz="1550" b="0" i="0" u="none" strike="noStrike" kern="1200" cap="none" spc="0" baseline="0">
              <a:solidFill>
                <a:schemeClr val="tx1"/>
              </a:solidFill>
              <a:latin typeface="Calibri" pitchFamily="0" charset="0"/>
              <a:ea typeface="等线" pitchFamily="0" charset="0"/>
              <a:cs typeface="Calibri" pitchFamily="0" charset="0"/>
            </a:endParaRPr>
          </a:p>
        </p:txBody>
      </p:sp>
      <p:sp>
        <p:nvSpPr>
          <p:cNvPr id="40" name="Oval"/>
          <p:cNvSpPr>
            <a:spLocks/>
          </p:cNvSpPr>
          <p:nvPr/>
        </p:nvSpPr>
        <p:spPr>
          <a:xfrm rot="0">
            <a:off x="7132320" y="1554480"/>
            <a:ext cx="4206238" cy="4206240"/>
          </a:xfrm>
          <a:prstGeom prst="ellipse"/>
          <a:solidFill>
            <a:srgbClr val="DCE7FB"/>
          </a:solidFill>
          <a:ln w="12700" cmpd="sng" cap="flat">
            <a:noFill/>
            <a:prstDash val="solid"/>
            <a:miter/>
          </a:ln>
        </p:spPr>
      </p:sp>
      <p:sp>
        <p:nvSpPr>
          <p:cNvPr id="41" name="Oval"/>
          <p:cNvSpPr>
            <a:spLocks/>
          </p:cNvSpPr>
          <p:nvPr/>
        </p:nvSpPr>
        <p:spPr>
          <a:xfrm rot="0">
            <a:off x="7635240" y="2057400"/>
            <a:ext cx="3200400" cy="3200400"/>
          </a:xfrm>
          <a:prstGeom prst="ellipse"/>
          <a:solidFill>
            <a:srgbClr val="AFC9F5"/>
          </a:solidFill>
          <a:ln w="12700" cmpd="sng" cap="flat">
            <a:noFill/>
            <a:prstDash val="solid"/>
            <a:miter/>
          </a:ln>
        </p:spPr>
      </p:sp>
      <p:sp>
        <p:nvSpPr>
          <p:cNvPr id="42" name="Oval"/>
          <p:cNvSpPr>
            <a:spLocks/>
          </p:cNvSpPr>
          <p:nvPr/>
        </p:nvSpPr>
        <p:spPr>
          <a:xfrm rot="0">
            <a:off x="8138160" y="2560320"/>
            <a:ext cx="2194559" cy="2194560"/>
          </a:xfrm>
          <a:prstGeom prst="ellipse"/>
          <a:solidFill>
            <a:srgbClr val="2563EB"/>
          </a:solidFill>
          <a:ln w="12700" cmpd="sng" cap="flat">
            <a:noFill/>
            <a:prstDash val="solid"/>
            <a:miter/>
          </a:ln>
        </p:spPr>
      </p:sp>
      <p:pic>
        <p:nvPicPr>
          <p:cNvPr id="43" name="Image" descr="/home/claude/deck/assets/shield_check.png"/>
          <p:cNvPicPr>
            <a:picLocks noChangeAspect="1"/>
          </p:cNvPicPr>
          <p:nvPr/>
        </p:nvPicPr>
        <p:blipFill>
          <a:blip r:embed="rId1" cstate="print"/>
          <a:stretch>
            <a:fillRect/>
          </a:stretch>
        </p:blipFill>
        <p:spPr>
          <a:xfrm rot="0">
            <a:off x="8778240" y="3200400"/>
            <a:ext cx="914400" cy="914400"/>
          </a:xfrm>
          <a:prstGeom prst="rect"/>
          <a:noFill/>
          <a:ln w="12700" cmpd="sng" cap="flat">
            <a:noFill/>
            <a:prstDash val="solid"/>
            <a:miter/>
          </a:ln>
        </p:spPr>
      </p:pic>
      <p:sp>
        <p:nvSpPr>
          <p:cNvPr id="44" name="Rectangle"/>
          <p:cNvSpPr>
            <a:spLocks/>
          </p:cNvSpPr>
          <p:nvPr/>
        </p:nvSpPr>
        <p:spPr>
          <a:xfrm rot="0">
            <a:off x="7955280" y="5074920"/>
            <a:ext cx="2560318" cy="18288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Layered</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Defense</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45"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46"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2</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631126068"/>
      </p:ext>
    </p:extLst>
  </p:cSld>
  <p:clrMapOvr>
    <a:masterClrMapping/>
  </p:clrMapOvr>
  <p:transition spd="med">
    <p:fade/>
  </p:transition>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51"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1 · ATTACKS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52"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Security Attacks</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53" name="Rounded rectangle"/>
          <p:cNvSpPr>
            <a:spLocks/>
          </p:cNvSpPr>
          <p:nvPr/>
        </p:nvSpPr>
        <p:spPr>
          <a:xfrm rot="0">
            <a:off x="548640" y="1417320"/>
            <a:ext cx="5257800" cy="3246120"/>
          </a:xfrm>
          <a:prstGeom prst="roundRect">
            <a:avLst>
              <a:gd name="adj" fmla="val 2254"/>
            </a:avLst>
          </a:prstGeom>
          <a:solidFill>
            <a:srgbClr val="E8F0FE"/>
          </a:solidFill>
          <a:ln w="12700" cmpd="sng" cap="flat">
            <a:noFill/>
            <a:prstDash val="solid"/>
            <a:miter/>
          </a:ln>
          <a:effectLst>
            <a:outerShdw sx="100000" sy="100000" algn="bl" rotWithShape="0" blurRad="101600" dist="38100" dir="5400000">
              <a:srgbClr val="1F2937">
                <a:alpha val="17647"/>
              </a:srgbClr>
            </a:outerShdw>
          </a:effectLst>
        </p:spPr>
      </p:sp>
      <p:sp>
        <p:nvSpPr>
          <p:cNvPr id="54" name="Oval"/>
          <p:cNvSpPr>
            <a:spLocks/>
          </p:cNvSpPr>
          <p:nvPr/>
        </p:nvSpPr>
        <p:spPr>
          <a:xfrm rot="0">
            <a:off x="822960" y="1691639"/>
            <a:ext cx="566928" cy="566928"/>
          </a:xfrm>
          <a:prstGeom prst="ellipse"/>
          <a:solidFill>
            <a:srgbClr val="2563EB"/>
          </a:solidFill>
          <a:ln w="12700" cmpd="sng" cap="flat">
            <a:noFill/>
            <a:prstDash val="solid"/>
            <a:miter/>
          </a:ln>
        </p:spPr>
      </p:sp>
      <p:pic>
        <p:nvPicPr>
          <p:cNvPr id="55" name="Image" descr="/home/claude/deck/assets/eye.png"/>
          <p:cNvPicPr>
            <a:picLocks noChangeAspect="1"/>
          </p:cNvPicPr>
          <p:nvPr/>
        </p:nvPicPr>
        <p:blipFill>
          <a:blip r:embed="rId1" cstate="print"/>
          <a:stretch>
            <a:fillRect/>
          </a:stretch>
        </p:blipFill>
        <p:spPr>
          <a:xfrm rot="0">
            <a:off x="942015" y="1810695"/>
            <a:ext cx="328818" cy="328817"/>
          </a:xfrm>
          <a:prstGeom prst="rect"/>
          <a:noFill/>
          <a:ln w="12700" cmpd="sng" cap="flat">
            <a:noFill/>
            <a:prstDash val="solid"/>
            <a:miter/>
          </a:ln>
        </p:spPr>
      </p:pic>
      <p:sp>
        <p:nvSpPr>
          <p:cNvPr id="56" name="Rectangle"/>
          <p:cNvSpPr>
            <a:spLocks/>
          </p:cNvSpPr>
          <p:nvPr/>
        </p:nvSpPr>
        <p:spPr>
          <a:xfrm rot="0">
            <a:off x="1554480" y="1709928"/>
            <a:ext cx="4023359" cy="45720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1F2937"/>
                </a:solidFill>
                <a:latin typeface="Cambria" pitchFamily="34" charset="0"/>
                <a:ea typeface="Cambria" pitchFamily="34" charset="0"/>
                <a:cs typeface="Cambria" pitchFamily="34" charset="0"/>
              </a:rPr>
              <a:t>Passive Attacks</a:t>
            </a:r>
            <a:endParaRPr lang="zh-CN" altLang="en-US" sz="1800" b="0" i="0" u="none" strike="noStrike" kern="1200" cap="none" spc="0" baseline="0">
              <a:solidFill>
                <a:schemeClr val="tx1"/>
              </a:solidFill>
              <a:latin typeface="Calibri" pitchFamily="0" charset="0"/>
              <a:ea typeface="等线" pitchFamily="0" charset="0"/>
              <a:cs typeface="Calibri" pitchFamily="0" charset="0"/>
            </a:endParaRPr>
          </a:p>
        </p:txBody>
      </p:sp>
      <p:sp>
        <p:nvSpPr>
          <p:cNvPr id="57" name="Rectangle"/>
          <p:cNvSpPr>
            <a:spLocks/>
          </p:cNvSpPr>
          <p:nvPr/>
        </p:nvSpPr>
        <p:spPr>
          <a:xfrm rot="0">
            <a:off x="822960" y="2331720"/>
            <a:ext cx="4709160"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pitchFamily="0" charset="0"/>
                <a:ea typeface="Calibri" pitchFamily="0" charset="0"/>
                <a:cs typeface="Calibri" pitchFamily="0" charset="0"/>
              </a:rPr>
              <a:t>Monitor or eavesdrop without altering data</a:t>
            </a:r>
            <a:endParaRPr lang="en-US" altLang="zh-CN" sz="13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pitchFamily="0" charset="0"/>
                <a:ea typeface="Calibri" pitchFamily="0" charset="0"/>
                <a:cs typeface="Calibri" pitchFamily="0" charset="0"/>
              </a:rPr>
              <a:t>Goal: obtain information in transit</a:t>
            </a:r>
            <a:endParaRPr lang="en-US" altLang="zh-CN" sz="13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pitchFamily="0" charset="0"/>
                <a:ea typeface="Calibri" pitchFamily="0" charset="0"/>
                <a:cs typeface="Calibri" pitchFamily="0" charset="0"/>
              </a:rPr>
              <a:t>Hard to detect since data isn't modified</a:t>
            </a:r>
            <a:endParaRPr lang="en-US" altLang="zh-CN" sz="13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pitchFamily="0" charset="0"/>
                <a:ea typeface="Calibri" pitchFamily="0" charset="0"/>
                <a:cs typeface="Calibri" pitchFamily="0" charset="0"/>
              </a:rPr>
              <a:t>Examples: traffic analysis, wiretapping</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58" name="Rounded rectangle"/>
          <p:cNvSpPr>
            <a:spLocks/>
          </p:cNvSpPr>
          <p:nvPr/>
        </p:nvSpPr>
        <p:spPr>
          <a:xfrm rot="0">
            <a:off x="6126478" y="1417320"/>
            <a:ext cx="5257799" cy="3246120"/>
          </a:xfrm>
          <a:prstGeom prst="roundRect">
            <a:avLst>
              <a:gd name="adj" fmla="val 2254"/>
            </a:avLst>
          </a:prstGeom>
          <a:solidFill>
            <a:srgbClr val="FDECEC"/>
          </a:solidFill>
          <a:ln w="12700" cmpd="sng" cap="flat">
            <a:noFill/>
            <a:prstDash val="solid"/>
            <a:miter/>
          </a:ln>
          <a:effectLst>
            <a:outerShdw sx="100000" sy="100000" algn="bl" rotWithShape="0" blurRad="101600" dist="38100" dir="5400000">
              <a:srgbClr val="1F2937">
                <a:alpha val="17647"/>
              </a:srgbClr>
            </a:outerShdw>
          </a:effectLst>
        </p:spPr>
      </p:sp>
      <p:sp>
        <p:nvSpPr>
          <p:cNvPr id="59" name="Oval"/>
          <p:cNvSpPr>
            <a:spLocks/>
          </p:cNvSpPr>
          <p:nvPr/>
        </p:nvSpPr>
        <p:spPr>
          <a:xfrm rot="0">
            <a:off x="6400800" y="1691639"/>
            <a:ext cx="566927" cy="566928"/>
          </a:xfrm>
          <a:prstGeom prst="ellipse"/>
          <a:solidFill>
            <a:srgbClr val="DC2626"/>
          </a:solidFill>
          <a:ln w="12700" cmpd="sng" cap="flat">
            <a:noFill/>
            <a:prstDash val="solid"/>
            <a:miter/>
          </a:ln>
        </p:spPr>
      </p:sp>
      <p:pic>
        <p:nvPicPr>
          <p:cNvPr id="60" name="Image" descr="/home/claude/deck/assets/zap.png"/>
          <p:cNvPicPr>
            <a:picLocks noChangeAspect="1"/>
          </p:cNvPicPr>
          <p:nvPr/>
        </p:nvPicPr>
        <p:blipFill>
          <a:blip r:embed="rId2" cstate="print"/>
          <a:stretch>
            <a:fillRect/>
          </a:stretch>
        </p:blipFill>
        <p:spPr>
          <a:xfrm rot="0">
            <a:off x="6519854" y="1810695"/>
            <a:ext cx="328816" cy="328817"/>
          </a:xfrm>
          <a:prstGeom prst="rect"/>
          <a:noFill/>
          <a:ln w="12700" cmpd="sng" cap="flat">
            <a:noFill/>
            <a:prstDash val="solid"/>
            <a:miter/>
          </a:ln>
        </p:spPr>
      </p:pic>
      <p:sp>
        <p:nvSpPr>
          <p:cNvPr id="61" name="Rectangle"/>
          <p:cNvSpPr>
            <a:spLocks/>
          </p:cNvSpPr>
          <p:nvPr/>
        </p:nvSpPr>
        <p:spPr>
          <a:xfrm rot="0">
            <a:off x="7132320" y="1709928"/>
            <a:ext cx="4023359" cy="45720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1F2937"/>
                </a:solidFill>
                <a:latin typeface="Cambria" pitchFamily="34" charset="0"/>
                <a:ea typeface="Cambria" pitchFamily="34" charset="0"/>
                <a:cs typeface="Cambria" pitchFamily="34" charset="0"/>
              </a:rPr>
              <a:t>Active Attacks</a:t>
            </a:r>
            <a:endParaRPr lang="zh-CN" altLang="en-US" sz="1800" b="0" i="0" u="none" strike="noStrike" kern="1200" cap="none" spc="0" baseline="0">
              <a:solidFill>
                <a:schemeClr val="tx1"/>
              </a:solidFill>
              <a:latin typeface="Calibri" pitchFamily="0" charset="0"/>
              <a:ea typeface="等线" pitchFamily="0" charset="0"/>
              <a:cs typeface="Calibri" pitchFamily="0" charset="0"/>
            </a:endParaRPr>
          </a:p>
        </p:txBody>
      </p:sp>
      <p:sp>
        <p:nvSpPr>
          <p:cNvPr id="62" name="Rectangle"/>
          <p:cNvSpPr>
            <a:spLocks/>
          </p:cNvSpPr>
          <p:nvPr/>
        </p:nvSpPr>
        <p:spPr>
          <a:xfrm rot="0">
            <a:off x="6400800" y="2331720"/>
            <a:ext cx="4709159"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pitchFamily="0" charset="0"/>
                <a:ea typeface="Calibri" pitchFamily="0" charset="0"/>
                <a:cs typeface="Calibri" pitchFamily="0" charset="0"/>
              </a:rPr>
              <a:t>Modify data or disrupt system operations</a:t>
            </a:r>
            <a:endParaRPr lang="en-US" altLang="zh-CN" sz="13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pitchFamily="0" charset="0"/>
                <a:ea typeface="Calibri" pitchFamily="0" charset="0"/>
                <a:cs typeface="Calibri" pitchFamily="0" charset="0"/>
              </a:rPr>
              <a:t>Goal: alter, delete, or forge information</a:t>
            </a:r>
            <a:endParaRPr lang="en-US" altLang="zh-CN" sz="13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pitchFamily="0" charset="0"/>
                <a:ea typeface="Calibri" pitchFamily="0" charset="0"/>
                <a:cs typeface="Calibri" pitchFamily="0" charset="0"/>
              </a:rPr>
              <a:t>Easier to detect, harder to prevent</a:t>
            </a:r>
            <a:endParaRPr lang="en-US" altLang="zh-CN" sz="13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pitchFamily="0" charset="0"/>
                <a:ea typeface="Calibri" pitchFamily="0" charset="0"/>
                <a:cs typeface="Calibri" pitchFamily="0" charset="0"/>
              </a:rPr>
              <a:t>Examples: masquerade, replay, DoS, modification</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63" name="Rectangle"/>
          <p:cNvSpPr>
            <a:spLocks/>
          </p:cNvSpPr>
          <p:nvPr/>
        </p:nvSpPr>
        <p:spPr>
          <a:xfrm rot="0">
            <a:off x="548640" y="4892040"/>
            <a:ext cx="4572000" cy="27431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1" i="0" u="none" strike="noStrike" kern="0" cap="none" spc="150" baseline="0">
                <a:solidFill>
                  <a:srgbClr val="64748B"/>
                </a:solidFill>
                <a:latin typeface="Calibri" pitchFamily="0" charset="0"/>
                <a:ea typeface="Calibri" pitchFamily="0" charset="0"/>
                <a:cs typeface="Calibri" pitchFamily="0" charset="0"/>
              </a:rPr>
              <a:t>REAL-WORLD EXAMPLES</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64" name="Oval"/>
          <p:cNvSpPr>
            <a:spLocks/>
          </p:cNvSpPr>
          <p:nvPr/>
        </p:nvSpPr>
        <p:spPr>
          <a:xfrm rot="0">
            <a:off x="548640" y="5257800"/>
            <a:ext cx="457200" cy="457200"/>
          </a:xfrm>
          <a:prstGeom prst="ellipse"/>
          <a:solidFill>
            <a:srgbClr val="1F2937"/>
          </a:solidFill>
          <a:ln w="12700" cmpd="sng" cap="flat">
            <a:noFill/>
            <a:prstDash val="solid"/>
            <a:miter/>
          </a:ln>
        </p:spPr>
      </p:sp>
      <p:pic>
        <p:nvPicPr>
          <p:cNvPr id="65" name="Image" descr="/home/claude/deck/assets/wifi.png"/>
          <p:cNvPicPr>
            <a:picLocks noChangeAspect="1"/>
          </p:cNvPicPr>
          <p:nvPr/>
        </p:nvPicPr>
        <p:blipFill>
          <a:blip r:embed="rId3" cstate="print"/>
          <a:stretch>
            <a:fillRect/>
          </a:stretch>
        </p:blipFill>
        <p:spPr>
          <a:xfrm rot="0">
            <a:off x="651510" y="5360670"/>
            <a:ext cx="251459" cy="251458"/>
          </a:xfrm>
          <a:prstGeom prst="rect"/>
          <a:noFill/>
          <a:ln w="12700" cmpd="sng" cap="flat">
            <a:noFill/>
            <a:prstDash val="solid"/>
            <a:miter/>
          </a:ln>
        </p:spPr>
      </p:pic>
      <p:sp>
        <p:nvSpPr>
          <p:cNvPr id="66" name="Rectangle"/>
          <p:cNvSpPr>
            <a:spLocks/>
          </p:cNvSpPr>
          <p:nvPr/>
        </p:nvSpPr>
        <p:spPr>
          <a:xfrm rot="0">
            <a:off x="1143000" y="5239512"/>
            <a:ext cx="3017519" cy="27431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Wi-Fi Eavesdropping</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67" name="Rectangle"/>
          <p:cNvSpPr>
            <a:spLocks/>
          </p:cNvSpPr>
          <p:nvPr/>
        </p:nvSpPr>
        <p:spPr>
          <a:xfrm rot="0">
            <a:off x="1143000" y="5486400"/>
            <a:ext cx="3017519"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rgbClr val="2563EB"/>
                </a:solidFill>
                <a:latin typeface="Calibri" pitchFamily="0" charset="0"/>
                <a:ea typeface="Calibri" pitchFamily="0" charset="0"/>
                <a:cs typeface="Calibri" pitchFamily="0" charset="0"/>
              </a:rPr>
              <a:t>Passive</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68" name="Oval"/>
          <p:cNvSpPr>
            <a:spLocks/>
          </p:cNvSpPr>
          <p:nvPr/>
        </p:nvSpPr>
        <p:spPr>
          <a:xfrm rot="0">
            <a:off x="4297680" y="5257800"/>
            <a:ext cx="457200" cy="457200"/>
          </a:xfrm>
          <a:prstGeom prst="ellipse"/>
          <a:solidFill>
            <a:srgbClr val="1F2937"/>
          </a:solidFill>
          <a:ln w="12700" cmpd="sng" cap="flat">
            <a:noFill/>
            <a:prstDash val="solid"/>
            <a:miter/>
          </a:ln>
        </p:spPr>
      </p:sp>
      <p:pic>
        <p:nvPicPr>
          <p:cNvPr id="69" name="Image" descr="/home/claude/deck/assets/server.png"/>
          <p:cNvPicPr>
            <a:picLocks noChangeAspect="1"/>
          </p:cNvPicPr>
          <p:nvPr/>
        </p:nvPicPr>
        <p:blipFill>
          <a:blip r:embed="rId4" cstate="print"/>
          <a:stretch>
            <a:fillRect/>
          </a:stretch>
        </p:blipFill>
        <p:spPr>
          <a:xfrm rot="0">
            <a:off x="4400550" y="5360670"/>
            <a:ext cx="251459" cy="251458"/>
          </a:xfrm>
          <a:prstGeom prst="rect"/>
          <a:noFill/>
          <a:ln w="12700" cmpd="sng" cap="flat">
            <a:noFill/>
            <a:prstDash val="solid"/>
            <a:miter/>
          </a:ln>
        </p:spPr>
      </p:pic>
      <p:sp>
        <p:nvSpPr>
          <p:cNvPr id="70" name="Rectangle"/>
          <p:cNvSpPr>
            <a:spLocks/>
          </p:cNvSpPr>
          <p:nvPr/>
        </p:nvSpPr>
        <p:spPr>
          <a:xfrm rot="0">
            <a:off x="4892040" y="5239512"/>
            <a:ext cx="3017519" cy="27431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DDoS on Web Servers</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71" name="Rectangle"/>
          <p:cNvSpPr>
            <a:spLocks/>
          </p:cNvSpPr>
          <p:nvPr/>
        </p:nvSpPr>
        <p:spPr>
          <a:xfrm rot="0">
            <a:off x="4892040" y="5486400"/>
            <a:ext cx="3017519"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rgbClr val="DC2626"/>
                </a:solidFill>
                <a:latin typeface="Calibri" pitchFamily="0" charset="0"/>
                <a:ea typeface="Calibri" pitchFamily="0" charset="0"/>
                <a:cs typeface="Calibri" pitchFamily="0" charset="0"/>
              </a:rPr>
              <a:t>Active</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72" name="Oval"/>
          <p:cNvSpPr>
            <a:spLocks/>
          </p:cNvSpPr>
          <p:nvPr/>
        </p:nvSpPr>
        <p:spPr>
          <a:xfrm rot="0">
            <a:off x="8046719" y="5257800"/>
            <a:ext cx="457200" cy="457200"/>
          </a:xfrm>
          <a:prstGeom prst="ellipse"/>
          <a:solidFill>
            <a:srgbClr val="1F2937"/>
          </a:solidFill>
          <a:ln w="12700" cmpd="sng" cap="flat">
            <a:noFill/>
            <a:prstDash val="solid"/>
            <a:miter/>
          </a:ln>
        </p:spPr>
      </p:sp>
      <p:pic>
        <p:nvPicPr>
          <p:cNvPr id="73" name="Image" descr="/home/claude/deck/assets/user_x.png"/>
          <p:cNvPicPr>
            <a:picLocks noChangeAspect="1"/>
          </p:cNvPicPr>
          <p:nvPr/>
        </p:nvPicPr>
        <p:blipFill>
          <a:blip r:embed="rId5" cstate="print"/>
          <a:stretch>
            <a:fillRect/>
          </a:stretch>
        </p:blipFill>
        <p:spPr>
          <a:xfrm rot="0">
            <a:off x="8149589" y="5360670"/>
            <a:ext cx="251458" cy="251458"/>
          </a:xfrm>
          <a:prstGeom prst="rect"/>
          <a:noFill/>
          <a:ln w="12700" cmpd="sng" cap="flat">
            <a:noFill/>
            <a:prstDash val="solid"/>
            <a:miter/>
          </a:ln>
        </p:spPr>
      </p:pic>
      <p:sp>
        <p:nvSpPr>
          <p:cNvPr id="74" name="Rectangle"/>
          <p:cNvSpPr>
            <a:spLocks/>
          </p:cNvSpPr>
          <p:nvPr/>
        </p:nvSpPr>
        <p:spPr>
          <a:xfrm rot="0">
            <a:off x="8641080" y="5239512"/>
            <a:ext cx="3017519" cy="27431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Session Hijacking</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75" name="Rectangle"/>
          <p:cNvSpPr>
            <a:spLocks/>
          </p:cNvSpPr>
          <p:nvPr/>
        </p:nvSpPr>
        <p:spPr>
          <a:xfrm rot="0">
            <a:off x="8641080" y="5486400"/>
            <a:ext cx="3017519"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rgbClr val="DC2626"/>
                </a:solidFill>
                <a:latin typeface="Calibri" pitchFamily="0" charset="0"/>
                <a:ea typeface="Calibri" pitchFamily="0" charset="0"/>
                <a:cs typeface="Calibri" pitchFamily="0" charset="0"/>
              </a:rPr>
              <a:t>Active</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76"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77"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3</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49988144"/>
      </p:ext>
    </p:extLst>
  </p:cSld>
  <p:clrMapOvr>
    <a:masterClrMapping/>
  </p:clrMapOvr>
  <p:transition spd="med">
    <p:fade/>
  </p:transition>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82"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1 · THREATS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83"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Threats and Risks</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84" name="Rounded rectangle"/>
          <p:cNvSpPr>
            <a:spLocks/>
          </p:cNvSpPr>
          <p:nvPr/>
        </p:nvSpPr>
        <p:spPr>
          <a:xfrm rot="0">
            <a:off x="548640" y="1508758"/>
            <a:ext cx="2697479" cy="2834640"/>
          </a:xfrm>
          <a:prstGeom prst="roundRect">
            <a:avLst>
              <a:gd name="adj" fmla="val 271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85" name="Oval"/>
          <p:cNvSpPr>
            <a:spLocks/>
          </p:cNvSpPr>
          <p:nvPr/>
        </p:nvSpPr>
        <p:spPr>
          <a:xfrm rot="0">
            <a:off x="1568196" y="1828800"/>
            <a:ext cx="658368" cy="658368"/>
          </a:xfrm>
          <a:prstGeom prst="ellipse"/>
          <a:solidFill>
            <a:srgbClr val="DC2626"/>
          </a:solidFill>
          <a:ln w="12700" cmpd="sng" cap="flat">
            <a:noFill/>
            <a:prstDash val="solid"/>
            <a:miter/>
          </a:ln>
        </p:spPr>
      </p:sp>
      <p:pic>
        <p:nvPicPr>
          <p:cNvPr id="86" name="Image" descr="/home/claude/deck/assets/bug.png"/>
          <p:cNvPicPr>
            <a:picLocks noChangeAspect="1"/>
          </p:cNvPicPr>
          <p:nvPr/>
        </p:nvPicPr>
        <p:blipFill>
          <a:blip r:embed="rId1" cstate="print"/>
          <a:stretch>
            <a:fillRect/>
          </a:stretch>
        </p:blipFill>
        <p:spPr>
          <a:xfrm rot="0">
            <a:off x="1716329" y="1976933"/>
            <a:ext cx="362102" cy="362102"/>
          </a:xfrm>
          <a:prstGeom prst="rect"/>
          <a:noFill/>
          <a:ln w="12700" cmpd="sng" cap="flat">
            <a:noFill/>
            <a:prstDash val="solid"/>
            <a:miter/>
          </a:ln>
        </p:spPr>
      </p:pic>
      <p:sp>
        <p:nvSpPr>
          <p:cNvPr id="87" name="Rectangle"/>
          <p:cNvSpPr>
            <a:spLocks/>
          </p:cNvSpPr>
          <p:nvPr/>
        </p:nvSpPr>
        <p:spPr>
          <a:xfrm rot="0">
            <a:off x="685800" y="2651760"/>
            <a:ext cx="242316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Malware</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88" name="Rectangle"/>
          <p:cNvSpPr>
            <a:spLocks/>
          </p:cNvSpPr>
          <p:nvPr/>
        </p:nvSpPr>
        <p:spPr>
          <a:xfrm rot="0">
            <a:off x="731520" y="3063239"/>
            <a:ext cx="2331720" cy="1188720"/>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Viruses, worms, trojans, ransomware that damage or exploit systems</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89" name="Rounded rectangle"/>
          <p:cNvSpPr>
            <a:spLocks/>
          </p:cNvSpPr>
          <p:nvPr/>
        </p:nvSpPr>
        <p:spPr>
          <a:xfrm rot="0">
            <a:off x="3447288" y="1508758"/>
            <a:ext cx="2697480" cy="2834640"/>
          </a:xfrm>
          <a:prstGeom prst="roundRect">
            <a:avLst>
              <a:gd name="adj" fmla="val 271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90" name="Oval"/>
          <p:cNvSpPr>
            <a:spLocks/>
          </p:cNvSpPr>
          <p:nvPr/>
        </p:nvSpPr>
        <p:spPr>
          <a:xfrm rot="0">
            <a:off x="4466844" y="1828800"/>
            <a:ext cx="658368" cy="658368"/>
          </a:xfrm>
          <a:prstGeom prst="ellipse"/>
          <a:solidFill>
            <a:srgbClr val="D97706"/>
          </a:solidFill>
          <a:ln w="12700" cmpd="sng" cap="flat">
            <a:noFill/>
            <a:prstDash val="solid"/>
            <a:miter/>
          </a:ln>
        </p:spPr>
      </p:sp>
      <p:pic>
        <p:nvPicPr>
          <p:cNvPr id="91" name="Image" descr="/home/claude/deck/assets/mail.png"/>
          <p:cNvPicPr>
            <a:picLocks noChangeAspect="1"/>
          </p:cNvPicPr>
          <p:nvPr/>
        </p:nvPicPr>
        <p:blipFill>
          <a:blip r:embed="rId2" cstate="print"/>
          <a:stretch>
            <a:fillRect/>
          </a:stretch>
        </p:blipFill>
        <p:spPr>
          <a:xfrm rot="0">
            <a:off x="4614977" y="1976933"/>
            <a:ext cx="362102" cy="362102"/>
          </a:xfrm>
          <a:prstGeom prst="rect"/>
          <a:noFill/>
          <a:ln w="12700" cmpd="sng" cap="flat">
            <a:noFill/>
            <a:prstDash val="solid"/>
            <a:miter/>
          </a:ln>
        </p:spPr>
      </p:pic>
      <p:sp>
        <p:nvSpPr>
          <p:cNvPr id="92" name="Rectangle"/>
          <p:cNvSpPr>
            <a:spLocks/>
          </p:cNvSpPr>
          <p:nvPr/>
        </p:nvSpPr>
        <p:spPr>
          <a:xfrm rot="0">
            <a:off x="3584448" y="2651760"/>
            <a:ext cx="242316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Phishing</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93" name="Rectangle"/>
          <p:cNvSpPr>
            <a:spLocks/>
          </p:cNvSpPr>
          <p:nvPr/>
        </p:nvSpPr>
        <p:spPr>
          <a:xfrm rot="0">
            <a:off x="3630167" y="3063239"/>
            <a:ext cx="2331720" cy="1188720"/>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Deceptive emails/messages tricking users into revealing credentials</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94" name="Rounded rectangle"/>
          <p:cNvSpPr>
            <a:spLocks/>
          </p:cNvSpPr>
          <p:nvPr/>
        </p:nvSpPr>
        <p:spPr>
          <a:xfrm rot="0">
            <a:off x="6345936" y="1508758"/>
            <a:ext cx="2697479" cy="2834640"/>
          </a:xfrm>
          <a:prstGeom prst="roundRect">
            <a:avLst>
              <a:gd name="adj" fmla="val 271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95" name="Oval"/>
          <p:cNvSpPr>
            <a:spLocks/>
          </p:cNvSpPr>
          <p:nvPr/>
        </p:nvSpPr>
        <p:spPr>
          <a:xfrm rot="0">
            <a:off x="7365492" y="1828800"/>
            <a:ext cx="658367" cy="658368"/>
          </a:xfrm>
          <a:prstGeom prst="ellipse"/>
          <a:solidFill>
            <a:srgbClr val="2563EB"/>
          </a:solidFill>
          <a:ln w="12700" cmpd="sng" cap="flat">
            <a:noFill/>
            <a:prstDash val="solid"/>
            <a:miter/>
          </a:ln>
        </p:spPr>
      </p:sp>
      <p:pic>
        <p:nvPicPr>
          <p:cNvPr id="96" name="Image" descr="/home/claude/deck/assets/user_x.png"/>
          <p:cNvPicPr>
            <a:picLocks noChangeAspect="1"/>
          </p:cNvPicPr>
          <p:nvPr/>
        </p:nvPicPr>
        <p:blipFill>
          <a:blip r:embed="rId3" cstate="print"/>
          <a:stretch>
            <a:fillRect/>
          </a:stretch>
        </p:blipFill>
        <p:spPr>
          <a:xfrm rot="0">
            <a:off x="7513625" y="1976933"/>
            <a:ext cx="362102" cy="362102"/>
          </a:xfrm>
          <a:prstGeom prst="rect"/>
          <a:noFill/>
          <a:ln w="12700" cmpd="sng" cap="flat">
            <a:noFill/>
            <a:prstDash val="solid"/>
            <a:miter/>
          </a:ln>
        </p:spPr>
      </p:pic>
      <p:sp>
        <p:nvSpPr>
          <p:cNvPr id="97" name="Rectangle"/>
          <p:cNvSpPr>
            <a:spLocks/>
          </p:cNvSpPr>
          <p:nvPr/>
        </p:nvSpPr>
        <p:spPr>
          <a:xfrm rot="0">
            <a:off x="6483096" y="2651760"/>
            <a:ext cx="242316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Insider Threats</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98" name="Rectangle"/>
          <p:cNvSpPr>
            <a:spLocks/>
          </p:cNvSpPr>
          <p:nvPr/>
        </p:nvSpPr>
        <p:spPr>
          <a:xfrm rot="0">
            <a:off x="6528816" y="3063239"/>
            <a:ext cx="2331720" cy="1188720"/>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Employees or trusted users misusing authorized access</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99" name="Rounded rectangle"/>
          <p:cNvSpPr>
            <a:spLocks/>
          </p:cNvSpPr>
          <p:nvPr/>
        </p:nvSpPr>
        <p:spPr>
          <a:xfrm rot="0">
            <a:off x="9244584" y="1508758"/>
            <a:ext cx="2697480" cy="2834640"/>
          </a:xfrm>
          <a:prstGeom prst="roundRect">
            <a:avLst>
              <a:gd name="adj" fmla="val 271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100" name="Oval"/>
          <p:cNvSpPr>
            <a:spLocks/>
          </p:cNvSpPr>
          <p:nvPr/>
        </p:nvSpPr>
        <p:spPr>
          <a:xfrm rot="0">
            <a:off x="10264139" y="1828800"/>
            <a:ext cx="658368" cy="658368"/>
          </a:xfrm>
          <a:prstGeom prst="ellipse"/>
          <a:solidFill>
            <a:srgbClr val="16A34A"/>
          </a:solidFill>
          <a:ln w="12700" cmpd="sng" cap="flat">
            <a:noFill/>
            <a:prstDash val="solid"/>
            <a:miter/>
          </a:ln>
        </p:spPr>
      </p:sp>
      <p:pic>
        <p:nvPicPr>
          <p:cNvPr id="101" name="Image" descr="/home/claude/deck/assets/activity.png"/>
          <p:cNvPicPr>
            <a:picLocks noChangeAspect="1"/>
          </p:cNvPicPr>
          <p:nvPr/>
        </p:nvPicPr>
        <p:blipFill>
          <a:blip r:embed="rId4" cstate="print"/>
          <a:stretch>
            <a:fillRect/>
          </a:stretch>
        </p:blipFill>
        <p:spPr>
          <a:xfrm rot="0">
            <a:off x="10412274" y="1976933"/>
            <a:ext cx="362101" cy="362102"/>
          </a:xfrm>
          <a:prstGeom prst="rect"/>
          <a:noFill/>
          <a:ln w="12700" cmpd="sng" cap="flat">
            <a:noFill/>
            <a:prstDash val="solid"/>
            <a:miter/>
          </a:ln>
        </p:spPr>
      </p:pic>
      <p:sp>
        <p:nvSpPr>
          <p:cNvPr id="102" name="Rectangle"/>
          <p:cNvSpPr>
            <a:spLocks/>
          </p:cNvSpPr>
          <p:nvPr/>
        </p:nvSpPr>
        <p:spPr>
          <a:xfrm rot="0">
            <a:off x="9381744" y="2651760"/>
            <a:ext cx="242316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Risk Assessment</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3" name="Rectangle"/>
          <p:cNvSpPr>
            <a:spLocks/>
          </p:cNvSpPr>
          <p:nvPr/>
        </p:nvSpPr>
        <p:spPr>
          <a:xfrm rot="0">
            <a:off x="9427464" y="3063239"/>
            <a:ext cx="2331720" cy="1188720"/>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Identifying, analyzing &amp; prioritizing risks to guide mitigation</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4" name="Rounded rectangle"/>
          <p:cNvSpPr>
            <a:spLocks/>
          </p:cNvSpPr>
          <p:nvPr/>
        </p:nvSpPr>
        <p:spPr>
          <a:xfrm rot="0">
            <a:off x="548640" y="4617720"/>
            <a:ext cx="11064240" cy="1691639"/>
          </a:xfrm>
          <a:prstGeom prst="roundRect">
            <a:avLst>
              <a:gd name="adj" fmla="val 4324"/>
            </a:avLst>
          </a:prstGeom>
          <a:solidFill>
            <a:srgbClr val="0E2748"/>
          </a:solidFill>
          <a:ln w="12700" cmpd="sng" cap="flat">
            <a:noFill/>
            <a:prstDash val="solid"/>
            <a:miter/>
          </a:ln>
          <a:effectLst>
            <a:outerShdw sx="100000" sy="100000" algn="bl" rotWithShape="0" blurRad="101600" dist="38100" dir="5400000">
              <a:srgbClr val="1F2937">
                <a:alpha val="17647"/>
              </a:srgbClr>
            </a:outerShdw>
          </a:effectLst>
        </p:spPr>
      </p:sp>
      <p:sp>
        <p:nvSpPr>
          <p:cNvPr id="105" name="Rectangle"/>
          <p:cNvSpPr>
            <a:spLocks/>
          </p:cNvSpPr>
          <p:nvPr/>
        </p:nvSpPr>
        <p:spPr>
          <a:xfrm rot="0">
            <a:off x="868680" y="4773168"/>
            <a:ext cx="4572000" cy="27431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1" i="0" u="none" strike="noStrike" kern="0" cap="none" spc="150" baseline="0">
                <a:solidFill>
                  <a:srgbClr val="60A5FA"/>
                </a:solidFill>
                <a:latin typeface="Calibri" pitchFamily="0" charset="0"/>
                <a:ea typeface="Calibri" pitchFamily="0" charset="0"/>
                <a:cs typeface="Calibri" pitchFamily="0" charset="0"/>
              </a:rPr>
              <a:t>RISK ASSESSMENT FORMULA</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6" name="Rectangle"/>
          <p:cNvSpPr>
            <a:spLocks/>
          </p:cNvSpPr>
          <p:nvPr/>
        </p:nvSpPr>
        <p:spPr>
          <a:xfrm rot="0">
            <a:off x="868680" y="5029200"/>
            <a:ext cx="10515600" cy="45720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000" b="1" i="0" u="none" strike="noStrike" kern="1200" cap="none" spc="0" baseline="0">
                <a:solidFill>
                  <a:srgbClr val="60A5FA"/>
                </a:solidFill>
                <a:latin typeface="Cambria" pitchFamily="34" charset="0"/>
                <a:ea typeface="Cambria" pitchFamily="34" charset="0"/>
                <a:cs typeface="Cambria" pitchFamily="34" charset="0"/>
              </a:rPr>
              <a:t>Risk</a:t>
            </a:r>
            <a:r>
              <a:rPr lang="en-US" altLang="zh-CN" sz="2000" b="0" i="0" u="none" strike="noStrike" kern="1200" cap="none" spc="0" baseline="0">
                <a:solidFill>
                  <a:srgbClr val="FFFFFF"/>
                </a:solidFill>
                <a:latin typeface="Cambria" pitchFamily="34" charset="0"/>
                <a:ea typeface="Cambria" pitchFamily="34" charset="0"/>
                <a:cs typeface="Cambria" pitchFamily="34" charset="0"/>
              </a:rPr>
              <a:t>  =  </a:t>
            </a:r>
            <a:r>
              <a:rPr lang="en-US" altLang="zh-CN" sz="2000" b="1" i="0" u="none" strike="noStrike" kern="1200" cap="none" spc="0" baseline="0">
                <a:solidFill>
                  <a:srgbClr val="F87171"/>
                </a:solidFill>
                <a:latin typeface="Cambria" pitchFamily="34" charset="0"/>
                <a:ea typeface="Cambria" pitchFamily="34" charset="0"/>
                <a:cs typeface="Cambria" pitchFamily="34" charset="0"/>
              </a:rPr>
              <a:t>Threat</a:t>
            </a:r>
            <a:r>
              <a:rPr lang="en-US" altLang="zh-CN" sz="2000" b="0" i="0" u="none" strike="noStrike" kern="1200" cap="none" spc="0" baseline="0">
                <a:solidFill>
                  <a:srgbClr val="FFFFFF"/>
                </a:solidFill>
                <a:latin typeface="Cambria" pitchFamily="34" charset="0"/>
                <a:ea typeface="Cambria" pitchFamily="34" charset="0"/>
                <a:cs typeface="Cambria" pitchFamily="34" charset="0"/>
              </a:rPr>
              <a:t>  ×  </a:t>
            </a:r>
            <a:r>
              <a:rPr lang="en-US" altLang="zh-CN" sz="2000" b="1" i="0" u="none" strike="noStrike" kern="1200" cap="none" spc="0" baseline="0">
                <a:solidFill>
                  <a:srgbClr val="FBBF24"/>
                </a:solidFill>
                <a:latin typeface="Cambria" pitchFamily="34" charset="0"/>
                <a:ea typeface="Cambria" pitchFamily="34" charset="0"/>
                <a:cs typeface="Cambria" pitchFamily="34" charset="0"/>
              </a:rPr>
              <a:t>Vulnerability</a:t>
            </a:r>
            <a:r>
              <a:rPr lang="en-US" altLang="zh-CN" sz="2000" b="0" i="0" u="none" strike="noStrike" kern="1200" cap="none" spc="0" baseline="0">
                <a:solidFill>
                  <a:srgbClr val="FFFFFF"/>
                </a:solidFill>
                <a:latin typeface="Cambria" pitchFamily="34" charset="0"/>
                <a:ea typeface="Cambria" pitchFamily="34" charset="0"/>
                <a:cs typeface="Cambria" pitchFamily="34" charset="0"/>
              </a:rPr>
              <a:t>  ×  </a:t>
            </a:r>
            <a:r>
              <a:rPr lang="en-US" altLang="zh-CN" sz="2000" b="1" i="0" u="none" strike="noStrike" kern="1200" cap="none" spc="0" baseline="0">
                <a:solidFill>
                  <a:srgbClr val="34D399"/>
                </a:solidFill>
                <a:latin typeface="Cambria" pitchFamily="34" charset="0"/>
                <a:ea typeface="Cambria" pitchFamily="34" charset="0"/>
                <a:cs typeface="Cambria" pitchFamily="34" charset="0"/>
              </a:rPr>
              <a:t>Impact</a:t>
            </a:r>
            <a:endParaRPr lang="zh-CN" altLang="en-US" sz="20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7" name="Rectangle"/>
          <p:cNvSpPr>
            <a:spLocks/>
          </p:cNvSpPr>
          <p:nvPr/>
        </p:nvSpPr>
        <p:spPr>
          <a:xfrm rot="0">
            <a:off x="868680" y="5532120"/>
            <a:ext cx="10515600" cy="365758"/>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1" u="none" strike="noStrike" kern="1200" cap="none" spc="0" baseline="0">
                <a:solidFill>
                  <a:srgbClr val="CBD5E1"/>
                </a:solidFill>
                <a:latin typeface="Calibri" pitchFamily="0" charset="0"/>
                <a:ea typeface="Calibri" pitchFamily="0" charset="0"/>
                <a:cs typeface="Calibri" pitchFamily="0" charset="0"/>
              </a:rPr>
              <a:t>Organizations quantify risk to prioritize which vulnerabilities to remediate first.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8"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9"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4</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313459569"/>
      </p:ext>
    </p:extLst>
  </p:cSld>
  <p:clrMapOvr>
    <a:masterClrMapping/>
  </p:clrMapOvr>
  <p:transition spd="med">
    <p:fade/>
  </p:transition>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14"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1 · SECURITY GOALS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5"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Security Goals — The CIA Triad</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6" name="Straight line"/>
          <p:cNvSpPr>
            <a:spLocks/>
          </p:cNvSpPr>
          <p:nvPr/>
        </p:nvSpPr>
        <p:spPr>
          <a:xfrm rot="0">
            <a:off x="1741522" y="2327148"/>
            <a:ext cx="1504597" cy="2475738"/>
          </a:xfrm>
          <a:prstGeom prst="line"/>
          <a:noFill/>
          <a:ln w="31750" cmpd="sng" cap="flat">
            <a:solidFill>
              <a:srgbClr val="2563EB"/>
            </a:solidFill>
            <a:prstDash val="solid"/>
            <a:round/>
          </a:ln>
        </p:spPr>
      </p:sp>
      <p:sp>
        <p:nvSpPr>
          <p:cNvPr id="117" name="Straight line"/>
          <p:cNvSpPr>
            <a:spLocks/>
          </p:cNvSpPr>
          <p:nvPr/>
        </p:nvSpPr>
        <p:spPr>
          <a:xfrm rot="0">
            <a:off x="1741522" y="4802886"/>
            <a:ext cx="3009196" cy="0"/>
          </a:xfrm>
          <a:prstGeom prst="line"/>
          <a:noFill/>
          <a:ln w="31750" cmpd="sng" cap="flat">
            <a:solidFill>
              <a:srgbClr val="2563EB"/>
            </a:solidFill>
            <a:prstDash val="solid"/>
            <a:round/>
          </a:ln>
        </p:spPr>
      </p:sp>
      <p:sp>
        <p:nvSpPr>
          <p:cNvPr id="118" name="Straight line"/>
          <p:cNvSpPr>
            <a:spLocks/>
          </p:cNvSpPr>
          <p:nvPr/>
        </p:nvSpPr>
        <p:spPr>
          <a:xfrm rot="0">
            <a:off x="3246119" y="2327148"/>
            <a:ext cx="1504598" cy="2475738"/>
          </a:xfrm>
          <a:prstGeom prst="line"/>
          <a:noFill/>
          <a:ln w="31750" cmpd="sng" cap="flat">
            <a:solidFill>
              <a:srgbClr val="2563EB"/>
            </a:solidFill>
            <a:prstDash val="solid"/>
            <a:round/>
          </a:ln>
        </p:spPr>
      </p:sp>
      <p:sp>
        <p:nvSpPr>
          <p:cNvPr id="119" name="Oval"/>
          <p:cNvSpPr>
            <a:spLocks/>
          </p:cNvSpPr>
          <p:nvPr/>
        </p:nvSpPr>
        <p:spPr>
          <a:xfrm rot="0">
            <a:off x="2862072" y="1943100"/>
            <a:ext cx="768096" cy="768096"/>
          </a:xfrm>
          <a:prstGeom prst="ellipse"/>
          <a:solidFill>
            <a:srgbClr val="2563EB"/>
          </a:solidFill>
          <a:ln w="12700" cmpd="sng" cap="flat">
            <a:noFill/>
            <a:prstDash val="solid"/>
            <a:miter/>
          </a:ln>
        </p:spPr>
      </p:sp>
      <p:pic>
        <p:nvPicPr>
          <p:cNvPr id="120" name="Image" descr="/home/claude/deck/assets/eye_off.png"/>
          <p:cNvPicPr>
            <a:picLocks noChangeAspect="1"/>
          </p:cNvPicPr>
          <p:nvPr/>
        </p:nvPicPr>
        <p:blipFill>
          <a:blip r:embed="rId1" cstate="print"/>
          <a:stretch>
            <a:fillRect/>
          </a:stretch>
        </p:blipFill>
        <p:spPr>
          <a:xfrm rot="0">
            <a:off x="3034894" y="2115922"/>
            <a:ext cx="422452" cy="422453"/>
          </a:xfrm>
          <a:prstGeom prst="rect"/>
          <a:noFill/>
          <a:ln w="12700" cmpd="sng" cap="flat">
            <a:noFill/>
            <a:prstDash val="solid"/>
            <a:miter/>
          </a:ln>
        </p:spPr>
      </p:pic>
      <p:sp>
        <p:nvSpPr>
          <p:cNvPr id="121" name="Oval"/>
          <p:cNvSpPr>
            <a:spLocks/>
          </p:cNvSpPr>
          <p:nvPr/>
        </p:nvSpPr>
        <p:spPr>
          <a:xfrm rot="0">
            <a:off x="1357474" y="4418838"/>
            <a:ext cx="768095" cy="768095"/>
          </a:xfrm>
          <a:prstGeom prst="ellipse"/>
          <a:solidFill>
            <a:srgbClr val="16A34A"/>
          </a:solidFill>
          <a:ln w="12700" cmpd="sng" cap="flat">
            <a:noFill/>
            <a:prstDash val="solid"/>
            <a:miter/>
          </a:ln>
        </p:spPr>
      </p:sp>
      <p:pic>
        <p:nvPicPr>
          <p:cNvPr id="122" name="Image" descr="/home/claude/deck/assets/check.png"/>
          <p:cNvPicPr>
            <a:picLocks noChangeAspect="1"/>
          </p:cNvPicPr>
          <p:nvPr/>
        </p:nvPicPr>
        <p:blipFill>
          <a:blip r:embed="rId2" cstate="print"/>
          <a:stretch>
            <a:fillRect/>
          </a:stretch>
        </p:blipFill>
        <p:spPr>
          <a:xfrm rot="0">
            <a:off x="1530296" y="4591660"/>
            <a:ext cx="422452" cy="422451"/>
          </a:xfrm>
          <a:prstGeom prst="rect"/>
          <a:noFill/>
          <a:ln w="12700" cmpd="sng" cap="flat">
            <a:noFill/>
            <a:prstDash val="solid"/>
            <a:miter/>
          </a:ln>
        </p:spPr>
      </p:pic>
      <p:sp>
        <p:nvSpPr>
          <p:cNvPr id="123" name="Oval"/>
          <p:cNvSpPr>
            <a:spLocks/>
          </p:cNvSpPr>
          <p:nvPr/>
        </p:nvSpPr>
        <p:spPr>
          <a:xfrm rot="0">
            <a:off x="4366670" y="4418838"/>
            <a:ext cx="768095" cy="768095"/>
          </a:xfrm>
          <a:prstGeom prst="ellipse"/>
          <a:solidFill>
            <a:srgbClr val="D97706"/>
          </a:solidFill>
          <a:ln w="12700" cmpd="sng" cap="flat">
            <a:noFill/>
            <a:prstDash val="solid"/>
            <a:miter/>
          </a:ln>
        </p:spPr>
      </p:sp>
      <p:pic>
        <p:nvPicPr>
          <p:cNvPr id="124" name="Image" descr="/home/claude/deck/assets/activity.png"/>
          <p:cNvPicPr>
            <a:picLocks noChangeAspect="1"/>
          </p:cNvPicPr>
          <p:nvPr/>
        </p:nvPicPr>
        <p:blipFill>
          <a:blip r:embed="rId3" cstate="print"/>
          <a:stretch>
            <a:fillRect/>
          </a:stretch>
        </p:blipFill>
        <p:spPr>
          <a:xfrm rot="0">
            <a:off x="4539491" y="4591660"/>
            <a:ext cx="422453" cy="422451"/>
          </a:xfrm>
          <a:prstGeom prst="rect"/>
          <a:noFill/>
          <a:ln w="12700" cmpd="sng" cap="flat">
            <a:noFill/>
            <a:prstDash val="solid"/>
            <a:miter/>
          </a:ln>
        </p:spPr>
      </p:pic>
      <p:sp>
        <p:nvSpPr>
          <p:cNvPr id="125" name="Rectangle"/>
          <p:cNvSpPr>
            <a:spLocks/>
          </p:cNvSpPr>
          <p:nvPr/>
        </p:nvSpPr>
        <p:spPr>
          <a:xfrm rot="0">
            <a:off x="2057400" y="1367028"/>
            <a:ext cx="2377440" cy="320038"/>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Confidentiality</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126" name="Rectangle"/>
          <p:cNvSpPr>
            <a:spLocks/>
          </p:cNvSpPr>
          <p:nvPr/>
        </p:nvSpPr>
        <p:spPr>
          <a:xfrm rot="0">
            <a:off x="461362" y="5241798"/>
            <a:ext cx="2011679"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Integrity</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127" name="Rectangle"/>
          <p:cNvSpPr>
            <a:spLocks/>
          </p:cNvSpPr>
          <p:nvPr/>
        </p:nvSpPr>
        <p:spPr>
          <a:xfrm rot="0">
            <a:off x="4019198" y="5241798"/>
            <a:ext cx="2011679"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Availability</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128" name="Rectangle"/>
          <p:cNvSpPr>
            <a:spLocks/>
          </p:cNvSpPr>
          <p:nvPr/>
        </p:nvSpPr>
        <p:spPr>
          <a:xfrm rot="0">
            <a:off x="2697480" y="3749040"/>
            <a:ext cx="1097280" cy="45720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2000" b="1" i="0" u="none" strike="noStrike" kern="1200" cap="none" spc="0" baseline="0">
                <a:solidFill>
                  <a:srgbClr val="2563EB"/>
                </a:solidFill>
                <a:latin typeface="Cambria" pitchFamily="34" charset="0"/>
                <a:ea typeface="Cambria" pitchFamily="34" charset="0"/>
                <a:cs typeface="Cambria" pitchFamily="34" charset="0"/>
              </a:rPr>
              <a:t>CIA</a:t>
            </a:r>
            <a:endParaRPr lang="zh-CN" altLang="en-US" sz="20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9" name="Rectangle"/>
          <p:cNvSpPr>
            <a:spLocks/>
          </p:cNvSpPr>
          <p:nvPr/>
        </p:nvSpPr>
        <p:spPr>
          <a:xfrm rot="0">
            <a:off x="6675120" y="1463040"/>
            <a:ext cx="4937760"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pitchFamily="0" charset="0"/>
                <a:ea typeface="Calibri" pitchFamily="0" charset="0"/>
                <a:cs typeface="Calibri" pitchFamily="0" charset="0"/>
              </a:rPr>
              <a:t>Confidentiality — data accessible only to authorized parties</a:t>
            </a:r>
            <a:endParaRPr lang="en-US" altLang="zh-CN" sz="14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pitchFamily="0" charset="0"/>
                <a:ea typeface="Calibri" pitchFamily="0" charset="0"/>
                <a:cs typeface="Calibri" pitchFamily="0" charset="0"/>
              </a:rPr>
              <a:t>Integrity — data remains accurate and unaltered</a:t>
            </a:r>
            <a:endParaRPr lang="en-US" altLang="zh-CN" sz="14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pitchFamily="0" charset="0"/>
                <a:ea typeface="Calibri" pitchFamily="0" charset="0"/>
                <a:cs typeface="Calibri" pitchFamily="0" charset="0"/>
              </a:rPr>
              <a:t>Availability — systems and data accessible when needed</a:t>
            </a:r>
            <a:endParaRPr lang="en-US" altLang="zh-CN" sz="14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pitchFamily="0" charset="0"/>
                <a:ea typeface="Calibri" pitchFamily="0" charset="0"/>
                <a:cs typeface="Calibri" pitchFamily="0" charset="0"/>
              </a:rPr>
              <a:t>Authentication — verifying identity of users/systems</a:t>
            </a:r>
            <a:endParaRPr lang="en-US" altLang="zh-CN" sz="14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pitchFamily="0" charset="0"/>
                <a:ea typeface="Calibri" pitchFamily="0" charset="0"/>
                <a:cs typeface="Calibri" pitchFamily="0" charset="0"/>
              </a:rPr>
              <a:t>Non-Repudiation — sender cannot deny sending a message</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0"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1"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5</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44205103"/>
      </p:ext>
    </p:extLst>
  </p:cSld>
  <p:clrMapOvr>
    <a:masterClrMapping/>
  </p:clrMapOvr>
  <p:transition spd="med">
    <p:fade/>
  </p:transition>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36"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1 · DEFENSE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7"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Prevention Techniques</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8" name="Rounded rectangle"/>
          <p:cNvSpPr>
            <a:spLocks/>
          </p:cNvSpPr>
          <p:nvPr/>
        </p:nvSpPr>
        <p:spPr>
          <a:xfrm rot="0">
            <a:off x="548640" y="1463040"/>
            <a:ext cx="2697479" cy="2331720"/>
          </a:xfrm>
          <a:prstGeom prst="roundRect">
            <a:avLst>
              <a:gd name="adj" fmla="val 3138"/>
            </a:avLst>
          </a:prstGeom>
          <a:solidFill>
            <a:srgbClr val="E8F0FE"/>
          </a:solidFill>
          <a:ln w="12700" cmpd="sng" cap="flat">
            <a:noFill/>
            <a:prstDash val="solid"/>
            <a:miter/>
          </a:ln>
          <a:effectLst>
            <a:outerShdw sx="100000" sy="100000" algn="bl" rotWithShape="0" blurRad="101600" dist="38100" dir="5400000">
              <a:srgbClr val="1F2937">
                <a:alpha val="17647"/>
              </a:srgbClr>
            </a:outerShdw>
          </a:effectLst>
        </p:spPr>
      </p:sp>
      <p:sp>
        <p:nvSpPr>
          <p:cNvPr id="139" name="Oval"/>
          <p:cNvSpPr>
            <a:spLocks/>
          </p:cNvSpPr>
          <p:nvPr/>
        </p:nvSpPr>
        <p:spPr>
          <a:xfrm rot="0">
            <a:off x="1577340" y="1719072"/>
            <a:ext cx="640080" cy="640079"/>
          </a:xfrm>
          <a:prstGeom prst="ellipse"/>
          <a:solidFill>
            <a:srgbClr val="FFFFFF"/>
          </a:solidFill>
          <a:ln w="12700" cmpd="sng" cap="flat">
            <a:noFill/>
            <a:prstDash val="solid"/>
            <a:miter/>
          </a:ln>
        </p:spPr>
      </p:sp>
      <p:pic>
        <p:nvPicPr>
          <p:cNvPr id="140" name="Image" descr="/home/claude/deck/assets/lock_blue.png"/>
          <p:cNvPicPr>
            <a:picLocks noChangeAspect="1"/>
          </p:cNvPicPr>
          <p:nvPr/>
        </p:nvPicPr>
        <p:blipFill>
          <a:blip r:embed="rId1" cstate="print"/>
          <a:stretch>
            <a:fillRect/>
          </a:stretch>
        </p:blipFill>
        <p:spPr>
          <a:xfrm rot="0">
            <a:off x="1625346" y="1767078"/>
            <a:ext cx="544066" cy="544068"/>
          </a:xfrm>
          <a:prstGeom prst="rect"/>
          <a:noFill/>
          <a:ln w="12700" cmpd="sng" cap="flat">
            <a:noFill/>
            <a:prstDash val="solid"/>
            <a:miter/>
          </a:ln>
        </p:spPr>
      </p:pic>
      <p:sp>
        <p:nvSpPr>
          <p:cNvPr id="141" name="Rectangle"/>
          <p:cNvSpPr>
            <a:spLocks/>
          </p:cNvSpPr>
          <p:nvPr/>
        </p:nvSpPr>
        <p:spPr>
          <a:xfrm rot="0">
            <a:off x="685800" y="2514600"/>
            <a:ext cx="242316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450" b="1" i="0" u="none" strike="noStrike" kern="1200" cap="none" spc="0" baseline="0">
                <a:solidFill>
                  <a:srgbClr val="1F2937"/>
                </a:solidFill>
                <a:latin typeface="Cambria" pitchFamily="34" charset="0"/>
                <a:ea typeface="Cambria" pitchFamily="34" charset="0"/>
                <a:cs typeface="Cambria" pitchFamily="34" charset="0"/>
              </a:rPr>
              <a:t>Encryption</a:t>
            </a:r>
            <a:endParaRPr lang="zh-CN" altLang="en-US" sz="1450" b="0" i="0" u="none" strike="noStrike" kern="1200" cap="none" spc="0" baseline="0">
              <a:solidFill>
                <a:schemeClr val="tx1"/>
              </a:solidFill>
              <a:latin typeface="Calibri" pitchFamily="0" charset="0"/>
              <a:ea typeface="等线" pitchFamily="0" charset="0"/>
              <a:cs typeface="Calibri" pitchFamily="0" charset="0"/>
            </a:endParaRPr>
          </a:p>
        </p:txBody>
      </p:sp>
      <p:sp>
        <p:nvSpPr>
          <p:cNvPr id="142" name="Rectangle"/>
          <p:cNvSpPr>
            <a:spLocks/>
          </p:cNvSpPr>
          <p:nvPr/>
        </p:nvSpPr>
        <p:spPr>
          <a:xfrm rot="0">
            <a:off x="731520" y="2907792"/>
            <a:ext cx="2331720" cy="82296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rgbClr val="64748B"/>
                </a:solidFill>
                <a:latin typeface="Calibri" pitchFamily="0" charset="0"/>
                <a:ea typeface="Calibri" pitchFamily="0" charset="0"/>
                <a:cs typeface="Calibri" pitchFamily="0" charset="0"/>
              </a:rPr>
              <a:t>Converts data into unreadable ciphertext to protect confidentiality</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3" name="Rounded rectangle"/>
          <p:cNvSpPr>
            <a:spLocks/>
          </p:cNvSpPr>
          <p:nvPr/>
        </p:nvSpPr>
        <p:spPr>
          <a:xfrm rot="0">
            <a:off x="3447288" y="1463040"/>
            <a:ext cx="2697480" cy="2331720"/>
          </a:xfrm>
          <a:prstGeom prst="roundRect">
            <a:avLst>
              <a:gd name="adj" fmla="val 3138"/>
            </a:avLst>
          </a:prstGeom>
          <a:solidFill>
            <a:srgbClr val="E8F0FE"/>
          </a:solidFill>
          <a:ln w="12700" cmpd="sng" cap="flat">
            <a:noFill/>
            <a:prstDash val="solid"/>
            <a:miter/>
          </a:ln>
          <a:effectLst>
            <a:outerShdw sx="100000" sy="100000" algn="bl" rotWithShape="0" blurRad="101600" dist="38100" dir="5400000">
              <a:srgbClr val="1F2937">
                <a:alpha val="17647"/>
              </a:srgbClr>
            </a:outerShdw>
          </a:effectLst>
        </p:spPr>
      </p:sp>
      <p:sp>
        <p:nvSpPr>
          <p:cNvPr id="144" name="Oval"/>
          <p:cNvSpPr>
            <a:spLocks/>
          </p:cNvSpPr>
          <p:nvPr/>
        </p:nvSpPr>
        <p:spPr>
          <a:xfrm rot="0">
            <a:off x="4475988" y="1719072"/>
            <a:ext cx="640078" cy="640079"/>
          </a:xfrm>
          <a:prstGeom prst="ellipse"/>
          <a:solidFill>
            <a:srgbClr val="FFFFFF"/>
          </a:solidFill>
          <a:ln w="12700" cmpd="sng" cap="flat">
            <a:noFill/>
            <a:prstDash val="solid"/>
            <a:miter/>
          </a:ln>
        </p:spPr>
      </p:sp>
      <p:pic>
        <p:nvPicPr>
          <p:cNvPr id="145" name="Image" descr="/home/claude/deck/assets/shield_blue.png"/>
          <p:cNvPicPr>
            <a:picLocks noChangeAspect="1"/>
          </p:cNvPicPr>
          <p:nvPr/>
        </p:nvPicPr>
        <p:blipFill>
          <a:blip r:embed="rId2" cstate="print"/>
          <a:stretch>
            <a:fillRect/>
          </a:stretch>
        </p:blipFill>
        <p:spPr>
          <a:xfrm rot="0">
            <a:off x="4523994" y="1767078"/>
            <a:ext cx="544068" cy="544068"/>
          </a:xfrm>
          <a:prstGeom prst="rect"/>
          <a:noFill/>
          <a:ln w="12700" cmpd="sng" cap="flat">
            <a:noFill/>
            <a:prstDash val="solid"/>
            <a:miter/>
          </a:ln>
        </p:spPr>
      </p:pic>
      <p:sp>
        <p:nvSpPr>
          <p:cNvPr id="146" name="Rectangle"/>
          <p:cNvSpPr>
            <a:spLocks/>
          </p:cNvSpPr>
          <p:nvPr/>
        </p:nvSpPr>
        <p:spPr>
          <a:xfrm rot="0">
            <a:off x="3584448" y="2514600"/>
            <a:ext cx="242316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450" b="1" i="0" u="none" strike="noStrike" kern="1200" cap="none" spc="0" baseline="0">
                <a:solidFill>
                  <a:srgbClr val="1F2937"/>
                </a:solidFill>
                <a:latin typeface="Cambria" pitchFamily="34" charset="0"/>
                <a:ea typeface="Cambria" pitchFamily="34" charset="0"/>
                <a:cs typeface="Cambria" pitchFamily="34" charset="0"/>
              </a:rPr>
              <a:t>Firewalls</a:t>
            </a:r>
            <a:endParaRPr lang="zh-CN" altLang="en-US" sz="1450" b="0" i="0" u="none" strike="noStrike" kern="1200" cap="none" spc="0" baseline="0">
              <a:solidFill>
                <a:schemeClr val="tx1"/>
              </a:solidFill>
              <a:latin typeface="Calibri" pitchFamily="0" charset="0"/>
              <a:ea typeface="等线" pitchFamily="0" charset="0"/>
              <a:cs typeface="Calibri" pitchFamily="0" charset="0"/>
            </a:endParaRPr>
          </a:p>
        </p:txBody>
      </p:sp>
      <p:sp>
        <p:nvSpPr>
          <p:cNvPr id="147" name="Rectangle"/>
          <p:cNvSpPr>
            <a:spLocks/>
          </p:cNvSpPr>
          <p:nvPr/>
        </p:nvSpPr>
        <p:spPr>
          <a:xfrm rot="0">
            <a:off x="3630167" y="2907792"/>
            <a:ext cx="2331720" cy="82296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rgbClr val="64748B"/>
                </a:solidFill>
                <a:latin typeface="Calibri" pitchFamily="0" charset="0"/>
                <a:ea typeface="Calibri" pitchFamily="0" charset="0"/>
                <a:cs typeface="Calibri" pitchFamily="0" charset="0"/>
              </a:rPr>
              <a:t>Filters incoming/outgoing traffic based on security rules</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8" name="Rounded rectangle"/>
          <p:cNvSpPr>
            <a:spLocks/>
          </p:cNvSpPr>
          <p:nvPr/>
        </p:nvSpPr>
        <p:spPr>
          <a:xfrm rot="0">
            <a:off x="6345936" y="1463040"/>
            <a:ext cx="2697479" cy="2331720"/>
          </a:xfrm>
          <a:prstGeom prst="roundRect">
            <a:avLst>
              <a:gd name="adj" fmla="val 3138"/>
            </a:avLst>
          </a:prstGeom>
          <a:solidFill>
            <a:srgbClr val="E8F0FE"/>
          </a:solidFill>
          <a:ln w="12700" cmpd="sng" cap="flat">
            <a:noFill/>
            <a:prstDash val="solid"/>
            <a:miter/>
          </a:ln>
          <a:effectLst>
            <a:outerShdw sx="100000" sy="100000" algn="bl" rotWithShape="0" blurRad="101600" dist="38100" dir="5400000">
              <a:srgbClr val="1F2937">
                <a:alpha val="17647"/>
              </a:srgbClr>
            </a:outerShdw>
          </a:effectLst>
        </p:spPr>
      </p:sp>
      <p:sp>
        <p:nvSpPr>
          <p:cNvPr id="149" name="Oval"/>
          <p:cNvSpPr>
            <a:spLocks/>
          </p:cNvSpPr>
          <p:nvPr/>
        </p:nvSpPr>
        <p:spPr>
          <a:xfrm rot="0">
            <a:off x="7374636" y="1719072"/>
            <a:ext cx="640080" cy="640079"/>
          </a:xfrm>
          <a:prstGeom prst="ellipse"/>
          <a:solidFill>
            <a:srgbClr val="FFFFFF"/>
          </a:solidFill>
          <a:ln w="12700" cmpd="sng" cap="flat">
            <a:noFill/>
            <a:prstDash val="solid"/>
            <a:miter/>
          </a:ln>
        </p:spPr>
      </p:sp>
      <p:pic>
        <p:nvPicPr>
          <p:cNvPr id="150" name="Image" descr="/home/claude/deck/assets/search_blue.png"/>
          <p:cNvPicPr>
            <a:picLocks noChangeAspect="1"/>
          </p:cNvPicPr>
          <p:nvPr/>
        </p:nvPicPr>
        <p:blipFill>
          <a:blip r:embed="rId3" cstate="print"/>
          <a:stretch>
            <a:fillRect/>
          </a:stretch>
        </p:blipFill>
        <p:spPr>
          <a:xfrm rot="0">
            <a:off x="7422642" y="1767078"/>
            <a:ext cx="544067" cy="544068"/>
          </a:xfrm>
          <a:prstGeom prst="rect"/>
          <a:noFill/>
          <a:ln w="12700" cmpd="sng" cap="flat">
            <a:noFill/>
            <a:prstDash val="solid"/>
            <a:miter/>
          </a:ln>
        </p:spPr>
      </p:pic>
      <p:sp>
        <p:nvSpPr>
          <p:cNvPr id="151" name="Rectangle"/>
          <p:cNvSpPr>
            <a:spLocks/>
          </p:cNvSpPr>
          <p:nvPr/>
        </p:nvSpPr>
        <p:spPr>
          <a:xfrm rot="0">
            <a:off x="6483096" y="2514600"/>
            <a:ext cx="242316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450" b="1" i="0" u="none" strike="noStrike" kern="1200" cap="none" spc="0" baseline="0">
                <a:solidFill>
                  <a:srgbClr val="1F2937"/>
                </a:solidFill>
                <a:latin typeface="Cambria" pitchFamily="34" charset="0"/>
                <a:ea typeface="Cambria" pitchFamily="34" charset="0"/>
                <a:cs typeface="Cambria" pitchFamily="34" charset="0"/>
              </a:rPr>
              <a:t>IDS / IPS</a:t>
            </a:r>
            <a:endParaRPr lang="zh-CN" altLang="en-US" sz="14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2" name="Rectangle"/>
          <p:cNvSpPr>
            <a:spLocks/>
          </p:cNvSpPr>
          <p:nvPr/>
        </p:nvSpPr>
        <p:spPr>
          <a:xfrm rot="0">
            <a:off x="6528816" y="2907792"/>
            <a:ext cx="2331720" cy="82296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rgbClr val="64748B"/>
                </a:solidFill>
                <a:latin typeface="Calibri" pitchFamily="0" charset="0"/>
                <a:ea typeface="Calibri" pitchFamily="0" charset="0"/>
                <a:cs typeface="Calibri" pitchFamily="0" charset="0"/>
              </a:rPr>
              <a:t>Detects and blocks suspicious network activity in real time</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3" name="Rounded rectangle"/>
          <p:cNvSpPr>
            <a:spLocks/>
          </p:cNvSpPr>
          <p:nvPr/>
        </p:nvSpPr>
        <p:spPr>
          <a:xfrm rot="0">
            <a:off x="9244584" y="1463040"/>
            <a:ext cx="2697480" cy="2331720"/>
          </a:xfrm>
          <a:prstGeom prst="roundRect">
            <a:avLst>
              <a:gd name="adj" fmla="val 3138"/>
            </a:avLst>
          </a:prstGeom>
          <a:solidFill>
            <a:srgbClr val="E8F0FE"/>
          </a:solidFill>
          <a:ln w="12700" cmpd="sng" cap="flat">
            <a:noFill/>
            <a:prstDash val="solid"/>
            <a:miter/>
          </a:ln>
          <a:effectLst>
            <a:outerShdw sx="100000" sy="100000" algn="bl" rotWithShape="0" blurRad="101600" dist="38100" dir="5400000">
              <a:srgbClr val="1F2937">
                <a:alpha val="17647"/>
              </a:srgbClr>
            </a:outerShdw>
          </a:effectLst>
        </p:spPr>
      </p:sp>
      <p:sp>
        <p:nvSpPr>
          <p:cNvPr id="154" name="Oval"/>
          <p:cNvSpPr>
            <a:spLocks/>
          </p:cNvSpPr>
          <p:nvPr/>
        </p:nvSpPr>
        <p:spPr>
          <a:xfrm rot="0">
            <a:off x="10273284" y="1719072"/>
            <a:ext cx="640080" cy="640079"/>
          </a:xfrm>
          <a:prstGeom prst="ellipse"/>
          <a:solidFill>
            <a:srgbClr val="FFFFFF"/>
          </a:solidFill>
          <a:ln w="12700" cmpd="sng" cap="flat">
            <a:noFill/>
            <a:prstDash val="solid"/>
            <a:miter/>
          </a:ln>
        </p:spPr>
      </p:sp>
      <p:pic>
        <p:nvPicPr>
          <p:cNvPr id="155" name="Image" descr="/home/claude/deck/assets/fingerprint_blue.png"/>
          <p:cNvPicPr>
            <a:picLocks noChangeAspect="1"/>
          </p:cNvPicPr>
          <p:nvPr/>
        </p:nvPicPr>
        <p:blipFill>
          <a:blip r:embed="rId4" cstate="print"/>
          <a:stretch>
            <a:fillRect/>
          </a:stretch>
        </p:blipFill>
        <p:spPr>
          <a:xfrm rot="0">
            <a:off x="10321291" y="1767078"/>
            <a:ext cx="544066" cy="544068"/>
          </a:xfrm>
          <a:prstGeom prst="rect"/>
          <a:noFill/>
          <a:ln w="12700" cmpd="sng" cap="flat">
            <a:noFill/>
            <a:prstDash val="solid"/>
            <a:miter/>
          </a:ln>
        </p:spPr>
      </p:pic>
      <p:sp>
        <p:nvSpPr>
          <p:cNvPr id="156" name="Rectangle"/>
          <p:cNvSpPr>
            <a:spLocks/>
          </p:cNvSpPr>
          <p:nvPr/>
        </p:nvSpPr>
        <p:spPr>
          <a:xfrm rot="0">
            <a:off x="9381744" y="2514600"/>
            <a:ext cx="242316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450" b="1" i="0" u="none" strike="noStrike" kern="1200" cap="none" spc="0" baseline="0">
                <a:solidFill>
                  <a:srgbClr val="1F2937"/>
                </a:solidFill>
                <a:latin typeface="Cambria" pitchFamily="34" charset="0"/>
                <a:ea typeface="Cambria" pitchFamily="34" charset="0"/>
                <a:cs typeface="Cambria" pitchFamily="34" charset="0"/>
              </a:rPr>
              <a:t>Multi-Factor Auth</a:t>
            </a:r>
            <a:endParaRPr lang="zh-CN" altLang="en-US" sz="14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7" name="Rectangle"/>
          <p:cNvSpPr>
            <a:spLocks/>
          </p:cNvSpPr>
          <p:nvPr/>
        </p:nvSpPr>
        <p:spPr>
          <a:xfrm rot="0">
            <a:off x="9427464" y="2907792"/>
            <a:ext cx="2331720" cy="82296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rgbClr val="64748B"/>
                </a:solidFill>
                <a:latin typeface="Calibri" pitchFamily="0" charset="0"/>
                <a:ea typeface="Calibri" pitchFamily="0" charset="0"/>
                <a:cs typeface="Calibri" pitchFamily="0" charset="0"/>
              </a:rPr>
              <a:t>Requires 2+ verification factors to confirm user identity</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8" name="Rounded rectangle"/>
          <p:cNvSpPr>
            <a:spLocks/>
          </p:cNvSpPr>
          <p:nvPr/>
        </p:nvSpPr>
        <p:spPr>
          <a:xfrm rot="0">
            <a:off x="548640" y="4023359"/>
            <a:ext cx="11064240" cy="2011678"/>
          </a:xfrm>
          <a:prstGeom prst="roundRect">
            <a:avLst>
              <a:gd name="adj" fmla="val 3634"/>
            </a:avLst>
          </a:prstGeom>
          <a:solidFill>
            <a:srgbClr val="1F2937"/>
          </a:solidFill>
          <a:ln w="12700" cmpd="sng" cap="flat">
            <a:noFill/>
            <a:prstDash val="solid"/>
            <a:miter/>
          </a:ln>
          <a:effectLst>
            <a:outerShdw sx="100000" sy="100000" algn="bl" rotWithShape="0" blurRad="101600" dist="38100" dir="5400000">
              <a:srgbClr val="1F2937">
                <a:alpha val="17647"/>
              </a:srgbClr>
            </a:outerShdw>
          </a:effectLst>
        </p:spPr>
      </p:sp>
      <p:sp>
        <p:nvSpPr>
          <p:cNvPr id="159" name="Oval"/>
          <p:cNvSpPr>
            <a:spLocks/>
          </p:cNvSpPr>
          <p:nvPr/>
        </p:nvSpPr>
        <p:spPr>
          <a:xfrm rot="0">
            <a:off x="868680" y="4297680"/>
            <a:ext cx="594360" cy="594360"/>
          </a:xfrm>
          <a:prstGeom prst="ellipse"/>
          <a:solidFill>
            <a:srgbClr val="DC2626"/>
          </a:solidFill>
          <a:ln w="12700" cmpd="sng" cap="flat">
            <a:noFill/>
            <a:prstDash val="solid"/>
            <a:miter/>
          </a:ln>
        </p:spPr>
      </p:sp>
      <p:pic>
        <p:nvPicPr>
          <p:cNvPr id="160" name="Image" descr="/home/claude/deck/assets/alert.png"/>
          <p:cNvPicPr>
            <a:picLocks noChangeAspect="1"/>
          </p:cNvPicPr>
          <p:nvPr/>
        </p:nvPicPr>
        <p:blipFill>
          <a:blip r:embed="rId5" cstate="print"/>
          <a:stretch>
            <a:fillRect/>
          </a:stretch>
        </p:blipFill>
        <p:spPr>
          <a:xfrm rot="0">
            <a:off x="1002411" y="4431411"/>
            <a:ext cx="326898" cy="326898"/>
          </a:xfrm>
          <a:prstGeom prst="rect"/>
          <a:noFill/>
          <a:ln w="12700" cmpd="sng" cap="flat">
            <a:noFill/>
            <a:prstDash val="solid"/>
            <a:miter/>
          </a:ln>
        </p:spPr>
      </p:pic>
      <p:sp>
        <p:nvSpPr>
          <p:cNvPr id="161" name="Rectangle"/>
          <p:cNvSpPr>
            <a:spLocks/>
          </p:cNvSpPr>
          <p:nvPr/>
        </p:nvSpPr>
        <p:spPr>
          <a:xfrm rot="0">
            <a:off x="1600200" y="4279392"/>
            <a:ext cx="91440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00" b="1" i="0" u="none" strike="noStrike" kern="0" cap="none" spc="50" baseline="0">
                <a:solidFill>
                  <a:srgbClr val="FBBF24"/>
                </a:solidFill>
                <a:latin typeface="Calibri" pitchFamily="0" charset="0"/>
                <a:ea typeface="Calibri" pitchFamily="0" charset="0"/>
                <a:cs typeface="Calibri" pitchFamily="0" charset="0"/>
              </a:rPr>
              <a:t>REAL-WORLD CASE STUDY: WANNACRY RANSOMWARE (2017)</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2" name="Rectangle"/>
          <p:cNvSpPr>
            <a:spLocks/>
          </p:cNvSpPr>
          <p:nvPr/>
        </p:nvSpPr>
        <p:spPr>
          <a:xfrm rot="0">
            <a:off x="868680" y="4892040"/>
            <a:ext cx="10424161" cy="5538527"/>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432"/>
              </a:spcAft>
              <a:buClrTx/>
              <a:buChar char="▪"/>
            </a:pPr>
            <a:r>
              <a:rPr lang="en-US" altLang="zh-CN" sz="1250" b="0" i="0" u="none" strike="noStrike" kern="1200" cap="none" spc="0" baseline="0">
                <a:solidFill>
                  <a:srgbClr val="E5E7EB"/>
                </a:solidFill>
                <a:latin typeface="Calibri" pitchFamily="0" charset="0"/>
                <a:ea typeface="Calibri" pitchFamily="0" charset="0"/>
                <a:cs typeface="Calibri" pitchFamily="0" charset="0"/>
              </a:rPr>
              <a:t>Exploited unpatched Windows SMB vulnerability (EternalBlue) to spread across 150+ countries</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432"/>
              </a:spcAft>
              <a:buClrTx/>
              <a:buChar char="▪"/>
            </a:pPr>
            <a:r>
              <a:rPr lang="en-US" altLang="zh-CN" sz="1250" b="0" i="0" u="none" strike="noStrike" kern="1200" cap="none" spc="0" baseline="0">
                <a:solidFill>
                  <a:srgbClr val="E5E7EB"/>
                </a:solidFill>
                <a:latin typeface="Calibri" pitchFamily="0" charset="0"/>
                <a:ea typeface="Calibri" pitchFamily="0" charset="0"/>
                <a:cs typeface="Calibri" pitchFamily="0" charset="0"/>
              </a:rPr>
              <a:t>Encrypted files on 200,000+ computers, demanding Bitcoin ransom for decryption keys</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432"/>
              </a:spcAft>
              <a:buClrTx/>
              <a:buChar char="▪"/>
            </a:pPr>
            <a:r>
              <a:rPr lang="en-US" altLang="zh-CN" sz="1250" b="0" i="0" u="none" strike="noStrike" kern="1200" cap="none" spc="0" baseline="0">
                <a:solidFill>
                  <a:srgbClr val="E5E7EB"/>
                </a:solidFill>
                <a:latin typeface="Calibri" pitchFamily="0" charset="0"/>
                <a:ea typeface="Calibri" pitchFamily="0" charset="0"/>
                <a:cs typeface="Calibri" pitchFamily="0" charset="0"/>
              </a:rPr>
              <a:t>Highlighted the need for timely patching, firewalls, IDS/IPS, and offline backups as prevention</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163"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4"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6</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610049209"/>
      </p:ext>
    </p:extLst>
  </p:cSld>
  <p:clrMapOvr>
    <a:masterClrMapping/>
  </p:clrMapOvr>
  <p:transition spd="med">
    <p:fade/>
  </p:transition>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id="169"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60A5FA"/>
                </a:solidFill>
                <a:latin typeface="Calibri" pitchFamily="0" charset="0"/>
                <a:ea typeface="Calibri" pitchFamily="0" charset="0"/>
                <a:cs typeface="Calibri" pitchFamily="0" charset="0"/>
              </a:rPr>
              <a:t>TOPIC 2 · FOUNDATIONS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0"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FFFFFF"/>
                </a:solidFill>
                <a:latin typeface="Cambria" pitchFamily="34" charset="0"/>
                <a:ea typeface="Cambria" pitchFamily="34" charset="0"/>
                <a:cs typeface="Cambria" pitchFamily="34" charset="0"/>
              </a:rPr>
              <a:t>Introduction to Cryptography &amp; Steganography</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1" name="Rounded rectangle"/>
          <p:cNvSpPr>
            <a:spLocks/>
          </p:cNvSpPr>
          <p:nvPr/>
        </p:nvSpPr>
        <p:spPr>
          <a:xfrm rot="0">
            <a:off x="548640" y="1600200"/>
            <a:ext cx="5257800" cy="4114800"/>
          </a:xfrm>
          <a:prstGeom prst="roundRect">
            <a:avLst>
              <a:gd name="adj" fmla="val 1777"/>
            </a:avLst>
          </a:prstGeom>
          <a:solidFill>
            <a:srgbClr val="13294B"/>
          </a:solidFill>
          <a:ln w="12700" cmpd="sng" cap="flat">
            <a:noFill/>
            <a:prstDash val="solid"/>
            <a:miter/>
          </a:ln>
          <a:effectLst>
            <a:outerShdw sx="100000" sy="100000" algn="bl" rotWithShape="0" blurRad="101600" dist="38100" dir="5400000">
              <a:srgbClr val="1F2937">
                <a:alpha val="17647"/>
              </a:srgbClr>
            </a:outerShdw>
          </a:effectLst>
        </p:spPr>
      </p:sp>
      <p:sp>
        <p:nvSpPr>
          <p:cNvPr id="172" name="Oval"/>
          <p:cNvSpPr>
            <a:spLocks/>
          </p:cNvSpPr>
          <p:nvPr/>
        </p:nvSpPr>
        <p:spPr>
          <a:xfrm rot="0">
            <a:off x="2720339" y="1965960"/>
            <a:ext cx="914400" cy="914399"/>
          </a:xfrm>
          <a:prstGeom prst="ellipse"/>
          <a:solidFill>
            <a:srgbClr val="2563EB"/>
          </a:solidFill>
          <a:ln w="12700" cmpd="sng" cap="flat">
            <a:noFill/>
            <a:prstDash val="solid"/>
            <a:miter/>
          </a:ln>
        </p:spPr>
      </p:sp>
      <p:pic>
        <p:nvPicPr>
          <p:cNvPr id="173" name="Image" descr="/home/claude/deck/assets/key.png"/>
          <p:cNvPicPr>
            <a:picLocks noChangeAspect="1"/>
          </p:cNvPicPr>
          <p:nvPr/>
        </p:nvPicPr>
        <p:blipFill>
          <a:blip r:embed="rId1" cstate="print"/>
          <a:stretch>
            <a:fillRect/>
          </a:stretch>
        </p:blipFill>
        <p:spPr>
          <a:xfrm rot="0">
            <a:off x="2926080" y="2171700"/>
            <a:ext cx="502920" cy="502919"/>
          </a:xfrm>
          <a:prstGeom prst="rect"/>
          <a:noFill/>
          <a:ln w="12700" cmpd="sng" cap="flat">
            <a:noFill/>
            <a:prstDash val="solid"/>
            <a:miter/>
          </a:ln>
        </p:spPr>
      </p:pic>
      <p:sp>
        <p:nvSpPr>
          <p:cNvPr id="174" name="Rectangle"/>
          <p:cNvSpPr>
            <a:spLocks/>
          </p:cNvSpPr>
          <p:nvPr/>
        </p:nvSpPr>
        <p:spPr>
          <a:xfrm rot="0">
            <a:off x="548640" y="3063239"/>
            <a:ext cx="5257800" cy="45720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2000" b="1" i="0" u="none" strike="noStrike" kern="1200" cap="none" spc="0" baseline="0">
                <a:solidFill>
                  <a:srgbClr val="FFFFFF"/>
                </a:solidFill>
                <a:latin typeface="Cambria" pitchFamily="34" charset="0"/>
                <a:ea typeface="Cambria" pitchFamily="34" charset="0"/>
                <a:cs typeface="Cambria" pitchFamily="34" charset="0"/>
              </a:rPr>
              <a:t>Cryptography</a:t>
            </a:r>
            <a:endParaRPr lang="zh-CN" altLang="en-US" sz="20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5" name="Rectangle"/>
          <p:cNvSpPr>
            <a:spLocks/>
          </p:cNvSpPr>
          <p:nvPr/>
        </p:nvSpPr>
        <p:spPr>
          <a:xfrm rot="0">
            <a:off x="914400" y="3611880"/>
            <a:ext cx="4526280"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pitchFamily="0" charset="0"/>
                <a:ea typeface="Calibri" pitchFamily="0" charset="0"/>
                <a:cs typeface="Calibri" pitchFamily="0" charset="0"/>
              </a:rPr>
              <a:t>Science of transforming readable data into unreadable form</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pitchFamily="0" charset="0"/>
                <a:ea typeface="Calibri" pitchFamily="0" charset="0"/>
                <a:cs typeface="Calibri" pitchFamily="0" charset="0"/>
              </a:rPr>
              <a:t>Protects data through mathematical algorithms and keys</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pitchFamily="0" charset="0"/>
                <a:ea typeface="Calibri" pitchFamily="0" charset="0"/>
                <a:cs typeface="Calibri" pitchFamily="0" charset="0"/>
              </a:rPr>
              <a:t>Provides confidentiality, integrity, and authentication</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pitchFamily="0" charset="0"/>
                <a:ea typeface="Calibri" pitchFamily="0" charset="0"/>
                <a:cs typeface="Calibri" pitchFamily="0" charset="0"/>
              </a:rPr>
              <a:t>Visible presence of protected data (ciphertext is noticeable)</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6" name="Rounded rectangle"/>
          <p:cNvSpPr>
            <a:spLocks/>
          </p:cNvSpPr>
          <p:nvPr/>
        </p:nvSpPr>
        <p:spPr>
          <a:xfrm rot="0">
            <a:off x="6126478" y="1600200"/>
            <a:ext cx="5257799" cy="4114800"/>
          </a:xfrm>
          <a:prstGeom prst="roundRect">
            <a:avLst>
              <a:gd name="adj" fmla="val 1777"/>
            </a:avLst>
          </a:prstGeom>
          <a:solidFill>
            <a:srgbClr val="13294B"/>
          </a:solidFill>
          <a:ln w="12700" cmpd="sng" cap="flat">
            <a:noFill/>
            <a:prstDash val="solid"/>
            <a:miter/>
          </a:ln>
          <a:effectLst>
            <a:outerShdw sx="100000" sy="100000" algn="bl" rotWithShape="0" blurRad="101600" dist="38100" dir="5400000">
              <a:srgbClr val="1F2937">
                <a:alpha val="17647"/>
              </a:srgbClr>
            </a:outerShdw>
          </a:effectLst>
        </p:spPr>
      </p:sp>
      <p:sp>
        <p:nvSpPr>
          <p:cNvPr id="177" name="Oval"/>
          <p:cNvSpPr>
            <a:spLocks/>
          </p:cNvSpPr>
          <p:nvPr/>
        </p:nvSpPr>
        <p:spPr>
          <a:xfrm rot="0">
            <a:off x="8298179" y="1965960"/>
            <a:ext cx="914400" cy="914399"/>
          </a:xfrm>
          <a:prstGeom prst="ellipse"/>
          <a:solidFill>
            <a:srgbClr val="7C3AED"/>
          </a:solidFill>
          <a:ln w="12700" cmpd="sng" cap="flat">
            <a:noFill/>
            <a:prstDash val="solid"/>
            <a:miter/>
          </a:ln>
        </p:spPr>
      </p:sp>
      <p:pic>
        <p:nvPicPr>
          <p:cNvPr id="178" name="Image" descr="/home/claude/deck/assets/image_icon.png"/>
          <p:cNvPicPr>
            <a:picLocks noChangeAspect="1"/>
          </p:cNvPicPr>
          <p:nvPr/>
        </p:nvPicPr>
        <p:blipFill>
          <a:blip r:embed="rId2" cstate="print"/>
          <a:stretch>
            <a:fillRect/>
          </a:stretch>
        </p:blipFill>
        <p:spPr>
          <a:xfrm rot="0">
            <a:off x="8503920" y="2171700"/>
            <a:ext cx="502919" cy="502919"/>
          </a:xfrm>
          <a:prstGeom prst="rect"/>
          <a:noFill/>
          <a:ln w="12700" cmpd="sng" cap="flat">
            <a:noFill/>
            <a:prstDash val="solid"/>
            <a:miter/>
          </a:ln>
        </p:spPr>
      </p:pic>
      <p:sp>
        <p:nvSpPr>
          <p:cNvPr id="179" name="Rectangle"/>
          <p:cNvSpPr>
            <a:spLocks/>
          </p:cNvSpPr>
          <p:nvPr/>
        </p:nvSpPr>
        <p:spPr>
          <a:xfrm rot="0">
            <a:off x="6126478" y="3063239"/>
            <a:ext cx="5257799" cy="45720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2000" b="1" i="0" u="none" strike="noStrike" kern="1200" cap="none" spc="0" baseline="0">
                <a:solidFill>
                  <a:srgbClr val="FFFFFF"/>
                </a:solidFill>
                <a:latin typeface="Cambria" pitchFamily="34" charset="0"/>
                <a:ea typeface="Cambria" pitchFamily="34" charset="0"/>
                <a:cs typeface="Cambria" pitchFamily="34" charset="0"/>
              </a:rPr>
              <a:t>Steganography</a:t>
            </a:r>
            <a:endParaRPr lang="zh-CN" altLang="en-US" sz="20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0" name="Rectangle"/>
          <p:cNvSpPr>
            <a:spLocks/>
          </p:cNvSpPr>
          <p:nvPr/>
        </p:nvSpPr>
        <p:spPr>
          <a:xfrm rot="0">
            <a:off x="6492240" y="3611880"/>
            <a:ext cx="4526278"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pitchFamily="0" charset="0"/>
                <a:ea typeface="Calibri" pitchFamily="0" charset="0"/>
                <a:cs typeface="Calibri" pitchFamily="0" charset="0"/>
              </a:rPr>
              <a:t>Art of hiding the very existence of a message</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pitchFamily="0" charset="0"/>
                <a:ea typeface="Calibri" pitchFamily="0" charset="0"/>
                <a:cs typeface="Calibri" pitchFamily="0" charset="0"/>
              </a:rPr>
              <a:t>Embeds secret data inside images, audio, video, or text</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pitchFamily="0" charset="0"/>
                <a:ea typeface="Calibri" pitchFamily="0" charset="0"/>
                <a:cs typeface="Calibri" pitchFamily="0" charset="0"/>
              </a:rPr>
              <a:t>Focuses on concealment rather than mathematical transformation</a:t>
            </a:r>
            <a:endParaRPr lang="en-US" altLang="zh-CN" sz="13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pitchFamily="0" charset="0"/>
                <a:ea typeface="Calibri" pitchFamily="0" charset="0"/>
                <a:cs typeface="Calibri" pitchFamily="0" charset="0"/>
              </a:rPr>
              <a:t>Cover file appears completely normal to observers</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1"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8FA3C4"/>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2"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8FA3C4"/>
                </a:solidFill>
                <a:latin typeface="Calibri" pitchFamily="0" charset="0"/>
                <a:ea typeface="Calibri" pitchFamily="0" charset="0"/>
                <a:cs typeface="Calibri" pitchFamily="0" charset="0"/>
              </a:rPr>
              <a:t>7</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886451373"/>
      </p:ext>
    </p:extLst>
  </p:cSld>
  <p:clrMapOvr>
    <a:masterClrMapping/>
  </p:clrMapOvr>
  <p:transition spd="med">
    <p:fade/>
  </p:transition>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87"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2 · CRYPTOGRAPHY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8"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Cryptography</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9" name="Rounded rectangle"/>
          <p:cNvSpPr>
            <a:spLocks/>
          </p:cNvSpPr>
          <p:nvPr/>
        </p:nvSpPr>
        <p:spPr>
          <a:xfrm rot="0">
            <a:off x="518008" y="1508758"/>
            <a:ext cx="1828800" cy="868680"/>
          </a:xfrm>
          <a:prstGeom prst="roundRect">
            <a:avLst>
              <a:gd name="adj" fmla="val 8421"/>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190" name="Oval"/>
          <p:cNvSpPr>
            <a:spLocks/>
          </p:cNvSpPr>
          <p:nvPr/>
        </p:nvSpPr>
        <p:spPr>
          <a:xfrm rot="0">
            <a:off x="1240384" y="1618487"/>
            <a:ext cx="384048" cy="384048"/>
          </a:xfrm>
          <a:prstGeom prst="ellipse"/>
          <a:solidFill>
            <a:srgbClr val="1F2937"/>
          </a:solidFill>
          <a:ln w="12700" cmpd="sng" cap="flat">
            <a:noFill/>
            <a:prstDash val="solid"/>
            <a:miter/>
          </a:ln>
        </p:spPr>
      </p:sp>
      <p:pic>
        <p:nvPicPr>
          <p:cNvPr id="191" name="Image" descr="/home/claude/deck/assets/file_text.png"/>
          <p:cNvPicPr>
            <a:picLocks noChangeAspect="1"/>
          </p:cNvPicPr>
          <p:nvPr/>
        </p:nvPicPr>
        <p:blipFill>
          <a:blip r:embed="rId1" cstate="print"/>
          <a:stretch>
            <a:fillRect/>
          </a:stretch>
        </p:blipFill>
        <p:spPr>
          <a:xfrm rot="0">
            <a:off x="1317193" y="1695298"/>
            <a:ext cx="230427" cy="230428"/>
          </a:xfrm>
          <a:prstGeom prst="rect"/>
          <a:noFill/>
          <a:ln w="12700" cmpd="sng" cap="flat">
            <a:noFill/>
            <a:prstDash val="solid"/>
            <a:miter/>
          </a:ln>
        </p:spPr>
      </p:pic>
      <p:sp>
        <p:nvSpPr>
          <p:cNvPr id="192" name="Rectangle"/>
          <p:cNvSpPr>
            <a:spLocks/>
          </p:cNvSpPr>
          <p:nvPr/>
        </p:nvSpPr>
        <p:spPr>
          <a:xfrm rot="0">
            <a:off x="518008" y="2039112"/>
            <a:ext cx="1828800" cy="292608"/>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pitchFamily="0" charset="0"/>
                <a:ea typeface="Calibri" pitchFamily="0" charset="0"/>
                <a:cs typeface="Calibri" pitchFamily="0" charset="0"/>
              </a:rPr>
              <a:t>Plaintext</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93" name="Rounded rectangle"/>
          <p:cNvSpPr>
            <a:spLocks/>
          </p:cNvSpPr>
          <p:nvPr/>
        </p:nvSpPr>
        <p:spPr>
          <a:xfrm rot="0">
            <a:off x="2849728" y="1508758"/>
            <a:ext cx="1828800" cy="868680"/>
          </a:xfrm>
          <a:prstGeom prst="roundRect">
            <a:avLst>
              <a:gd name="adj" fmla="val 8421"/>
            </a:avLst>
          </a:prstGeom>
          <a:solidFill>
            <a:srgbClr val="E8F0FE"/>
          </a:solidFill>
          <a:ln w="12700" cmpd="sng" cap="flat">
            <a:noFill/>
            <a:prstDash val="solid"/>
            <a:miter/>
          </a:ln>
          <a:effectLst>
            <a:outerShdw sx="100000" sy="100000" algn="bl" rotWithShape="0" blurRad="101600" dist="38100" dir="5400000">
              <a:srgbClr val="1F2937">
                <a:alpha val="17647"/>
              </a:srgbClr>
            </a:outerShdw>
          </a:effectLst>
        </p:spPr>
      </p:sp>
      <p:sp>
        <p:nvSpPr>
          <p:cNvPr id="194" name="Oval"/>
          <p:cNvSpPr>
            <a:spLocks/>
          </p:cNvSpPr>
          <p:nvPr/>
        </p:nvSpPr>
        <p:spPr>
          <a:xfrm rot="0">
            <a:off x="3572104" y="1618487"/>
            <a:ext cx="384048" cy="384048"/>
          </a:xfrm>
          <a:prstGeom prst="ellipse"/>
          <a:solidFill>
            <a:srgbClr val="2563EB"/>
          </a:solidFill>
          <a:ln w="12700" cmpd="sng" cap="flat">
            <a:noFill/>
            <a:prstDash val="solid"/>
            <a:miter/>
          </a:ln>
        </p:spPr>
      </p:sp>
      <p:pic>
        <p:nvPicPr>
          <p:cNvPr id="195" name="Image" descr="/home/claude/deck/assets/lock_blue.png"/>
          <p:cNvPicPr>
            <a:picLocks noChangeAspect="1"/>
          </p:cNvPicPr>
          <p:nvPr/>
        </p:nvPicPr>
        <p:blipFill>
          <a:blip r:embed="rId2" cstate="print"/>
          <a:stretch>
            <a:fillRect/>
          </a:stretch>
        </p:blipFill>
        <p:spPr>
          <a:xfrm rot="0">
            <a:off x="3648913" y="1695298"/>
            <a:ext cx="230428" cy="230428"/>
          </a:xfrm>
          <a:prstGeom prst="rect"/>
          <a:noFill/>
          <a:ln w="12700" cmpd="sng" cap="flat">
            <a:noFill/>
            <a:prstDash val="solid"/>
            <a:miter/>
          </a:ln>
        </p:spPr>
      </p:pic>
      <p:sp>
        <p:nvSpPr>
          <p:cNvPr id="196" name="Rectangle"/>
          <p:cNvSpPr>
            <a:spLocks/>
          </p:cNvSpPr>
          <p:nvPr/>
        </p:nvSpPr>
        <p:spPr>
          <a:xfrm rot="0">
            <a:off x="2849728" y="2039112"/>
            <a:ext cx="1828800" cy="292608"/>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pitchFamily="0" charset="0"/>
                <a:ea typeface="Calibri" pitchFamily="0" charset="0"/>
                <a:cs typeface="Calibri" pitchFamily="0" charset="0"/>
              </a:rPr>
              <a:t>Encryption</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97" name="Rounded rectangle"/>
          <p:cNvSpPr>
            <a:spLocks/>
          </p:cNvSpPr>
          <p:nvPr/>
        </p:nvSpPr>
        <p:spPr>
          <a:xfrm rot="0">
            <a:off x="5181448" y="1508758"/>
            <a:ext cx="1828800" cy="868680"/>
          </a:xfrm>
          <a:prstGeom prst="roundRect">
            <a:avLst>
              <a:gd name="adj" fmla="val 8421"/>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198" name="Oval"/>
          <p:cNvSpPr>
            <a:spLocks/>
          </p:cNvSpPr>
          <p:nvPr/>
        </p:nvSpPr>
        <p:spPr>
          <a:xfrm rot="0">
            <a:off x="5903823" y="1618487"/>
            <a:ext cx="384048" cy="384048"/>
          </a:xfrm>
          <a:prstGeom prst="ellipse"/>
          <a:solidFill>
            <a:srgbClr val="1F2937"/>
          </a:solidFill>
          <a:ln w="12700" cmpd="sng" cap="flat">
            <a:noFill/>
            <a:prstDash val="solid"/>
            <a:miter/>
          </a:ln>
        </p:spPr>
      </p:sp>
      <p:pic>
        <p:nvPicPr>
          <p:cNvPr id="199" name="Image" descr="/home/claude/deck/assets/code.png"/>
          <p:cNvPicPr>
            <a:picLocks noChangeAspect="1"/>
          </p:cNvPicPr>
          <p:nvPr/>
        </p:nvPicPr>
        <p:blipFill>
          <a:blip r:embed="rId3" cstate="print"/>
          <a:stretch>
            <a:fillRect/>
          </a:stretch>
        </p:blipFill>
        <p:spPr>
          <a:xfrm rot="0">
            <a:off x="5980633" y="1695298"/>
            <a:ext cx="230427" cy="230428"/>
          </a:xfrm>
          <a:prstGeom prst="rect"/>
          <a:noFill/>
          <a:ln w="12700" cmpd="sng" cap="flat">
            <a:noFill/>
            <a:prstDash val="solid"/>
            <a:miter/>
          </a:ln>
        </p:spPr>
      </p:pic>
      <p:sp>
        <p:nvSpPr>
          <p:cNvPr id="200" name="Rectangle"/>
          <p:cNvSpPr>
            <a:spLocks/>
          </p:cNvSpPr>
          <p:nvPr/>
        </p:nvSpPr>
        <p:spPr>
          <a:xfrm rot="0">
            <a:off x="5181448" y="2039112"/>
            <a:ext cx="1828800" cy="292608"/>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pitchFamily="0" charset="0"/>
                <a:ea typeface="Calibri" pitchFamily="0" charset="0"/>
                <a:cs typeface="Calibri" pitchFamily="0" charset="0"/>
              </a:rPr>
              <a:t>Ciphertext</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201" name="Rounded rectangle"/>
          <p:cNvSpPr>
            <a:spLocks/>
          </p:cNvSpPr>
          <p:nvPr/>
        </p:nvSpPr>
        <p:spPr>
          <a:xfrm rot="0">
            <a:off x="7513168" y="1508758"/>
            <a:ext cx="1828800" cy="868680"/>
          </a:xfrm>
          <a:prstGeom prst="roundRect">
            <a:avLst>
              <a:gd name="adj" fmla="val 8421"/>
            </a:avLst>
          </a:prstGeom>
          <a:solidFill>
            <a:srgbClr val="E8F0FE"/>
          </a:solidFill>
          <a:ln w="12700" cmpd="sng" cap="flat">
            <a:noFill/>
            <a:prstDash val="solid"/>
            <a:miter/>
          </a:ln>
          <a:effectLst>
            <a:outerShdw sx="100000" sy="100000" algn="bl" rotWithShape="0" blurRad="101600" dist="38100" dir="5400000">
              <a:srgbClr val="1F2937">
                <a:alpha val="17647"/>
              </a:srgbClr>
            </a:outerShdw>
          </a:effectLst>
        </p:spPr>
      </p:sp>
      <p:sp>
        <p:nvSpPr>
          <p:cNvPr id="202" name="Oval"/>
          <p:cNvSpPr>
            <a:spLocks/>
          </p:cNvSpPr>
          <p:nvPr/>
        </p:nvSpPr>
        <p:spPr>
          <a:xfrm rot="0">
            <a:off x="8235544" y="1618487"/>
            <a:ext cx="384048" cy="384048"/>
          </a:xfrm>
          <a:prstGeom prst="ellipse"/>
          <a:solidFill>
            <a:srgbClr val="2563EB"/>
          </a:solidFill>
          <a:ln w="12700" cmpd="sng" cap="flat">
            <a:noFill/>
            <a:prstDash val="solid"/>
            <a:miter/>
          </a:ln>
        </p:spPr>
      </p:sp>
      <p:pic>
        <p:nvPicPr>
          <p:cNvPr id="203" name="Image" descr="/home/claude/deck/assets/key_blue.png"/>
          <p:cNvPicPr>
            <a:picLocks noChangeAspect="1"/>
          </p:cNvPicPr>
          <p:nvPr/>
        </p:nvPicPr>
        <p:blipFill>
          <a:blip r:embed="rId4" cstate="print"/>
          <a:stretch>
            <a:fillRect/>
          </a:stretch>
        </p:blipFill>
        <p:spPr>
          <a:xfrm rot="0">
            <a:off x="8312353" y="1695298"/>
            <a:ext cx="230427" cy="230428"/>
          </a:xfrm>
          <a:prstGeom prst="rect"/>
          <a:noFill/>
          <a:ln w="12700" cmpd="sng" cap="flat">
            <a:noFill/>
            <a:prstDash val="solid"/>
            <a:miter/>
          </a:ln>
        </p:spPr>
      </p:pic>
      <p:sp>
        <p:nvSpPr>
          <p:cNvPr id="204" name="Rectangle"/>
          <p:cNvSpPr>
            <a:spLocks/>
          </p:cNvSpPr>
          <p:nvPr/>
        </p:nvSpPr>
        <p:spPr>
          <a:xfrm rot="0">
            <a:off x="7513168" y="2039112"/>
            <a:ext cx="1828800" cy="292608"/>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pitchFamily="0" charset="0"/>
                <a:ea typeface="Calibri" pitchFamily="0" charset="0"/>
                <a:cs typeface="Calibri" pitchFamily="0" charset="0"/>
              </a:rPr>
              <a:t>Decryption</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205" name="Rounded rectangle"/>
          <p:cNvSpPr>
            <a:spLocks/>
          </p:cNvSpPr>
          <p:nvPr/>
        </p:nvSpPr>
        <p:spPr>
          <a:xfrm rot="0">
            <a:off x="9844888" y="1508758"/>
            <a:ext cx="1828800" cy="868680"/>
          </a:xfrm>
          <a:prstGeom prst="roundRect">
            <a:avLst>
              <a:gd name="adj" fmla="val 8421"/>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206" name="Oval"/>
          <p:cNvSpPr>
            <a:spLocks/>
          </p:cNvSpPr>
          <p:nvPr/>
        </p:nvSpPr>
        <p:spPr>
          <a:xfrm rot="0">
            <a:off x="10567264" y="1618487"/>
            <a:ext cx="384047" cy="384048"/>
          </a:xfrm>
          <a:prstGeom prst="ellipse"/>
          <a:solidFill>
            <a:srgbClr val="1F2937"/>
          </a:solidFill>
          <a:ln w="12700" cmpd="sng" cap="flat">
            <a:noFill/>
            <a:prstDash val="solid"/>
            <a:miter/>
          </a:ln>
        </p:spPr>
      </p:sp>
      <p:pic>
        <p:nvPicPr>
          <p:cNvPr id="207" name="Image" descr="/home/claude/deck/assets/file_text.png"/>
          <p:cNvPicPr>
            <a:picLocks noChangeAspect="1"/>
          </p:cNvPicPr>
          <p:nvPr/>
        </p:nvPicPr>
        <p:blipFill>
          <a:blip r:embed="rId5" cstate="print"/>
          <a:stretch>
            <a:fillRect/>
          </a:stretch>
        </p:blipFill>
        <p:spPr>
          <a:xfrm rot="0">
            <a:off x="10644073" y="1695298"/>
            <a:ext cx="230427" cy="230428"/>
          </a:xfrm>
          <a:prstGeom prst="rect"/>
          <a:noFill/>
          <a:ln w="12700" cmpd="sng" cap="flat">
            <a:noFill/>
            <a:prstDash val="solid"/>
            <a:miter/>
          </a:ln>
        </p:spPr>
      </p:pic>
      <p:sp>
        <p:nvSpPr>
          <p:cNvPr id="208" name="Rectangle"/>
          <p:cNvSpPr>
            <a:spLocks/>
          </p:cNvSpPr>
          <p:nvPr/>
        </p:nvSpPr>
        <p:spPr>
          <a:xfrm rot="0">
            <a:off x="9844888" y="2039112"/>
            <a:ext cx="1828800" cy="292608"/>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pitchFamily="0" charset="0"/>
                <a:ea typeface="Calibri" pitchFamily="0" charset="0"/>
                <a:cs typeface="Calibri" pitchFamily="0" charset="0"/>
              </a:rPr>
              <a:t>Plaintext</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209" name="Image" descr="/home/claude/deck/assets/arrow_right.png"/>
          <p:cNvPicPr>
            <a:picLocks noChangeAspect="1"/>
          </p:cNvPicPr>
          <p:nvPr/>
        </p:nvPicPr>
        <p:blipFill>
          <a:blip r:embed="rId6" cstate="print"/>
          <a:stretch>
            <a:fillRect/>
          </a:stretch>
        </p:blipFill>
        <p:spPr>
          <a:xfrm rot="0">
            <a:off x="2470252" y="1828800"/>
            <a:ext cx="256031" cy="256031"/>
          </a:xfrm>
          <a:prstGeom prst="rect"/>
          <a:noFill/>
          <a:ln w="12700" cmpd="sng" cap="flat">
            <a:noFill/>
            <a:prstDash val="solid"/>
            <a:miter/>
          </a:ln>
        </p:spPr>
      </p:pic>
      <p:pic>
        <p:nvPicPr>
          <p:cNvPr id="210" name="Image" descr="/home/claude/deck/assets/arrow_right.png"/>
          <p:cNvPicPr>
            <a:picLocks noChangeAspect="1"/>
          </p:cNvPicPr>
          <p:nvPr/>
        </p:nvPicPr>
        <p:blipFill>
          <a:blip r:embed="rId7" cstate="print"/>
          <a:stretch>
            <a:fillRect/>
          </a:stretch>
        </p:blipFill>
        <p:spPr>
          <a:xfrm rot="0">
            <a:off x="4801972" y="1828800"/>
            <a:ext cx="256032" cy="256031"/>
          </a:xfrm>
          <a:prstGeom prst="rect"/>
          <a:noFill/>
          <a:ln w="12700" cmpd="sng" cap="flat">
            <a:noFill/>
            <a:prstDash val="solid"/>
            <a:miter/>
          </a:ln>
        </p:spPr>
      </p:pic>
      <p:pic>
        <p:nvPicPr>
          <p:cNvPr id="211" name="Image" descr="/home/claude/deck/assets/arrow_right.png"/>
          <p:cNvPicPr>
            <a:picLocks noChangeAspect="1"/>
          </p:cNvPicPr>
          <p:nvPr/>
        </p:nvPicPr>
        <p:blipFill>
          <a:blip r:embed="rId8" cstate="print"/>
          <a:stretch>
            <a:fillRect/>
          </a:stretch>
        </p:blipFill>
        <p:spPr>
          <a:xfrm rot="0">
            <a:off x="7133692" y="1828800"/>
            <a:ext cx="256032" cy="256031"/>
          </a:xfrm>
          <a:prstGeom prst="rect"/>
          <a:noFill/>
          <a:ln w="12700" cmpd="sng" cap="flat">
            <a:noFill/>
            <a:prstDash val="solid"/>
            <a:miter/>
          </a:ln>
        </p:spPr>
      </p:pic>
      <p:pic>
        <p:nvPicPr>
          <p:cNvPr id="212" name="Image" descr="/home/claude/deck/assets/arrow_right.png"/>
          <p:cNvPicPr>
            <a:picLocks noChangeAspect="1"/>
          </p:cNvPicPr>
          <p:nvPr/>
        </p:nvPicPr>
        <p:blipFill>
          <a:blip r:embed="rId9" cstate="print"/>
          <a:stretch>
            <a:fillRect/>
          </a:stretch>
        </p:blipFill>
        <p:spPr>
          <a:xfrm rot="0">
            <a:off x="9465412" y="1828800"/>
            <a:ext cx="256032" cy="256031"/>
          </a:xfrm>
          <a:prstGeom prst="rect"/>
          <a:noFill/>
          <a:ln w="12700" cmpd="sng" cap="flat">
            <a:noFill/>
            <a:prstDash val="solid"/>
            <a:miter/>
          </a:ln>
        </p:spPr>
      </p:pic>
      <p:sp>
        <p:nvSpPr>
          <p:cNvPr id="213" name="Rounded rectangle"/>
          <p:cNvSpPr>
            <a:spLocks/>
          </p:cNvSpPr>
          <p:nvPr/>
        </p:nvSpPr>
        <p:spPr>
          <a:xfrm rot="0">
            <a:off x="548640" y="2743200"/>
            <a:ext cx="5394960" cy="2148840"/>
          </a:xfrm>
          <a:prstGeom prst="roundRect">
            <a:avLst>
              <a:gd name="adj" fmla="val 3402"/>
            </a:avLst>
          </a:prstGeom>
          <a:solidFill>
            <a:srgbClr val="F0F5FF"/>
          </a:solidFill>
          <a:ln w="12700" cmpd="sng" cap="flat">
            <a:noFill/>
            <a:prstDash val="solid"/>
            <a:miter/>
          </a:ln>
          <a:effectLst>
            <a:outerShdw sx="100000" sy="100000" algn="bl" rotWithShape="0" blurRad="101600" dist="38100" dir="5400000">
              <a:srgbClr val="1F2937">
                <a:alpha val="17647"/>
              </a:srgbClr>
            </a:outerShdw>
          </a:effectLst>
        </p:spPr>
      </p:sp>
      <p:sp>
        <p:nvSpPr>
          <p:cNvPr id="214" name="Rectangle"/>
          <p:cNvSpPr>
            <a:spLocks/>
          </p:cNvSpPr>
          <p:nvPr/>
        </p:nvSpPr>
        <p:spPr>
          <a:xfrm rot="0">
            <a:off x="822960" y="2926080"/>
            <a:ext cx="484632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50" b="1" i="0" u="none" strike="noStrike" kern="1200" cap="none" spc="0" baseline="0">
                <a:solidFill>
                  <a:srgbClr val="1F2937"/>
                </a:solidFill>
                <a:latin typeface="Cambria" pitchFamily="34" charset="0"/>
                <a:ea typeface="Cambria" pitchFamily="34" charset="0"/>
                <a:cs typeface="Cambria" pitchFamily="34" charset="0"/>
              </a:rPr>
              <a:t>Symmetric Encryption</a:t>
            </a:r>
            <a:endParaRPr lang="zh-CN" altLang="en-US" sz="1550" b="0" i="0" u="none" strike="noStrike" kern="1200" cap="none" spc="0" baseline="0">
              <a:solidFill>
                <a:schemeClr val="tx1"/>
              </a:solidFill>
              <a:latin typeface="Calibri" pitchFamily="0" charset="0"/>
              <a:ea typeface="等线" pitchFamily="0" charset="0"/>
              <a:cs typeface="Calibri" pitchFamily="0" charset="0"/>
            </a:endParaRPr>
          </a:p>
        </p:txBody>
      </p:sp>
      <p:sp>
        <p:nvSpPr>
          <p:cNvPr id="215" name="Rectangle"/>
          <p:cNvSpPr>
            <a:spLocks/>
          </p:cNvSpPr>
          <p:nvPr/>
        </p:nvSpPr>
        <p:spPr>
          <a:xfrm rot="0">
            <a:off x="822960" y="3364992"/>
            <a:ext cx="4846320"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pitchFamily="0" charset="0"/>
                <a:ea typeface="Calibri" pitchFamily="0" charset="0"/>
                <a:cs typeface="Calibri" pitchFamily="0" charset="0"/>
              </a:rPr>
              <a:t>Same key used for encryption &amp; decryption</a:t>
            </a:r>
            <a:endParaRPr lang="en-US" altLang="zh-CN" sz="12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pitchFamily="0" charset="0"/>
                <a:ea typeface="Calibri" pitchFamily="0" charset="0"/>
                <a:cs typeface="Calibri" pitchFamily="0" charset="0"/>
              </a:rPr>
              <a:t>Fast, efficient for large data volumes</a:t>
            </a:r>
            <a:endParaRPr lang="en-US" altLang="zh-CN" sz="12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pitchFamily="0" charset="0"/>
                <a:ea typeface="Calibri" pitchFamily="0" charset="0"/>
                <a:cs typeface="Calibri" pitchFamily="0" charset="0"/>
              </a:rPr>
              <a:t>Examples: AES, DES, 3DES</a:t>
            </a:r>
            <a:endParaRPr lang="en-US" altLang="zh-CN" sz="12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pitchFamily="0" charset="0"/>
                <a:ea typeface="Calibri" pitchFamily="0" charset="0"/>
                <a:cs typeface="Calibri" pitchFamily="0" charset="0"/>
              </a:rPr>
              <a:t>Key distribution is a major challenge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16" name="Rounded rectangle"/>
          <p:cNvSpPr>
            <a:spLocks/>
          </p:cNvSpPr>
          <p:nvPr/>
        </p:nvSpPr>
        <p:spPr>
          <a:xfrm rot="0">
            <a:off x="6172200" y="2743200"/>
            <a:ext cx="5440679" cy="2148840"/>
          </a:xfrm>
          <a:prstGeom prst="roundRect">
            <a:avLst>
              <a:gd name="adj" fmla="val 3402"/>
            </a:avLst>
          </a:prstGeom>
          <a:solidFill>
            <a:srgbClr val="FFF3E9"/>
          </a:solidFill>
          <a:ln w="12700" cmpd="sng" cap="flat">
            <a:noFill/>
            <a:prstDash val="solid"/>
            <a:miter/>
          </a:ln>
          <a:effectLst>
            <a:outerShdw sx="100000" sy="100000" algn="bl" rotWithShape="0" blurRad="101600" dist="38100" dir="5400000">
              <a:srgbClr val="1F2937">
                <a:alpha val="17647"/>
              </a:srgbClr>
            </a:outerShdw>
          </a:effectLst>
        </p:spPr>
      </p:sp>
      <p:sp>
        <p:nvSpPr>
          <p:cNvPr id="217" name="Rectangle"/>
          <p:cNvSpPr>
            <a:spLocks/>
          </p:cNvSpPr>
          <p:nvPr/>
        </p:nvSpPr>
        <p:spPr>
          <a:xfrm rot="0">
            <a:off x="6446520" y="2926080"/>
            <a:ext cx="4846320" cy="36575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50" b="1" i="0" u="none" strike="noStrike" kern="1200" cap="none" spc="0" baseline="0">
                <a:solidFill>
                  <a:srgbClr val="1F2937"/>
                </a:solidFill>
                <a:latin typeface="Cambria" pitchFamily="34" charset="0"/>
                <a:ea typeface="Cambria" pitchFamily="34" charset="0"/>
                <a:cs typeface="Cambria" pitchFamily="34" charset="0"/>
              </a:rPr>
              <a:t>Asymmetric Encryption</a:t>
            </a:r>
            <a:endParaRPr lang="zh-CN" altLang="en-US" sz="1550" b="0" i="0" u="none" strike="noStrike" kern="1200" cap="none" spc="0" baseline="0">
              <a:solidFill>
                <a:schemeClr val="tx1"/>
              </a:solidFill>
              <a:latin typeface="Calibri" pitchFamily="0" charset="0"/>
              <a:ea typeface="等线" pitchFamily="0" charset="0"/>
              <a:cs typeface="Calibri" pitchFamily="0" charset="0"/>
            </a:endParaRPr>
          </a:p>
        </p:txBody>
      </p:sp>
      <p:sp>
        <p:nvSpPr>
          <p:cNvPr id="218" name="Rectangle"/>
          <p:cNvSpPr>
            <a:spLocks/>
          </p:cNvSpPr>
          <p:nvPr/>
        </p:nvSpPr>
        <p:spPr>
          <a:xfrm rot="0">
            <a:off x="6446520" y="3364992"/>
            <a:ext cx="4846320"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pitchFamily="0" charset="0"/>
                <a:ea typeface="Calibri" pitchFamily="0" charset="0"/>
                <a:cs typeface="Calibri" pitchFamily="0" charset="0"/>
              </a:rPr>
              <a:t>Uses public key + private key pair</a:t>
            </a:r>
            <a:endParaRPr lang="en-US" altLang="zh-CN" sz="12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pitchFamily="0" charset="0"/>
                <a:ea typeface="Calibri" pitchFamily="0" charset="0"/>
                <a:cs typeface="Calibri" pitchFamily="0" charset="0"/>
              </a:rPr>
              <a:t>Slower, but solves key distribution problem</a:t>
            </a:r>
            <a:endParaRPr lang="en-US" altLang="zh-CN" sz="12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pitchFamily="0" charset="0"/>
                <a:ea typeface="Calibri" pitchFamily="0" charset="0"/>
                <a:cs typeface="Calibri" pitchFamily="0" charset="0"/>
              </a:rPr>
              <a:t>Examples: RSA, ECC, Diffie-Hellman</a:t>
            </a:r>
            <a:endParaRPr lang="en-US" altLang="zh-CN" sz="12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pitchFamily="0" charset="0"/>
                <a:ea typeface="Calibri" pitchFamily="0" charset="0"/>
                <a:cs typeface="Calibri" pitchFamily="0" charset="0"/>
              </a:rPr>
              <a:t>Enables digital signatures &amp; secure key exchange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19" name="Rectangle"/>
          <p:cNvSpPr>
            <a:spLocks/>
          </p:cNvSpPr>
          <p:nvPr/>
        </p:nvSpPr>
        <p:spPr>
          <a:xfrm rot="0">
            <a:off x="548640" y="5074920"/>
            <a:ext cx="11064240" cy="365758"/>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1" u="none" strike="noStrike" kern="1200" cap="none" spc="0" baseline="0">
                <a:solidFill>
                  <a:srgbClr val="64748B"/>
                </a:solidFill>
                <a:latin typeface="Calibri" pitchFamily="0" charset="0"/>
                <a:ea typeface="Calibri" pitchFamily="0" charset="0"/>
                <a:cs typeface="Calibri" pitchFamily="0" charset="0"/>
              </a:rPr>
              <a:t>APPLICATIONS:  Online Banking  •  HTTPS/TLS  •  VPNs  •  Digital Signatures  •  Secure Email</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20"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221"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8</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689015938"/>
      </p:ext>
    </p:extLst>
  </p:cSld>
  <p:clrMapOvr>
    <a:masterClrMapping/>
  </p:clrMapOvr>
  <p:transition spd="med">
    <p:fade/>
  </p:transition>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26"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2 · STEGANOGRAPHY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27"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Steganography</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28" name="Rounded rectangle"/>
          <p:cNvSpPr>
            <a:spLocks/>
          </p:cNvSpPr>
          <p:nvPr/>
        </p:nvSpPr>
        <p:spPr>
          <a:xfrm rot="0">
            <a:off x="548640" y="1463040"/>
            <a:ext cx="2697479" cy="1965960"/>
          </a:xfrm>
          <a:prstGeom prst="roundRect">
            <a:avLst>
              <a:gd name="adj" fmla="val 372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229" name="Oval"/>
          <p:cNvSpPr>
            <a:spLocks/>
          </p:cNvSpPr>
          <p:nvPr/>
        </p:nvSpPr>
        <p:spPr>
          <a:xfrm rot="0">
            <a:off x="1600200" y="1691639"/>
            <a:ext cx="594360" cy="594360"/>
          </a:xfrm>
          <a:prstGeom prst="ellipse"/>
          <a:solidFill>
            <a:srgbClr val="2563EB"/>
          </a:solidFill>
          <a:ln w="12700" cmpd="sng" cap="flat">
            <a:noFill/>
            <a:prstDash val="solid"/>
            <a:miter/>
          </a:ln>
        </p:spPr>
      </p:sp>
      <p:pic>
        <p:nvPicPr>
          <p:cNvPr id="230" name="Image" descr="/home/claude/deck/assets/image_icon.png"/>
          <p:cNvPicPr>
            <a:picLocks noChangeAspect="1"/>
          </p:cNvPicPr>
          <p:nvPr/>
        </p:nvPicPr>
        <p:blipFill>
          <a:blip r:embed="rId1" cstate="print"/>
          <a:stretch>
            <a:fillRect/>
          </a:stretch>
        </p:blipFill>
        <p:spPr>
          <a:xfrm rot="0">
            <a:off x="1733931" y="1825371"/>
            <a:ext cx="326898" cy="326898"/>
          </a:xfrm>
          <a:prstGeom prst="rect"/>
          <a:noFill/>
          <a:ln w="12700" cmpd="sng" cap="flat">
            <a:noFill/>
            <a:prstDash val="solid"/>
            <a:miter/>
          </a:ln>
        </p:spPr>
      </p:pic>
      <p:sp>
        <p:nvSpPr>
          <p:cNvPr id="231" name="Rectangle"/>
          <p:cNvSpPr>
            <a:spLocks/>
          </p:cNvSpPr>
          <p:nvPr/>
        </p:nvSpPr>
        <p:spPr>
          <a:xfrm rot="0">
            <a:off x="658368" y="2377440"/>
            <a:ext cx="2478024" cy="50291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Image Steganography</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2" name="Rectangle"/>
          <p:cNvSpPr>
            <a:spLocks/>
          </p:cNvSpPr>
          <p:nvPr/>
        </p:nvSpPr>
        <p:spPr>
          <a:xfrm rot="0">
            <a:off x="685800" y="2880360"/>
            <a:ext cx="2423160" cy="50292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64748B"/>
                </a:solidFill>
                <a:latin typeface="Calibri" pitchFamily="0" charset="0"/>
                <a:ea typeface="Calibri" pitchFamily="0" charset="0"/>
                <a:cs typeface="Calibri" pitchFamily="0" charset="0"/>
              </a:rPr>
              <a:t>Hides data in pixel values (LSB technique)</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3" name="Rounded rectangle"/>
          <p:cNvSpPr>
            <a:spLocks/>
          </p:cNvSpPr>
          <p:nvPr/>
        </p:nvSpPr>
        <p:spPr>
          <a:xfrm rot="0">
            <a:off x="3447288" y="1463040"/>
            <a:ext cx="2697480" cy="1965960"/>
          </a:xfrm>
          <a:prstGeom prst="roundRect">
            <a:avLst>
              <a:gd name="adj" fmla="val 372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234" name="Oval"/>
          <p:cNvSpPr>
            <a:spLocks/>
          </p:cNvSpPr>
          <p:nvPr/>
        </p:nvSpPr>
        <p:spPr>
          <a:xfrm rot="0">
            <a:off x="4498848" y="1691639"/>
            <a:ext cx="594358" cy="594360"/>
          </a:xfrm>
          <a:prstGeom prst="ellipse"/>
          <a:solidFill>
            <a:srgbClr val="7C3AED"/>
          </a:solidFill>
          <a:ln w="12700" cmpd="sng" cap="flat">
            <a:noFill/>
            <a:prstDash val="solid"/>
            <a:miter/>
          </a:ln>
        </p:spPr>
      </p:sp>
      <p:pic>
        <p:nvPicPr>
          <p:cNvPr id="235" name="Image" descr="/home/claude/deck/assets/music.png"/>
          <p:cNvPicPr>
            <a:picLocks noChangeAspect="1"/>
          </p:cNvPicPr>
          <p:nvPr/>
        </p:nvPicPr>
        <p:blipFill>
          <a:blip r:embed="rId2" cstate="print"/>
          <a:stretch>
            <a:fillRect/>
          </a:stretch>
        </p:blipFill>
        <p:spPr>
          <a:xfrm rot="0">
            <a:off x="4632579" y="1825371"/>
            <a:ext cx="326898" cy="326898"/>
          </a:xfrm>
          <a:prstGeom prst="rect"/>
          <a:noFill/>
          <a:ln w="12700" cmpd="sng" cap="flat">
            <a:noFill/>
            <a:prstDash val="solid"/>
            <a:miter/>
          </a:ln>
        </p:spPr>
      </p:pic>
      <p:sp>
        <p:nvSpPr>
          <p:cNvPr id="236" name="Rectangle"/>
          <p:cNvSpPr>
            <a:spLocks/>
          </p:cNvSpPr>
          <p:nvPr/>
        </p:nvSpPr>
        <p:spPr>
          <a:xfrm rot="0">
            <a:off x="3557015" y="2377440"/>
            <a:ext cx="2478023" cy="50291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Audio Steganography</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7" name="Rectangle"/>
          <p:cNvSpPr>
            <a:spLocks/>
          </p:cNvSpPr>
          <p:nvPr/>
        </p:nvSpPr>
        <p:spPr>
          <a:xfrm rot="0">
            <a:off x="3584448" y="2880360"/>
            <a:ext cx="2423160" cy="50292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64748B"/>
                </a:solidFill>
                <a:latin typeface="Calibri" pitchFamily="0" charset="0"/>
                <a:ea typeface="Calibri" pitchFamily="0" charset="0"/>
                <a:cs typeface="Calibri" pitchFamily="0" charset="0"/>
              </a:rPr>
              <a:t>Embeds data in audio signal frequencies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8" name="Rounded rectangle"/>
          <p:cNvSpPr>
            <a:spLocks/>
          </p:cNvSpPr>
          <p:nvPr/>
        </p:nvSpPr>
        <p:spPr>
          <a:xfrm rot="0">
            <a:off x="6345936" y="1463040"/>
            <a:ext cx="2697479" cy="1965960"/>
          </a:xfrm>
          <a:prstGeom prst="roundRect">
            <a:avLst>
              <a:gd name="adj" fmla="val 372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239" name="Oval"/>
          <p:cNvSpPr>
            <a:spLocks/>
          </p:cNvSpPr>
          <p:nvPr/>
        </p:nvSpPr>
        <p:spPr>
          <a:xfrm rot="0">
            <a:off x="7397496" y="1691639"/>
            <a:ext cx="594358" cy="594360"/>
          </a:xfrm>
          <a:prstGeom prst="ellipse"/>
          <a:solidFill>
            <a:srgbClr val="DB2777"/>
          </a:solidFill>
          <a:ln w="12700" cmpd="sng" cap="flat">
            <a:noFill/>
            <a:prstDash val="solid"/>
            <a:miter/>
          </a:ln>
        </p:spPr>
      </p:sp>
      <p:pic>
        <p:nvPicPr>
          <p:cNvPr id="240" name="Image" descr="/home/claude/deck/assets/video.png"/>
          <p:cNvPicPr>
            <a:picLocks noChangeAspect="1"/>
          </p:cNvPicPr>
          <p:nvPr/>
        </p:nvPicPr>
        <p:blipFill>
          <a:blip r:embed="rId3" cstate="print"/>
          <a:stretch>
            <a:fillRect/>
          </a:stretch>
        </p:blipFill>
        <p:spPr>
          <a:xfrm rot="0">
            <a:off x="7531227" y="1825371"/>
            <a:ext cx="326897" cy="326898"/>
          </a:xfrm>
          <a:prstGeom prst="rect"/>
          <a:noFill/>
          <a:ln w="12700" cmpd="sng" cap="flat">
            <a:noFill/>
            <a:prstDash val="solid"/>
            <a:miter/>
          </a:ln>
        </p:spPr>
      </p:pic>
      <p:sp>
        <p:nvSpPr>
          <p:cNvPr id="241" name="Rectangle"/>
          <p:cNvSpPr>
            <a:spLocks/>
          </p:cNvSpPr>
          <p:nvPr/>
        </p:nvSpPr>
        <p:spPr>
          <a:xfrm rot="0">
            <a:off x="6455664" y="2377440"/>
            <a:ext cx="2478024" cy="50291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Video Steganography</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2" name="Rectangle"/>
          <p:cNvSpPr>
            <a:spLocks/>
          </p:cNvSpPr>
          <p:nvPr/>
        </p:nvSpPr>
        <p:spPr>
          <a:xfrm rot="0">
            <a:off x="6483096" y="2880360"/>
            <a:ext cx="2423160" cy="50292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64748B"/>
                </a:solidFill>
                <a:latin typeface="Calibri" pitchFamily="0" charset="0"/>
                <a:ea typeface="Calibri" pitchFamily="0" charset="0"/>
                <a:cs typeface="Calibri" pitchFamily="0" charset="0"/>
              </a:rPr>
              <a:t>Conceals data across video frames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3" name="Rounded rectangle"/>
          <p:cNvSpPr>
            <a:spLocks/>
          </p:cNvSpPr>
          <p:nvPr/>
        </p:nvSpPr>
        <p:spPr>
          <a:xfrm rot="0">
            <a:off x="9244584" y="1463040"/>
            <a:ext cx="2697480" cy="1965960"/>
          </a:xfrm>
          <a:prstGeom prst="roundRect">
            <a:avLst>
              <a:gd name="adj" fmla="val 372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244" name="Oval"/>
          <p:cNvSpPr>
            <a:spLocks/>
          </p:cNvSpPr>
          <p:nvPr/>
        </p:nvSpPr>
        <p:spPr>
          <a:xfrm rot="0">
            <a:off x="10296144" y="1691639"/>
            <a:ext cx="594360" cy="594360"/>
          </a:xfrm>
          <a:prstGeom prst="ellipse"/>
          <a:solidFill>
            <a:srgbClr val="0891B2"/>
          </a:solidFill>
          <a:ln w="12700" cmpd="sng" cap="flat">
            <a:noFill/>
            <a:prstDash val="solid"/>
            <a:miter/>
          </a:ln>
        </p:spPr>
      </p:sp>
      <p:pic>
        <p:nvPicPr>
          <p:cNvPr id="245" name="Image" descr="/home/claude/deck/assets/file_text.png"/>
          <p:cNvPicPr>
            <a:picLocks noChangeAspect="1"/>
          </p:cNvPicPr>
          <p:nvPr/>
        </p:nvPicPr>
        <p:blipFill>
          <a:blip r:embed="rId4" cstate="print"/>
          <a:stretch>
            <a:fillRect/>
          </a:stretch>
        </p:blipFill>
        <p:spPr>
          <a:xfrm rot="0">
            <a:off x="10429875" y="1825371"/>
            <a:ext cx="326898" cy="326898"/>
          </a:xfrm>
          <a:prstGeom prst="rect"/>
          <a:noFill/>
          <a:ln w="12700" cmpd="sng" cap="flat">
            <a:noFill/>
            <a:prstDash val="solid"/>
            <a:miter/>
          </a:ln>
        </p:spPr>
      </p:pic>
      <p:sp>
        <p:nvSpPr>
          <p:cNvPr id="246" name="Rectangle"/>
          <p:cNvSpPr>
            <a:spLocks/>
          </p:cNvSpPr>
          <p:nvPr/>
        </p:nvSpPr>
        <p:spPr>
          <a:xfrm rot="0">
            <a:off x="9354312" y="2377440"/>
            <a:ext cx="2478022" cy="502919"/>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pitchFamily="0" charset="0"/>
                <a:ea typeface="Calibri" pitchFamily="0" charset="0"/>
                <a:cs typeface="Calibri" pitchFamily="0" charset="0"/>
              </a:rPr>
              <a:t>Text Steganography</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7" name="Rectangle"/>
          <p:cNvSpPr>
            <a:spLocks/>
          </p:cNvSpPr>
          <p:nvPr/>
        </p:nvSpPr>
        <p:spPr>
          <a:xfrm rot="0">
            <a:off x="9381744" y="2880360"/>
            <a:ext cx="2423160" cy="50292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64748B"/>
                </a:solidFill>
                <a:latin typeface="Calibri" pitchFamily="0" charset="0"/>
                <a:ea typeface="Calibri" pitchFamily="0" charset="0"/>
                <a:cs typeface="Calibri" pitchFamily="0" charset="0"/>
              </a:rPr>
              <a:t>Hides data using spacing, fonts, or word patterns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8" name="Rectangle"/>
          <p:cNvSpPr>
            <a:spLocks/>
          </p:cNvSpPr>
          <p:nvPr/>
        </p:nvSpPr>
        <p:spPr>
          <a:xfrm rot="0">
            <a:off x="548640" y="3749040"/>
            <a:ext cx="4572000" cy="2743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150" baseline="0">
                <a:solidFill>
                  <a:srgbClr val="64748B"/>
                </a:solidFill>
                <a:latin typeface="Calibri" pitchFamily="0" charset="0"/>
                <a:ea typeface="Calibri" pitchFamily="0" charset="0"/>
                <a:cs typeface="Calibri" pitchFamily="0" charset="0"/>
              </a:rPr>
              <a:t>WORKING PRINCIPLE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49" name="Rounded rectangle"/>
          <p:cNvSpPr>
            <a:spLocks/>
          </p:cNvSpPr>
          <p:nvPr/>
        </p:nvSpPr>
        <p:spPr>
          <a:xfrm rot="0">
            <a:off x="548640" y="4114800"/>
            <a:ext cx="2286000" cy="1005839"/>
          </a:xfrm>
          <a:prstGeom prst="roundRect">
            <a:avLst>
              <a:gd name="adj" fmla="val 7273"/>
            </a:avLst>
          </a:prstGeom>
          <a:solidFill>
            <a:srgbClr val="EFF6FF"/>
          </a:solidFill>
          <a:ln w="12700" cmpd="sng" cap="flat">
            <a:noFill/>
            <a:prstDash val="solid"/>
            <a:miter/>
          </a:ln>
          <a:effectLst>
            <a:outerShdw sx="100000" sy="100000" algn="bl" rotWithShape="0" blurRad="101600" dist="38100" dir="5400000">
              <a:srgbClr val="1F2937">
                <a:alpha val="17647"/>
              </a:srgbClr>
            </a:outerShdw>
          </a:effectLst>
        </p:spPr>
      </p:sp>
      <p:sp>
        <p:nvSpPr>
          <p:cNvPr id="250" name="Oval"/>
          <p:cNvSpPr>
            <a:spLocks/>
          </p:cNvSpPr>
          <p:nvPr/>
        </p:nvSpPr>
        <p:spPr>
          <a:xfrm rot="0">
            <a:off x="713232" y="4389120"/>
            <a:ext cx="457200" cy="457200"/>
          </a:xfrm>
          <a:prstGeom prst="ellipse"/>
          <a:solidFill>
            <a:srgbClr val="2563EB"/>
          </a:solidFill>
          <a:ln w="12700" cmpd="sng" cap="flat">
            <a:noFill/>
            <a:prstDash val="solid"/>
            <a:miter/>
          </a:ln>
        </p:spPr>
      </p:sp>
      <p:pic>
        <p:nvPicPr>
          <p:cNvPr id="251" name="Image" descr="/home/claude/deck/assets/image_icon.png"/>
          <p:cNvPicPr>
            <a:picLocks noChangeAspect="1"/>
          </p:cNvPicPr>
          <p:nvPr/>
        </p:nvPicPr>
        <p:blipFill>
          <a:blip r:embed="rId5" cstate="print"/>
          <a:stretch>
            <a:fillRect/>
          </a:stretch>
        </p:blipFill>
        <p:spPr>
          <a:xfrm rot="0">
            <a:off x="816102" y="4491990"/>
            <a:ext cx="251459" cy="251459"/>
          </a:xfrm>
          <a:prstGeom prst="rect"/>
          <a:noFill/>
          <a:ln w="12700" cmpd="sng" cap="flat">
            <a:noFill/>
            <a:prstDash val="solid"/>
            <a:miter/>
          </a:ln>
        </p:spPr>
      </p:pic>
      <p:sp>
        <p:nvSpPr>
          <p:cNvPr id="252" name="Rectangle"/>
          <p:cNvSpPr>
            <a:spLocks/>
          </p:cNvSpPr>
          <p:nvPr/>
        </p:nvSpPr>
        <p:spPr>
          <a:xfrm rot="0">
            <a:off x="1280160" y="4114800"/>
            <a:ext cx="1417320" cy="100583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Cover File</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253" name="Rounded rectangle"/>
          <p:cNvSpPr>
            <a:spLocks/>
          </p:cNvSpPr>
          <p:nvPr/>
        </p:nvSpPr>
        <p:spPr>
          <a:xfrm rot="0">
            <a:off x="3108960" y="4114800"/>
            <a:ext cx="2286000" cy="1005839"/>
          </a:xfrm>
          <a:prstGeom prst="roundRect">
            <a:avLst>
              <a:gd name="adj" fmla="val 7273"/>
            </a:avLst>
          </a:prstGeom>
          <a:solidFill>
            <a:srgbClr val="EFF6FF"/>
          </a:solidFill>
          <a:ln w="12700" cmpd="sng" cap="flat">
            <a:noFill/>
            <a:prstDash val="solid"/>
            <a:miter/>
          </a:ln>
          <a:effectLst>
            <a:outerShdw sx="100000" sy="100000" algn="bl" rotWithShape="0" blurRad="101600" dist="38100" dir="5400000">
              <a:srgbClr val="1F2937">
                <a:alpha val="17647"/>
              </a:srgbClr>
            </a:outerShdw>
          </a:effectLst>
        </p:spPr>
      </p:sp>
      <p:sp>
        <p:nvSpPr>
          <p:cNvPr id="254" name="Oval"/>
          <p:cNvSpPr>
            <a:spLocks/>
          </p:cNvSpPr>
          <p:nvPr/>
        </p:nvSpPr>
        <p:spPr>
          <a:xfrm rot="0">
            <a:off x="3273552" y="4389120"/>
            <a:ext cx="457200" cy="457200"/>
          </a:xfrm>
          <a:prstGeom prst="ellipse"/>
          <a:solidFill>
            <a:srgbClr val="2563EB"/>
          </a:solidFill>
          <a:ln w="12700" cmpd="sng" cap="flat">
            <a:noFill/>
            <a:prstDash val="solid"/>
            <a:miter/>
          </a:ln>
        </p:spPr>
      </p:sp>
      <p:pic>
        <p:nvPicPr>
          <p:cNvPr id="255" name="Image" descr="/home/claude/deck/assets/lock_blue.png"/>
          <p:cNvPicPr>
            <a:picLocks noChangeAspect="1"/>
          </p:cNvPicPr>
          <p:nvPr/>
        </p:nvPicPr>
        <p:blipFill>
          <a:blip r:embed="rId6" cstate="print"/>
          <a:stretch>
            <a:fillRect/>
          </a:stretch>
        </p:blipFill>
        <p:spPr>
          <a:xfrm rot="0">
            <a:off x="3376422" y="4491990"/>
            <a:ext cx="251459" cy="251459"/>
          </a:xfrm>
          <a:prstGeom prst="rect"/>
          <a:noFill/>
          <a:ln w="12700" cmpd="sng" cap="flat">
            <a:noFill/>
            <a:prstDash val="solid"/>
            <a:miter/>
          </a:ln>
        </p:spPr>
      </p:pic>
      <p:sp>
        <p:nvSpPr>
          <p:cNvPr id="256" name="Rectangle"/>
          <p:cNvSpPr>
            <a:spLocks/>
          </p:cNvSpPr>
          <p:nvPr/>
        </p:nvSpPr>
        <p:spPr>
          <a:xfrm rot="0">
            <a:off x="3840480" y="4114800"/>
            <a:ext cx="1417320" cy="100583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Embed Secret</a:t>
            </a:r>
            <a:endParaRPr lang="en-US" altLang="zh-CN" sz="11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Data + Key</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257" name="Rounded rectangle"/>
          <p:cNvSpPr>
            <a:spLocks/>
          </p:cNvSpPr>
          <p:nvPr/>
        </p:nvSpPr>
        <p:spPr>
          <a:xfrm rot="0">
            <a:off x="6035038" y="4114800"/>
            <a:ext cx="2286000" cy="1005839"/>
          </a:xfrm>
          <a:prstGeom prst="roundRect">
            <a:avLst>
              <a:gd name="adj" fmla="val 7273"/>
            </a:avLst>
          </a:prstGeom>
          <a:solidFill>
            <a:srgbClr val="EFF6FF"/>
          </a:solidFill>
          <a:ln w="12700" cmpd="sng" cap="flat">
            <a:noFill/>
            <a:prstDash val="solid"/>
            <a:miter/>
          </a:ln>
          <a:effectLst>
            <a:outerShdw sx="100000" sy="100000" algn="bl" rotWithShape="0" blurRad="101600" dist="38100" dir="5400000">
              <a:srgbClr val="1F2937">
                <a:alpha val="17647"/>
              </a:srgbClr>
            </a:outerShdw>
          </a:effectLst>
        </p:spPr>
      </p:sp>
      <p:sp>
        <p:nvSpPr>
          <p:cNvPr id="258" name="Oval"/>
          <p:cNvSpPr>
            <a:spLocks/>
          </p:cNvSpPr>
          <p:nvPr/>
        </p:nvSpPr>
        <p:spPr>
          <a:xfrm rot="0">
            <a:off x="6199631" y="4389120"/>
            <a:ext cx="457200" cy="457200"/>
          </a:xfrm>
          <a:prstGeom prst="ellipse"/>
          <a:solidFill>
            <a:srgbClr val="2563EB"/>
          </a:solidFill>
          <a:ln w="12700" cmpd="sng" cap="flat">
            <a:noFill/>
            <a:prstDash val="solid"/>
            <a:miter/>
          </a:ln>
        </p:spPr>
      </p:sp>
      <p:pic>
        <p:nvPicPr>
          <p:cNvPr id="259" name="Image" descr="/home/claude/deck/assets/eye_off.png"/>
          <p:cNvPicPr>
            <a:picLocks noChangeAspect="1"/>
          </p:cNvPicPr>
          <p:nvPr/>
        </p:nvPicPr>
        <p:blipFill>
          <a:blip r:embed="rId7" cstate="print"/>
          <a:stretch>
            <a:fillRect/>
          </a:stretch>
        </p:blipFill>
        <p:spPr>
          <a:xfrm rot="0">
            <a:off x="6302502" y="4491990"/>
            <a:ext cx="251458" cy="251459"/>
          </a:xfrm>
          <a:prstGeom prst="rect"/>
          <a:noFill/>
          <a:ln w="12700" cmpd="sng" cap="flat">
            <a:noFill/>
            <a:prstDash val="solid"/>
            <a:miter/>
          </a:ln>
        </p:spPr>
      </p:pic>
      <p:sp>
        <p:nvSpPr>
          <p:cNvPr id="260" name="Rectangle"/>
          <p:cNvSpPr>
            <a:spLocks/>
          </p:cNvSpPr>
          <p:nvPr/>
        </p:nvSpPr>
        <p:spPr>
          <a:xfrm rot="0">
            <a:off x="6766559" y="4114800"/>
            <a:ext cx="1417319" cy="100583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Stego File</a:t>
            </a:r>
            <a:endParaRPr lang="en-US" altLang="zh-CN" sz="11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(looks normal)</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261" name="Rounded rectangle"/>
          <p:cNvSpPr>
            <a:spLocks/>
          </p:cNvSpPr>
          <p:nvPr/>
        </p:nvSpPr>
        <p:spPr>
          <a:xfrm rot="0">
            <a:off x="8961120" y="4114800"/>
            <a:ext cx="2286000" cy="1005839"/>
          </a:xfrm>
          <a:prstGeom prst="roundRect">
            <a:avLst>
              <a:gd name="adj" fmla="val 7273"/>
            </a:avLst>
          </a:prstGeom>
          <a:solidFill>
            <a:srgbClr val="EFF6FF"/>
          </a:solidFill>
          <a:ln w="12700" cmpd="sng" cap="flat">
            <a:noFill/>
            <a:prstDash val="solid"/>
            <a:miter/>
          </a:ln>
          <a:effectLst>
            <a:outerShdw sx="100000" sy="100000" algn="bl" rotWithShape="0" blurRad="101600" dist="38100" dir="5400000">
              <a:srgbClr val="1F2937">
                <a:alpha val="17647"/>
              </a:srgbClr>
            </a:outerShdw>
          </a:effectLst>
        </p:spPr>
      </p:sp>
      <p:sp>
        <p:nvSpPr>
          <p:cNvPr id="262" name="Oval"/>
          <p:cNvSpPr>
            <a:spLocks/>
          </p:cNvSpPr>
          <p:nvPr/>
        </p:nvSpPr>
        <p:spPr>
          <a:xfrm rot="0">
            <a:off x="9125712" y="4389120"/>
            <a:ext cx="457200" cy="457200"/>
          </a:xfrm>
          <a:prstGeom prst="ellipse"/>
          <a:solidFill>
            <a:srgbClr val="2563EB"/>
          </a:solidFill>
          <a:ln w="12700" cmpd="sng" cap="flat">
            <a:noFill/>
            <a:prstDash val="solid"/>
            <a:miter/>
          </a:ln>
        </p:spPr>
      </p:sp>
      <p:pic>
        <p:nvPicPr>
          <p:cNvPr id="263" name="Image" descr="/home/claude/deck/assets/search.png"/>
          <p:cNvPicPr>
            <a:picLocks noChangeAspect="1"/>
          </p:cNvPicPr>
          <p:nvPr/>
        </p:nvPicPr>
        <p:blipFill>
          <a:blip r:embed="rId8" cstate="print"/>
          <a:stretch>
            <a:fillRect/>
          </a:stretch>
        </p:blipFill>
        <p:spPr>
          <a:xfrm rot="0">
            <a:off x="9228582" y="4491990"/>
            <a:ext cx="251458" cy="251459"/>
          </a:xfrm>
          <a:prstGeom prst="rect"/>
          <a:noFill/>
          <a:ln w="12700" cmpd="sng" cap="flat">
            <a:noFill/>
            <a:prstDash val="solid"/>
            <a:miter/>
          </a:ln>
        </p:spPr>
      </p:pic>
      <p:sp>
        <p:nvSpPr>
          <p:cNvPr id="264" name="Rectangle"/>
          <p:cNvSpPr>
            <a:spLocks/>
          </p:cNvSpPr>
          <p:nvPr/>
        </p:nvSpPr>
        <p:spPr>
          <a:xfrm rot="0">
            <a:off x="9692640" y="4114800"/>
            <a:ext cx="1417320" cy="100583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Extract at</a:t>
            </a:r>
            <a:endParaRPr lang="en-US" altLang="zh-CN" sz="11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Destination</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265" name="Image" descr="/home/claude/deck/assets/arrow_right.png"/>
          <p:cNvPicPr>
            <a:picLocks noChangeAspect="1"/>
          </p:cNvPicPr>
          <p:nvPr/>
        </p:nvPicPr>
        <p:blipFill>
          <a:blip r:embed="rId9" cstate="print"/>
          <a:stretch>
            <a:fillRect/>
          </a:stretch>
        </p:blipFill>
        <p:spPr>
          <a:xfrm rot="0">
            <a:off x="2834640" y="4480560"/>
            <a:ext cx="274320" cy="274320"/>
          </a:xfrm>
          <a:prstGeom prst="rect"/>
          <a:noFill/>
          <a:ln w="12700" cmpd="sng" cap="flat">
            <a:noFill/>
            <a:prstDash val="solid"/>
            <a:miter/>
          </a:ln>
        </p:spPr>
      </p:pic>
      <p:pic>
        <p:nvPicPr>
          <p:cNvPr id="266" name="Image" descr="/home/claude/deck/assets/arrow_right.png"/>
          <p:cNvPicPr>
            <a:picLocks noChangeAspect="1"/>
          </p:cNvPicPr>
          <p:nvPr/>
        </p:nvPicPr>
        <p:blipFill>
          <a:blip r:embed="rId10" cstate="print"/>
          <a:stretch>
            <a:fillRect/>
          </a:stretch>
        </p:blipFill>
        <p:spPr>
          <a:xfrm rot="0">
            <a:off x="5577840" y="4480560"/>
            <a:ext cx="274319" cy="274320"/>
          </a:xfrm>
          <a:prstGeom prst="rect"/>
          <a:noFill/>
          <a:ln w="12700" cmpd="sng" cap="flat">
            <a:noFill/>
            <a:prstDash val="solid"/>
            <a:miter/>
          </a:ln>
        </p:spPr>
      </p:pic>
      <p:pic>
        <p:nvPicPr>
          <p:cNvPr id="267" name="Image" descr="/home/claude/deck/assets/arrow_right.png"/>
          <p:cNvPicPr>
            <a:picLocks noChangeAspect="1"/>
          </p:cNvPicPr>
          <p:nvPr/>
        </p:nvPicPr>
        <p:blipFill>
          <a:blip r:embed="rId11" cstate="print"/>
          <a:stretch>
            <a:fillRect/>
          </a:stretch>
        </p:blipFill>
        <p:spPr>
          <a:xfrm rot="0">
            <a:off x="8503920" y="4480560"/>
            <a:ext cx="274319" cy="274320"/>
          </a:xfrm>
          <a:prstGeom prst="rect"/>
          <a:noFill/>
          <a:ln w="12700" cmpd="sng" cap="flat">
            <a:noFill/>
            <a:prstDash val="solid"/>
            <a:miter/>
          </a:ln>
        </p:spPr>
      </p:pic>
      <p:sp>
        <p:nvSpPr>
          <p:cNvPr id="268"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269"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9</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08652047"/>
      </p:ext>
    </p:extLst>
  </p:cSld>
  <p:clrMapOvr>
    <a:masterClrMapping/>
  </p:clrMapOvr>
  <p:transition spd="med">
    <p:fade/>
  </p:transition>
</p:sld>
</file>

<file path=ppt/slides/slide10.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74"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2 · COMPARISON</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5"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Cryptography vs Steganography</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graphicFrame>
        <p:nvGraphicFramePr>
          <p:cNvPr id="276" name="Sheet"/>
          <p:cNvGraphicFramePr>
            <a:graphicFrameLocks noGrp="1"/>
          </p:cNvGraphicFramePr>
          <p:nvPr>
            <p:extLst>
              <p:ext uri="{D42A27DB-BD31-4B8C-83A1-F6EECF244321}"/>
            </p:extLst>
          </p:nvPr>
        </p:nvGraphicFramePr>
        <p:xfrm>
          <a:off x="548640" y="1417320"/>
          <a:ext cx="11064240" cy="4937760"/>
        </p:xfrm>
        <a:graphic>
          <a:graphicData uri="http://schemas.openxmlformats.org/drawingml/2006/table">
            <a:tbl>
              <a:tblPr bandRow="1">
                <a:noFill/>
              </a:tblPr>
              <a:tblGrid>
                <a:gridCol w="2103094"/>
                <a:gridCol w="4480535"/>
                <a:gridCol w="4480535"/>
              </a:tblGrid>
              <a:tr h="617191">
                <a:tc>
                  <a:txBody>
                    <a:bodyPr/>
                    <a:lstStyle/>
                    <a:p>
                      <a:pPr marL="0" indent="0" algn="l" eaLnBrk="1" latinLnBrk="0" hangingPunct="1">
                        <a:lnSpc>
                          <a:spcPct val="100000"/>
                        </a:lnSpc>
                        <a:spcBef>
                          <a:spcPts val="0"/>
                        </a:spcBef>
                        <a:spcAft>
                          <a:spcPts val="0"/>
                        </a:spcAft>
                        <a:buNone/>
                      </a:pPr>
                      <a:r>
                        <a:rPr lang="en-US" altLang="zh-CN" sz="1250" b="1" i="0" u="none" strike="noStrike" kern="1200" cap="none" spc="0" baseline="0">
                          <a:solidFill>
                            <a:srgbClr val="FFFFFF"/>
                          </a:solidFill>
                          <a:latin typeface="Calibri" pitchFamily="0" charset="0"/>
                          <a:ea typeface="Calibri" pitchFamily="0" charset="0"/>
                          <a:cs typeface="Calibri" pitchFamily="0" charset="0"/>
                        </a:rPr>
                        <a:t>Parameter</a:t>
                      </a:r>
                      <a:endParaRPr lang="zh-CN" altLang="en-US" sz="125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2563EB"/>
                    </a:solidFill>
                  </a:tcPr>
                </a:tc>
                <a:tc>
                  <a:txBody>
                    <a:bodyPr/>
                    <a:lstStyle/>
                    <a:p>
                      <a:pPr marL="0" indent="0" algn="l" eaLnBrk="1" latinLnBrk="0" hangingPunct="1">
                        <a:lnSpc>
                          <a:spcPct val="100000"/>
                        </a:lnSpc>
                        <a:spcBef>
                          <a:spcPts val="0"/>
                        </a:spcBef>
                        <a:spcAft>
                          <a:spcPts val="0"/>
                        </a:spcAft>
                        <a:buNone/>
                      </a:pPr>
                      <a:r>
                        <a:rPr lang="en-US" altLang="zh-CN" sz="1250" b="1" i="0" u="none" strike="noStrike" kern="1200" cap="none" spc="0" baseline="0">
                          <a:solidFill>
                            <a:srgbClr val="FFFFFF"/>
                          </a:solidFill>
                          <a:latin typeface="Calibri" pitchFamily="0" charset="0"/>
                          <a:ea typeface="Calibri" pitchFamily="0" charset="0"/>
                          <a:cs typeface="Calibri" pitchFamily="0" charset="0"/>
                        </a:rPr>
                        <a:t>Cryptography</a:t>
                      </a:r>
                      <a:endParaRPr lang="zh-CN" altLang="en-US" sz="125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2563EB"/>
                    </a:solidFill>
                  </a:tcPr>
                </a:tc>
                <a:tc>
                  <a:txBody>
                    <a:bodyPr/>
                    <a:lstStyle/>
                    <a:p>
                      <a:pPr marL="0" indent="0" algn="l" eaLnBrk="1" latinLnBrk="0" hangingPunct="1">
                        <a:lnSpc>
                          <a:spcPct val="100000"/>
                        </a:lnSpc>
                        <a:spcBef>
                          <a:spcPts val="0"/>
                        </a:spcBef>
                        <a:spcAft>
                          <a:spcPts val="0"/>
                        </a:spcAft>
                        <a:buNone/>
                      </a:pPr>
                      <a:r>
                        <a:rPr lang="en-US" altLang="zh-CN" sz="1250" b="1" i="0" u="none" strike="noStrike" kern="1200" cap="none" spc="0" baseline="0">
                          <a:solidFill>
                            <a:srgbClr val="FFFFFF"/>
                          </a:solidFill>
                          <a:latin typeface="Calibri" pitchFamily="0" charset="0"/>
                          <a:ea typeface="Calibri" pitchFamily="0" charset="0"/>
                          <a:cs typeface="Calibri" pitchFamily="0" charset="0"/>
                        </a:rPr>
                        <a:t>Steganography</a:t>
                      </a:r>
                      <a:endParaRPr lang="zh-CN" altLang="en-US" sz="125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2563EB"/>
                    </a:solidFill>
                  </a:tcPr>
                </a:tc>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Purpose</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Make data unreadable to unauthorized users</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Hide the existence of data itself</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Visibility</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Ciphertext is visible, but unreadable</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Hidden data is invisible within a cover file</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Security Basis</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Relies on mathematical key strength</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Relies on secrecy of the hiding method</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Speed</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Can be slower with complex algorithms (esp. asymmetric)</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Generally faster; no heavy computation</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Applications</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Banking, HTTPS, VPN, digital signatures</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Covert communication, watermarking, forensics</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Advantages</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Strong mathematical security, widely standardized</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Message existence itself stays concealed</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pitchFamily="0" charset="0"/>
                          <a:ea typeface="Calibri" pitchFamily="0" charset="0"/>
                          <a:cs typeface="Calibri" pitchFamily="0" charset="0"/>
                        </a:rPr>
                        <a:t>Disadvantages</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Encrypted data draws attention/suspicion</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pitchFamily="0" charset="0"/>
                          <a:ea typeface="Calibri" pitchFamily="0" charset="0"/>
                          <a:cs typeface="Calibri" pitchFamily="0" charset="0"/>
                        </a:rPr>
                        <a:t>Weak once hiding method is discovered</a:t>
                      </a:r>
                      <a:endParaRPr lang="zh-CN" altLang="en-US" sz="1100" b="0" i="0" u="none" strike="noStrike" kern="1200" cap="none" spc="0" baseline="0">
                        <a:solidFill>
                          <a:schemeClr val="tx1"/>
                        </a:solidFill>
                        <a:latin typeface="Calibri" pitchFamily="0" charset="0"/>
                        <a:ea typeface="Calibri" pitchFamily="0" charset="0"/>
                        <a:cs typeface="Calibri" pitchFamily="0" charset="0"/>
                      </a:endParaRPr>
                    </a:p>
                  </a:txBody>
                  <a:tcPr marL="91440" marT="45720" marR="91440" marB="45720" vert="horz"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r>
            </a:tbl>
          </a:graphicData>
        </a:graphic>
      </p:graphicFrame>
      <p:sp>
        <p:nvSpPr>
          <p:cNvPr id="277"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8"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10</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942187022"/>
      </p:ext>
    </p:extLst>
  </p:cSld>
  <p:clrMapOvr>
    <a:masterClrMapping/>
  </p:clrMapOvr>
  <p:transition spd="med">
    <p:fade/>
  </p:transition>
</p:sld>
</file>

<file path=ppt/slides/slide11.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83"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TOPIC 2 · APPLICATIONS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4"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Applications and Future Scope</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5" name="Rounded rectangle"/>
          <p:cNvSpPr>
            <a:spLocks/>
          </p:cNvSpPr>
          <p:nvPr/>
        </p:nvSpPr>
        <p:spPr>
          <a:xfrm rot="0">
            <a:off x="548640" y="1463040"/>
            <a:ext cx="3566160" cy="2148840"/>
          </a:xfrm>
          <a:prstGeom prst="roundRect">
            <a:avLst>
              <a:gd name="adj" fmla="val 340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286" name="Oval"/>
          <p:cNvSpPr>
            <a:spLocks/>
          </p:cNvSpPr>
          <p:nvPr/>
        </p:nvSpPr>
        <p:spPr>
          <a:xfrm rot="0">
            <a:off x="804672" y="1719072"/>
            <a:ext cx="548640" cy="548640"/>
          </a:xfrm>
          <a:prstGeom prst="ellipse"/>
          <a:solidFill>
            <a:srgbClr val="2563EB"/>
          </a:solidFill>
          <a:ln w="12700" cmpd="sng" cap="flat">
            <a:noFill/>
            <a:prstDash val="solid"/>
            <a:miter/>
          </a:ln>
        </p:spPr>
      </p:sp>
      <p:pic>
        <p:nvPicPr>
          <p:cNvPr id="287" name="Image" descr="/home/claude/deck/assets/bank.png"/>
          <p:cNvPicPr>
            <a:picLocks noChangeAspect="1"/>
          </p:cNvPicPr>
          <p:nvPr/>
        </p:nvPicPr>
        <p:blipFill>
          <a:blip r:embed="rId1" cstate="print"/>
          <a:stretch>
            <a:fillRect/>
          </a:stretch>
        </p:blipFill>
        <p:spPr>
          <a:xfrm rot="0">
            <a:off x="928116" y="1842516"/>
            <a:ext cx="301750" cy="301750"/>
          </a:xfrm>
          <a:prstGeom prst="rect"/>
          <a:noFill/>
          <a:ln w="12700" cmpd="sng" cap="flat">
            <a:noFill/>
            <a:prstDash val="solid"/>
            <a:miter/>
          </a:ln>
        </p:spPr>
      </p:pic>
      <p:sp>
        <p:nvSpPr>
          <p:cNvPr id="288" name="Rectangle"/>
          <p:cNvSpPr>
            <a:spLocks/>
          </p:cNvSpPr>
          <p:nvPr/>
        </p:nvSpPr>
        <p:spPr>
          <a:xfrm rot="0">
            <a:off x="1508758" y="1737360"/>
            <a:ext cx="2468880" cy="502918"/>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Banking</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9" name="Rectangle"/>
          <p:cNvSpPr>
            <a:spLocks/>
          </p:cNvSpPr>
          <p:nvPr/>
        </p:nvSpPr>
        <p:spPr>
          <a:xfrm rot="0">
            <a:off x="804672" y="2377440"/>
            <a:ext cx="3054095" cy="109727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Secure transactions, encrypted card data</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290" name="Rounded rectangle"/>
          <p:cNvSpPr>
            <a:spLocks/>
          </p:cNvSpPr>
          <p:nvPr/>
        </p:nvSpPr>
        <p:spPr>
          <a:xfrm rot="0">
            <a:off x="4297680" y="1463040"/>
            <a:ext cx="3566158" cy="2148840"/>
          </a:xfrm>
          <a:prstGeom prst="roundRect">
            <a:avLst>
              <a:gd name="adj" fmla="val 340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291" name="Oval"/>
          <p:cNvSpPr>
            <a:spLocks/>
          </p:cNvSpPr>
          <p:nvPr/>
        </p:nvSpPr>
        <p:spPr>
          <a:xfrm rot="0">
            <a:off x="4553712" y="1719072"/>
            <a:ext cx="548640" cy="548640"/>
          </a:xfrm>
          <a:prstGeom prst="ellipse"/>
          <a:solidFill>
            <a:srgbClr val="2563EB"/>
          </a:solidFill>
          <a:ln w="12700" cmpd="sng" cap="flat">
            <a:noFill/>
            <a:prstDash val="solid"/>
            <a:miter/>
          </a:ln>
        </p:spPr>
      </p:sp>
      <p:pic>
        <p:nvPicPr>
          <p:cNvPr id="292" name="Image" descr="/home/claude/deck/assets/heart.png"/>
          <p:cNvPicPr>
            <a:picLocks noChangeAspect="1"/>
          </p:cNvPicPr>
          <p:nvPr/>
        </p:nvPicPr>
        <p:blipFill>
          <a:blip r:embed="rId2" cstate="print"/>
          <a:stretch>
            <a:fillRect/>
          </a:stretch>
        </p:blipFill>
        <p:spPr>
          <a:xfrm rot="0">
            <a:off x="4677156" y="1842516"/>
            <a:ext cx="301750" cy="301750"/>
          </a:xfrm>
          <a:prstGeom prst="rect"/>
          <a:noFill/>
          <a:ln w="12700" cmpd="sng" cap="flat">
            <a:noFill/>
            <a:prstDash val="solid"/>
            <a:miter/>
          </a:ln>
        </p:spPr>
      </p:pic>
      <p:sp>
        <p:nvSpPr>
          <p:cNvPr id="293" name="Rectangle"/>
          <p:cNvSpPr>
            <a:spLocks/>
          </p:cNvSpPr>
          <p:nvPr/>
        </p:nvSpPr>
        <p:spPr>
          <a:xfrm rot="0">
            <a:off x="5257800" y="1737360"/>
            <a:ext cx="2468880" cy="502918"/>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Healthcare</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4" name="Rectangle"/>
          <p:cNvSpPr>
            <a:spLocks/>
          </p:cNvSpPr>
          <p:nvPr/>
        </p:nvSpPr>
        <p:spPr>
          <a:xfrm rot="0">
            <a:off x="4553712" y="2377440"/>
            <a:ext cx="3054096" cy="109727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Protecting patient records (HIPAA compliance)</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295" name="Rounded rectangle"/>
          <p:cNvSpPr>
            <a:spLocks/>
          </p:cNvSpPr>
          <p:nvPr/>
        </p:nvSpPr>
        <p:spPr>
          <a:xfrm rot="0">
            <a:off x="8046719" y="1463040"/>
            <a:ext cx="3566160" cy="2148840"/>
          </a:xfrm>
          <a:prstGeom prst="roundRect">
            <a:avLst>
              <a:gd name="adj" fmla="val 340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296" name="Oval"/>
          <p:cNvSpPr>
            <a:spLocks/>
          </p:cNvSpPr>
          <p:nvPr/>
        </p:nvSpPr>
        <p:spPr>
          <a:xfrm rot="0">
            <a:off x="8302752" y="1719072"/>
            <a:ext cx="548640" cy="548640"/>
          </a:xfrm>
          <a:prstGeom prst="ellipse"/>
          <a:solidFill>
            <a:srgbClr val="2563EB"/>
          </a:solidFill>
          <a:ln w="12700" cmpd="sng" cap="flat">
            <a:noFill/>
            <a:prstDash val="solid"/>
            <a:miter/>
          </a:ln>
        </p:spPr>
      </p:sp>
      <p:pic>
        <p:nvPicPr>
          <p:cNvPr id="297" name="Image" descr="/home/claude/deck/assets/military.png"/>
          <p:cNvPicPr>
            <a:picLocks noChangeAspect="1"/>
          </p:cNvPicPr>
          <p:nvPr/>
        </p:nvPicPr>
        <p:blipFill>
          <a:blip r:embed="rId3" cstate="print"/>
          <a:stretch>
            <a:fillRect/>
          </a:stretch>
        </p:blipFill>
        <p:spPr>
          <a:xfrm rot="0">
            <a:off x="8426196" y="1842516"/>
            <a:ext cx="301750" cy="301750"/>
          </a:xfrm>
          <a:prstGeom prst="rect"/>
          <a:noFill/>
          <a:ln w="12700" cmpd="sng" cap="flat">
            <a:noFill/>
            <a:prstDash val="solid"/>
            <a:miter/>
          </a:ln>
        </p:spPr>
      </p:pic>
      <p:sp>
        <p:nvSpPr>
          <p:cNvPr id="298" name="Rectangle"/>
          <p:cNvSpPr>
            <a:spLocks/>
          </p:cNvSpPr>
          <p:nvPr/>
        </p:nvSpPr>
        <p:spPr>
          <a:xfrm rot="0">
            <a:off x="9006840" y="1737360"/>
            <a:ext cx="2468880" cy="502918"/>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Military</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9" name="Rectangle"/>
          <p:cNvSpPr>
            <a:spLocks/>
          </p:cNvSpPr>
          <p:nvPr/>
        </p:nvSpPr>
        <p:spPr>
          <a:xfrm rot="0">
            <a:off x="8302752" y="2377440"/>
            <a:ext cx="3054095" cy="109727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Classified communication &amp; covert messaging</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300" name="Rounded rectangle"/>
          <p:cNvSpPr>
            <a:spLocks/>
          </p:cNvSpPr>
          <p:nvPr/>
        </p:nvSpPr>
        <p:spPr>
          <a:xfrm rot="0">
            <a:off x="548640" y="3794760"/>
            <a:ext cx="3566160" cy="2148840"/>
          </a:xfrm>
          <a:prstGeom prst="roundRect">
            <a:avLst>
              <a:gd name="adj" fmla="val 340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301" name="Oval"/>
          <p:cNvSpPr>
            <a:spLocks/>
          </p:cNvSpPr>
          <p:nvPr/>
        </p:nvSpPr>
        <p:spPr>
          <a:xfrm rot="0">
            <a:off x="804672" y="4050792"/>
            <a:ext cx="548640" cy="548640"/>
          </a:xfrm>
          <a:prstGeom prst="ellipse"/>
          <a:solidFill>
            <a:srgbClr val="2563EB"/>
          </a:solidFill>
          <a:ln w="12700" cmpd="sng" cap="flat">
            <a:noFill/>
            <a:prstDash val="solid"/>
            <a:miter/>
          </a:ln>
        </p:spPr>
      </p:sp>
      <p:pic>
        <p:nvPicPr>
          <p:cNvPr id="302" name="Image" descr="/home/claude/deck/assets/cloud.png"/>
          <p:cNvPicPr>
            <a:picLocks noChangeAspect="1"/>
          </p:cNvPicPr>
          <p:nvPr/>
        </p:nvPicPr>
        <p:blipFill>
          <a:blip r:embed="rId4" cstate="print"/>
          <a:stretch>
            <a:fillRect/>
          </a:stretch>
        </p:blipFill>
        <p:spPr>
          <a:xfrm rot="0">
            <a:off x="928116" y="4174236"/>
            <a:ext cx="301750" cy="301751"/>
          </a:xfrm>
          <a:prstGeom prst="rect"/>
          <a:noFill/>
          <a:ln w="12700" cmpd="sng" cap="flat">
            <a:noFill/>
            <a:prstDash val="solid"/>
            <a:miter/>
          </a:ln>
        </p:spPr>
      </p:pic>
      <p:sp>
        <p:nvSpPr>
          <p:cNvPr id="303" name="Rectangle"/>
          <p:cNvSpPr>
            <a:spLocks/>
          </p:cNvSpPr>
          <p:nvPr/>
        </p:nvSpPr>
        <p:spPr>
          <a:xfrm rot="0">
            <a:off x="1508758" y="4069080"/>
            <a:ext cx="2468880" cy="5029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Cloud Security</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304" name="Rectangle"/>
          <p:cNvSpPr>
            <a:spLocks/>
          </p:cNvSpPr>
          <p:nvPr/>
        </p:nvSpPr>
        <p:spPr>
          <a:xfrm rot="0">
            <a:off x="804672" y="4709160"/>
            <a:ext cx="3054095" cy="109727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Encrypting data at rest and in transit</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305" name="Rounded rectangle"/>
          <p:cNvSpPr>
            <a:spLocks/>
          </p:cNvSpPr>
          <p:nvPr/>
        </p:nvSpPr>
        <p:spPr>
          <a:xfrm rot="0">
            <a:off x="4297680" y="3794760"/>
            <a:ext cx="3566158" cy="2148840"/>
          </a:xfrm>
          <a:prstGeom prst="roundRect">
            <a:avLst>
              <a:gd name="adj" fmla="val 340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306" name="Oval"/>
          <p:cNvSpPr>
            <a:spLocks/>
          </p:cNvSpPr>
          <p:nvPr/>
        </p:nvSpPr>
        <p:spPr>
          <a:xfrm rot="0">
            <a:off x="4553712" y="4050792"/>
            <a:ext cx="548640" cy="548640"/>
          </a:xfrm>
          <a:prstGeom prst="ellipse"/>
          <a:solidFill>
            <a:srgbClr val="2563EB"/>
          </a:solidFill>
          <a:ln w="12700" cmpd="sng" cap="flat">
            <a:noFill/>
            <a:prstDash val="solid"/>
            <a:miter/>
          </a:ln>
        </p:spPr>
      </p:sp>
      <p:pic>
        <p:nvPicPr>
          <p:cNvPr id="307" name="Image" descr="/home/claude/deck/assets/search.png"/>
          <p:cNvPicPr>
            <a:picLocks noChangeAspect="1"/>
          </p:cNvPicPr>
          <p:nvPr/>
        </p:nvPicPr>
        <p:blipFill>
          <a:blip r:embed="rId5" cstate="print"/>
          <a:stretch>
            <a:fillRect/>
          </a:stretch>
        </p:blipFill>
        <p:spPr>
          <a:xfrm rot="0">
            <a:off x="4677156" y="4174236"/>
            <a:ext cx="301750" cy="301751"/>
          </a:xfrm>
          <a:prstGeom prst="rect"/>
          <a:noFill/>
          <a:ln w="12700" cmpd="sng" cap="flat">
            <a:noFill/>
            <a:prstDash val="solid"/>
            <a:miter/>
          </a:ln>
        </p:spPr>
      </p:pic>
      <p:sp>
        <p:nvSpPr>
          <p:cNvPr id="308" name="Rectangle"/>
          <p:cNvSpPr>
            <a:spLocks/>
          </p:cNvSpPr>
          <p:nvPr/>
        </p:nvSpPr>
        <p:spPr>
          <a:xfrm rot="0">
            <a:off x="5257800" y="4069080"/>
            <a:ext cx="2468880" cy="5029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Digital Forensics</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309" name="Rectangle"/>
          <p:cNvSpPr>
            <a:spLocks/>
          </p:cNvSpPr>
          <p:nvPr/>
        </p:nvSpPr>
        <p:spPr>
          <a:xfrm rot="0">
            <a:off x="4553712" y="4709160"/>
            <a:ext cx="3054096" cy="109727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Detecting hidden/stego data in investigations</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310" name="Rounded rectangle"/>
          <p:cNvSpPr>
            <a:spLocks/>
          </p:cNvSpPr>
          <p:nvPr/>
        </p:nvSpPr>
        <p:spPr>
          <a:xfrm rot="0">
            <a:off x="8046719" y="3794760"/>
            <a:ext cx="3566160" cy="2148840"/>
          </a:xfrm>
          <a:prstGeom prst="roundRect">
            <a:avLst>
              <a:gd name="adj" fmla="val 3402"/>
            </a:avLst>
          </a:prstGeom>
          <a:solidFill>
            <a:srgbClr val="F3F4F6"/>
          </a:solidFill>
          <a:ln w="12700" cmpd="sng" cap="flat">
            <a:noFill/>
            <a:prstDash val="solid"/>
            <a:miter/>
          </a:ln>
          <a:effectLst>
            <a:outerShdw sx="100000" sy="100000" algn="bl" rotWithShape="0" blurRad="101600" dist="38100" dir="5400000">
              <a:srgbClr val="1F2937">
                <a:alpha val="17647"/>
              </a:srgbClr>
            </a:outerShdw>
          </a:effectLst>
        </p:spPr>
      </p:sp>
      <p:sp>
        <p:nvSpPr>
          <p:cNvPr id="311" name="Oval"/>
          <p:cNvSpPr>
            <a:spLocks/>
          </p:cNvSpPr>
          <p:nvPr/>
        </p:nvSpPr>
        <p:spPr>
          <a:xfrm rot="0">
            <a:off x="8302752" y="4050792"/>
            <a:ext cx="548640" cy="548640"/>
          </a:xfrm>
          <a:prstGeom prst="ellipse"/>
          <a:solidFill>
            <a:srgbClr val="2563EB"/>
          </a:solidFill>
          <a:ln w="12700" cmpd="sng" cap="flat">
            <a:noFill/>
            <a:prstDash val="solid"/>
            <a:miter/>
          </a:ln>
        </p:spPr>
      </p:sp>
      <p:pic>
        <p:nvPicPr>
          <p:cNvPr id="312" name="Image" descr="/home/claude/deck/assets/ai_brain.png"/>
          <p:cNvPicPr>
            <a:picLocks noChangeAspect="1"/>
          </p:cNvPicPr>
          <p:nvPr/>
        </p:nvPicPr>
        <p:blipFill>
          <a:blip r:embed="rId6" cstate="print"/>
          <a:stretch>
            <a:fillRect/>
          </a:stretch>
        </p:blipFill>
        <p:spPr>
          <a:xfrm rot="0">
            <a:off x="8426196" y="4174236"/>
            <a:ext cx="301750" cy="301751"/>
          </a:xfrm>
          <a:prstGeom prst="rect"/>
          <a:noFill/>
          <a:ln w="12700" cmpd="sng" cap="flat">
            <a:noFill/>
            <a:prstDash val="solid"/>
            <a:miter/>
          </a:ln>
        </p:spPr>
      </p:pic>
      <p:sp>
        <p:nvSpPr>
          <p:cNvPr id="313" name="Rectangle"/>
          <p:cNvSpPr>
            <a:spLocks/>
          </p:cNvSpPr>
          <p:nvPr/>
        </p:nvSpPr>
        <p:spPr>
          <a:xfrm rot="0">
            <a:off x="9006840" y="4069080"/>
            <a:ext cx="2468880" cy="5029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AI-Powered Security</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314" name="Rectangle"/>
          <p:cNvSpPr>
            <a:spLocks/>
          </p:cNvSpPr>
          <p:nvPr/>
        </p:nvSpPr>
        <p:spPr>
          <a:xfrm rot="0">
            <a:off x="8302752" y="4709160"/>
            <a:ext cx="3054095" cy="1097279"/>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pitchFamily="0" charset="0"/>
                <a:ea typeface="Calibri" pitchFamily="0" charset="0"/>
                <a:cs typeface="Calibri" pitchFamily="0" charset="0"/>
              </a:rPr>
              <a:t>ML-based anomaly &amp; threat detection</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315"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16"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11</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23817118"/>
      </p:ext>
    </p:extLst>
  </p:cSld>
  <p:clrMapOvr>
    <a:masterClrMapping/>
  </p:clrMapOvr>
  <p:transition spd="med">
    <p:fade/>
  </p:transition>
</p:sld>
</file>

<file path=ppt/slides/slide12.xml><?xml version="1.0" encoding="utf-8"?>
<p:sld xmlns:p="http://schemas.openxmlformats.org/presentationml/2006/main" xmlns:r="http://schemas.openxmlformats.org/officeDocument/2006/relationships"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id="321"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60A5FA"/>
                </a:solidFill>
                <a:latin typeface="Calibri" pitchFamily="0" charset="0"/>
                <a:ea typeface="Calibri" pitchFamily="0" charset="0"/>
                <a:cs typeface="Calibri" pitchFamily="0" charset="0"/>
              </a:rPr>
              <a:t>SUMMARY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22"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FFFFFF"/>
                </a:solidFill>
                <a:latin typeface="Cambria" pitchFamily="34" charset="0"/>
                <a:ea typeface="Cambria" pitchFamily="34" charset="0"/>
                <a:cs typeface="Cambria" pitchFamily="34" charset="0"/>
              </a:rPr>
              <a:t>Key Takeaways</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23" name="Rectangle"/>
          <p:cNvSpPr>
            <a:spLocks/>
          </p:cNvSpPr>
          <p:nvPr/>
        </p:nvSpPr>
        <p:spPr>
          <a:xfrm rot="0">
            <a:off x="640080" y="1554480"/>
            <a:ext cx="10881359"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pitchFamily="0" charset="0"/>
                <a:ea typeface="Calibri" pitchFamily="0" charset="0"/>
                <a:cs typeface="Calibri" pitchFamily="0" charset="0"/>
              </a:rPr>
              <a:t>Security attacks are passive (eavesdropping) or active (modifying/disrupting data).</a:t>
            </a:r>
            <a:endParaRPr lang="en-US" altLang="zh-CN" sz="16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pitchFamily="0" charset="0"/>
                <a:ea typeface="Calibri" pitchFamily="0" charset="0"/>
                <a:cs typeface="Calibri" pitchFamily="0" charset="0"/>
              </a:rPr>
              <a:t>The CIA Triad — Confidentiality, Integrity, Availability — plus Authentication and Non-Repudiation form the core security goals.</a:t>
            </a:r>
            <a:endParaRPr lang="en-US" altLang="zh-CN" sz="16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pitchFamily="0" charset="0"/>
                <a:ea typeface="Calibri" pitchFamily="0" charset="0"/>
                <a:cs typeface="Calibri" pitchFamily="0" charset="0"/>
              </a:rPr>
              <a:t>Prevention combines encryption, firewalls, IDS/IPS, and multi-factor authentication.</a:t>
            </a:r>
            <a:endParaRPr lang="en-US" altLang="zh-CN" sz="16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pitchFamily="0" charset="0"/>
                <a:ea typeface="Calibri" pitchFamily="0" charset="0"/>
                <a:cs typeface="Calibri" pitchFamily="0" charset="0"/>
              </a:rPr>
              <a:t>Cryptography scrambles data; steganography hides its existence — both serve complementary security roles.</a:t>
            </a:r>
            <a:endParaRPr lang="en-US" altLang="zh-CN" sz="16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pitchFamily="0" charset="0"/>
                <a:ea typeface="Calibri" pitchFamily="0" charset="0"/>
                <a:cs typeface="Calibri" pitchFamily="0" charset="0"/>
              </a:rPr>
              <a:t>Symmetric and asymmetric encryption each solve different real-world trade-offs of speed vs. key distribution.</a:t>
            </a:r>
            <a:endParaRPr lang="en-US" altLang="zh-CN" sz="16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pitchFamily="0" charset="0"/>
                <a:ea typeface="Calibri" pitchFamily="0" charset="0"/>
                <a:cs typeface="Calibri" pitchFamily="0" charset="0"/>
              </a:rPr>
              <a:t>Combining cryptography with steganography provides layered, real-world-ready digital protection.</a:t>
            </a:r>
            <a:endParaRPr lang="zh-CN" altLang="en-US" sz="1650" b="0" i="0" u="none" strike="noStrike" kern="1200" cap="none" spc="0" baseline="0">
              <a:solidFill>
                <a:schemeClr val="tx1"/>
              </a:solidFill>
              <a:latin typeface="Calibri" pitchFamily="0" charset="0"/>
              <a:ea typeface="等线" pitchFamily="0" charset="0"/>
              <a:cs typeface="Calibri" pitchFamily="0" charset="0"/>
            </a:endParaRPr>
          </a:p>
        </p:txBody>
      </p:sp>
      <p:sp>
        <p:nvSpPr>
          <p:cNvPr id="324"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8FA3C4"/>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25"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8FA3C4"/>
                </a:solidFill>
                <a:latin typeface="Calibri" pitchFamily="0" charset="0"/>
                <a:ea typeface="Calibri" pitchFamily="0" charset="0"/>
                <a:cs typeface="Calibri" pitchFamily="0" charset="0"/>
              </a:rPr>
              <a:t>12</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690709325"/>
      </p:ext>
    </p:extLst>
  </p:cSld>
  <p:clrMapOvr>
    <a:masterClrMapping/>
  </p:clrMapOvr>
  <p:transition spd="med">
    <p:fade/>
  </p:transition>
</p:sld>
</file>

<file path=ppt/slides/slide1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330"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SUMMARY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1"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Conclusion</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2" name="Rectangle"/>
          <p:cNvSpPr>
            <a:spLocks/>
          </p:cNvSpPr>
          <p:nvPr/>
        </p:nvSpPr>
        <p:spPr>
          <a:xfrm rot="0">
            <a:off x="640080" y="1554480"/>
            <a:ext cx="6675120" cy="5029200"/>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Modern digital systems face constant, evolving security attacks and risks.</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Understanding CIA Triad goals guides effective defense design.</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Cryptography and Steganography offer two distinct, complementary approaches to protecting information.</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Real-world case studies (e.g., WannaCry) prove prevention techniques are non-negotiable.</a:t>
            </a:r>
            <a:endParaRPr lang="en-US" altLang="zh-CN" sz="155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pitchFamily="0" charset="0"/>
                <a:ea typeface="Calibri" pitchFamily="0" charset="0"/>
                <a:cs typeface="Calibri" pitchFamily="0" charset="0"/>
              </a:rPr>
              <a:t>Future security will increasingly integrate AI-driven detection with classical cryptographic foundations.</a:t>
            </a:r>
            <a:endParaRPr lang="zh-CN" altLang="en-US" sz="1550" b="0" i="0" u="none" strike="noStrike" kern="1200" cap="none" spc="0" baseline="0">
              <a:solidFill>
                <a:schemeClr val="tx1"/>
              </a:solidFill>
              <a:latin typeface="Calibri" pitchFamily="0" charset="0"/>
              <a:ea typeface="等线" pitchFamily="0" charset="0"/>
              <a:cs typeface="Calibri" pitchFamily="0" charset="0"/>
            </a:endParaRPr>
          </a:p>
        </p:txBody>
      </p:sp>
      <p:sp>
        <p:nvSpPr>
          <p:cNvPr id="333" name="Oval"/>
          <p:cNvSpPr>
            <a:spLocks/>
          </p:cNvSpPr>
          <p:nvPr/>
        </p:nvSpPr>
        <p:spPr>
          <a:xfrm rot="0">
            <a:off x="8229600" y="2103120"/>
            <a:ext cx="2926078" cy="2926080"/>
          </a:xfrm>
          <a:prstGeom prst="ellipse"/>
          <a:solidFill>
            <a:srgbClr val="E8F0FE"/>
          </a:solidFill>
          <a:ln w="12700" cmpd="sng" cap="flat">
            <a:noFill/>
            <a:prstDash val="solid"/>
            <a:miter/>
          </a:ln>
        </p:spPr>
      </p:sp>
      <p:sp>
        <p:nvSpPr>
          <p:cNvPr id="334" name="Oval"/>
          <p:cNvSpPr>
            <a:spLocks/>
          </p:cNvSpPr>
          <p:nvPr/>
        </p:nvSpPr>
        <p:spPr>
          <a:xfrm rot="0">
            <a:off x="9006840" y="2880360"/>
            <a:ext cx="1371600" cy="1371600"/>
          </a:xfrm>
          <a:prstGeom prst="ellipse"/>
          <a:solidFill>
            <a:srgbClr val="2563EB"/>
          </a:solidFill>
          <a:ln w="12700" cmpd="sng" cap="flat">
            <a:noFill/>
            <a:prstDash val="solid"/>
            <a:miter/>
          </a:ln>
        </p:spPr>
      </p:sp>
      <p:pic>
        <p:nvPicPr>
          <p:cNvPr id="335" name="Image" descr="/home/claude/deck/assets/shield_check.png"/>
          <p:cNvPicPr>
            <a:picLocks noChangeAspect="1"/>
          </p:cNvPicPr>
          <p:nvPr/>
        </p:nvPicPr>
        <p:blipFill>
          <a:blip r:embed="rId1" cstate="print"/>
          <a:stretch>
            <a:fillRect/>
          </a:stretch>
        </p:blipFill>
        <p:spPr>
          <a:xfrm rot="0">
            <a:off x="9315450" y="3188970"/>
            <a:ext cx="754378" cy="754379"/>
          </a:xfrm>
          <a:prstGeom prst="rect"/>
          <a:noFill/>
          <a:ln w="12700" cmpd="sng" cap="flat">
            <a:noFill/>
            <a:prstDash val="solid"/>
            <a:miter/>
          </a:ln>
        </p:spPr>
      </p:pic>
      <p:sp>
        <p:nvSpPr>
          <p:cNvPr id="336" name="Rectangle"/>
          <p:cNvSpPr>
            <a:spLocks/>
          </p:cNvSpPr>
          <p:nvPr/>
        </p:nvSpPr>
        <p:spPr>
          <a:xfrm rot="0">
            <a:off x="7955280" y="4480560"/>
            <a:ext cx="3474720" cy="822958"/>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250" b="1" i="1" u="none" strike="noStrike" kern="1200" cap="none" spc="0" baseline="0">
                <a:solidFill>
                  <a:srgbClr val="1F2937"/>
                </a:solidFill>
                <a:latin typeface="Calibri" pitchFamily="0" charset="0"/>
                <a:ea typeface="Calibri" pitchFamily="0" charset="0"/>
                <a:cs typeface="Calibri" pitchFamily="0" charset="0"/>
              </a:rPr>
              <a:t>Security is a</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ctr">
              <a:lnSpc>
                <a:spcPct val="100000"/>
              </a:lnSpc>
              <a:spcBef>
                <a:spcPts val="0"/>
              </a:spcBef>
              <a:spcAft>
                <a:spcPts val="0"/>
              </a:spcAft>
              <a:buNone/>
            </a:pPr>
            <a:r>
              <a:rPr lang="en-US" altLang="zh-CN" sz="1250" b="1" i="1" u="none" strike="noStrike" kern="1200" cap="none" spc="0" baseline="0">
                <a:solidFill>
                  <a:srgbClr val="1F2937"/>
                </a:solidFill>
                <a:latin typeface="Calibri" pitchFamily="0" charset="0"/>
                <a:ea typeface="Calibri" pitchFamily="0" charset="0"/>
                <a:cs typeface="Calibri" pitchFamily="0" charset="0"/>
              </a:rPr>
              <a:t>Continuous Process,</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ctr">
              <a:lnSpc>
                <a:spcPct val="100000"/>
              </a:lnSpc>
              <a:spcBef>
                <a:spcPts val="0"/>
              </a:spcBef>
              <a:spcAft>
                <a:spcPts val="0"/>
              </a:spcAft>
              <a:buNone/>
            </a:pPr>
            <a:r>
              <a:rPr lang="en-US" altLang="zh-CN" sz="1250" b="1" i="1" u="none" strike="noStrike" kern="1200" cap="none" spc="0" baseline="0">
                <a:solidFill>
                  <a:srgbClr val="1F2937"/>
                </a:solidFill>
                <a:latin typeface="Calibri" pitchFamily="0" charset="0"/>
                <a:ea typeface="Calibri" pitchFamily="0" charset="0"/>
                <a:cs typeface="Calibri" pitchFamily="0" charset="0"/>
              </a:rPr>
              <a:t>not a Product</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337"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8"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13</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357920820"/>
      </p:ext>
    </p:extLst>
  </p:cSld>
  <p:clrMapOvr>
    <a:masterClrMapping/>
  </p:clrMapOvr>
  <p:transition spd="med">
    <p:fade/>
  </p:transition>
</p:sld>
</file>

<file path=ppt/slides/slide1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343" name="Rectangle"/>
          <p:cNvSpPr>
            <a:spLocks/>
          </p:cNvSpPr>
          <p:nvPr/>
        </p:nvSpPr>
        <p:spPr>
          <a:xfrm rot="0">
            <a:off x="548640" y="320040"/>
            <a:ext cx="7315200"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pitchFamily="0" charset="0"/>
                <a:ea typeface="Calibri" pitchFamily="0" charset="0"/>
                <a:cs typeface="Calibri" pitchFamily="0" charset="0"/>
              </a:rPr>
              <a:t>REFERENCES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4" name="Rectangle"/>
          <p:cNvSpPr>
            <a:spLocks/>
          </p:cNvSpPr>
          <p:nvPr/>
        </p:nvSpPr>
        <p:spPr>
          <a:xfrm rot="0">
            <a:off x="548640" y="566928"/>
            <a:ext cx="11064240" cy="731520"/>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References (IEEE / APA)</a:t>
            </a:r>
            <a:endParaRPr lang="zh-CN" altLang="en-US" sz="3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5" name="Rectangle"/>
          <p:cNvSpPr>
            <a:spLocks/>
          </p:cNvSpPr>
          <p:nvPr/>
        </p:nvSpPr>
        <p:spPr>
          <a:xfrm rot="0">
            <a:off x="640080" y="1463040"/>
            <a:ext cx="10881359" cy="475488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pitchFamily="0" charset="0"/>
                <a:ea typeface="Calibri" pitchFamily="0" charset="0"/>
                <a:cs typeface="Calibri" pitchFamily="0" charset="0"/>
              </a:rPr>
              <a:t>[1] W. Stallings, Cryptography and Network Security: Principles and Practice, 8th ed. Pearson, 2020.</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pitchFamily="0" charset="0"/>
                <a:ea typeface="Calibri" pitchFamily="0" charset="0"/>
                <a:cs typeface="Calibri" pitchFamily="0" charset="0"/>
              </a:rPr>
              <a:t>[2] National Institute of Standards and Technology (NIST), "Guide to General Server Security," NIST SP 800-123, 2023. Available: https://csrc.nist.gov</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pitchFamily="0" charset="0"/>
                <a:ea typeface="Calibri" pitchFamily="0" charset="0"/>
                <a:cs typeface="Calibri" pitchFamily="0" charset="0"/>
              </a:rPr>
              <a:t>[3] National Institute of Standards and Technology (NIST), "Digital Signature Standard (DSS)," FIPS PUB 186-5, 2023.</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pitchFamily="0" charset="0"/>
                <a:ea typeface="Calibri" pitchFamily="0" charset="0"/>
                <a:cs typeface="Calibri" pitchFamily="0" charset="0"/>
              </a:rPr>
              <a:t>[4] Microsoft Learn, "Cryptography Overview and Best Practices," Microsoft Docs, 2024. Available: https://learn.microsoft.com</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pitchFamily="0" charset="0"/>
                <a:ea typeface="Calibri" pitchFamily="0" charset="0"/>
                <a:cs typeface="Calibri" pitchFamily="0" charset="0"/>
              </a:rPr>
              <a:t>[5] IEEE, "IEEE Transactions on Information Forensics and Security," IEEE Xplore Digital Library, 2024.</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pitchFamily="0" charset="0"/>
                <a:ea typeface="Calibri" pitchFamily="0" charset="0"/>
                <a:cs typeface="Calibri" pitchFamily="0" charset="0"/>
              </a:rPr>
              <a:t>[6] N. F. Johnson and S. Jajodia, "Exploring steganography: Seeing the unseen," IEEE Computer, vol. 31, no. 2, pp. 26-34, 1998.</a:t>
            </a:r>
            <a:endParaRPr lang="en-US" altLang="zh-CN" sz="12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pitchFamily="0" charset="0"/>
                <a:ea typeface="Calibri" pitchFamily="0" charset="0"/>
                <a:cs typeface="Calibri" pitchFamily="0" charset="0"/>
              </a:rPr>
              <a:t>[7] European Union Agency for Cybersecurity (ENISA), "Threat Landscape Report," ENISA, 2024. Available: https://www.enisa.europa.eu</a:t>
            </a:r>
            <a:endParaRPr lang="zh-CN" altLang="en-US" sz="1250" b="0" i="0" u="none" strike="noStrike" kern="1200" cap="none" spc="0" baseline="0">
              <a:solidFill>
                <a:schemeClr val="tx1"/>
              </a:solidFill>
              <a:latin typeface="Calibri" pitchFamily="0" charset="0"/>
              <a:ea typeface="等线" pitchFamily="0" charset="0"/>
              <a:cs typeface="Calibri" pitchFamily="0" charset="0"/>
            </a:endParaRPr>
          </a:p>
        </p:txBody>
      </p:sp>
      <p:sp>
        <p:nvSpPr>
          <p:cNvPr id="346" name="Rectangle"/>
          <p:cNvSpPr>
            <a:spLocks/>
          </p:cNvSpPr>
          <p:nvPr/>
        </p:nvSpPr>
        <p:spPr>
          <a:xfrm rot="0">
            <a:off x="548640" y="6528816"/>
            <a:ext cx="548640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pitchFamily="0" charset="0"/>
                <a:ea typeface="Calibri" pitchFamily="0" charset="0"/>
                <a:cs typeface="Calibri" pitchFamily="0" charset="0"/>
              </a:rPr>
              <a:t>Cryptography &amp; Network Security</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7" name="Rectangle"/>
          <p:cNvSpPr>
            <a:spLocks/>
          </p:cNvSpPr>
          <p:nvPr/>
        </p:nvSpPr>
        <p:spPr>
          <a:xfrm rot="0">
            <a:off x="11338560" y="6528816"/>
            <a:ext cx="365760" cy="256032"/>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pitchFamily="0" charset="0"/>
                <a:ea typeface="Calibri" pitchFamily="0" charset="0"/>
                <a:cs typeface="Calibri" pitchFamily="0" charset="0"/>
              </a:rPr>
              <a:t>14</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98759503"/>
      </p:ext>
    </p:extLst>
  </p:cSld>
  <p:clrMapOvr>
    <a:masterClrMapping/>
  </p:clrMapOvr>
  <p:transition spd="med">
    <p:fade/>
  </p:transition>
</p:sld>
</file>

<file path=ppt/slides/slide15.xml><?xml version="1.0" encoding="utf-8"?>
<p:sld xmlns:p="http://schemas.openxmlformats.org/presentationml/2006/main" xmlns:r="http://schemas.openxmlformats.org/officeDocument/2006/relationships" xmlns:a="http://schemas.openxmlformats.org/drawingml/2006/main">
  <p:cSld>
    <p:bg>
      <p:bgPr>
        <a:solidFill>
          <a:srgbClr val="0B1E3D"/>
        </a:solidFill>
      </p:bgPr>
    </p:bg>
    <p:spTree>
      <p:nvGrpSpPr>
        <p:cNvPr id="1" name=""/>
        <p:cNvGrpSpPr/>
        <p:nvPr/>
      </p:nvGrpSpPr>
      <p:grpSpPr>
        <a:xfrm>
          <a:off x="0" y="0"/>
          <a:ext cx="0" cy="0"/>
          <a:chOff x="0" y="0"/>
          <a:chExt cx="0" cy="0"/>
        </a:xfrm>
      </p:grpSpPr>
      <p:sp>
        <p:nvSpPr>
          <p:cNvPr id="352" name="Oval"/>
          <p:cNvSpPr>
            <a:spLocks/>
          </p:cNvSpPr>
          <p:nvPr/>
        </p:nvSpPr>
        <p:spPr>
          <a:xfrm rot="0">
            <a:off x="8503920" y="-1645920"/>
            <a:ext cx="5303520" cy="5303520"/>
          </a:xfrm>
          <a:prstGeom prst="ellipse"/>
          <a:solidFill>
            <a:srgbClr val="142B52"/>
          </a:solidFill>
          <a:ln w="12700" cmpd="sng" cap="flat">
            <a:noFill/>
            <a:prstDash val="solid"/>
            <a:miter/>
          </a:ln>
        </p:spPr>
      </p:sp>
      <p:sp>
        <p:nvSpPr>
          <p:cNvPr id="353" name="Oval"/>
          <p:cNvSpPr>
            <a:spLocks/>
          </p:cNvSpPr>
          <p:nvPr/>
        </p:nvSpPr>
        <p:spPr>
          <a:xfrm rot="0">
            <a:off x="-1371600" y="4114800"/>
            <a:ext cx="4114800" cy="4114800"/>
          </a:xfrm>
          <a:prstGeom prst="ellipse"/>
          <a:solidFill>
            <a:srgbClr val="12274A"/>
          </a:solidFill>
          <a:ln w="12700" cmpd="sng" cap="flat">
            <a:noFill/>
            <a:prstDash val="solid"/>
            <a:miter/>
          </a:ln>
        </p:spPr>
      </p:sp>
      <p:sp>
        <p:nvSpPr>
          <p:cNvPr id="354" name="Oval"/>
          <p:cNvSpPr>
            <a:spLocks/>
          </p:cNvSpPr>
          <p:nvPr/>
        </p:nvSpPr>
        <p:spPr>
          <a:xfrm rot="0">
            <a:off x="5592928" y="1920240"/>
            <a:ext cx="1005840" cy="1005839"/>
          </a:xfrm>
          <a:prstGeom prst="ellipse"/>
          <a:solidFill>
            <a:srgbClr val="2563EB"/>
          </a:solidFill>
          <a:ln w="12700" cmpd="sng" cap="flat">
            <a:noFill/>
            <a:prstDash val="solid"/>
            <a:miter/>
          </a:ln>
        </p:spPr>
      </p:sp>
      <p:pic>
        <p:nvPicPr>
          <p:cNvPr id="355" name="Image" descr="/home/claude/deck/assets/shield_check.png"/>
          <p:cNvPicPr>
            <a:picLocks noChangeAspect="1"/>
          </p:cNvPicPr>
          <p:nvPr/>
        </p:nvPicPr>
        <p:blipFill>
          <a:blip r:embed="rId1" cstate="print"/>
          <a:stretch>
            <a:fillRect/>
          </a:stretch>
        </p:blipFill>
        <p:spPr>
          <a:xfrm rot="0">
            <a:off x="5819242" y="2146554"/>
            <a:ext cx="553210" cy="553212"/>
          </a:xfrm>
          <a:prstGeom prst="rect"/>
          <a:noFill/>
          <a:ln w="12700" cmpd="sng" cap="flat">
            <a:noFill/>
            <a:prstDash val="solid"/>
            <a:miter/>
          </a:ln>
        </p:spPr>
      </p:pic>
      <p:sp>
        <p:nvSpPr>
          <p:cNvPr id="356" name="Rectangle"/>
          <p:cNvSpPr>
            <a:spLocks/>
          </p:cNvSpPr>
          <p:nvPr/>
        </p:nvSpPr>
        <p:spPr>
          <a:xfrm rot="0">
            <a:off x="0" y="3108960"/>
            <a:ext cx="12191694" cy="91440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1" i="0" u="none" strike="noStrike" kern="1200" cap="none" spc="0" baseline="0">
                <a:solidFill>
                  <a:srgbClr val="FFFFFF"/>
                </a:solidFill>
                <a:latin typeface="Cambria" pitchFamily="34" charset="0"/>
                <a:ea typeface="Cambria" pitchFamily="34" charset="0"/>
                <a:cs typeface="Cambria" pitchFamily="34" charset="0"/>
              </a:rPr>
              <a:t>Thank You</a:t>
            </a:r>
            <a:endParaRPr lang="zh-CN" altLang="en-US" sz="4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7" name="Rectangle"/>
          <p:cNvSpPr>
            <a:spLocks/>
          </p:cNvSpPr>
          <p:nvPr/>
        </p:nvSpPr>
        <p:spPr>
          <a:xfrm rot="0">
            <a:off x="0" y="3977640"/>
            <a:ext cx="12191694" cy="45720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600" b="0" i="1" u="none" strike="noStrike" kern="1200" cap="none" spc="0" baseline="0">
                <a:solidFill>
                  <a:srgbClr val="60A5FA"/>
                </a:solidFill>
                <a:latin typeface="Calibri" pitchFamily="0" charset="0"/>
                <a:ea typeface="Calibri" pitchFamily="0" charset="0"/>
                <a:cs typeface="Calibri" pitchFamily="0" charset="0"/>
              </a:rPr>
              <a:t>Questions &amp; Discussion Welcome</a:t>
            </a:r>
            <a:endParaRPr lang="zh-CN" altLang="en-US" sz="16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8" name="Rectangle"/>
          <p:cNvSpPr>
            <a:spLocks/>
          </p:cNvSpPr>
          <p:nvPr/>
        </p:nvSpPr>
        <p:spPr>
          <a:xfrm rot="0">
            <a:off x="0" y="6309360"/>
            <a:ext cx="12191694" cy="320040"/>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rgbClr val="8FA3C4"/>
                </a:solidFill>
                <a:latin typeface="Calibri" pitchFamily="0" charset="0"/>
                <a:ea typeface="Calibri" pitchFamily="0" charset="0"/>
                <a:cs typeface="Calibri" pitchFamily="0" charset="0"/>
              </a:rPr>
              <a:t>Cryptography and Network Security  |  [Preethika M]  |  [192511216]</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25801491"/>
      </p:ext>
    </p:extLst>
  </p:cSld>
  <p:clrMapOvr>
    <a:masterClrMapping/>
  </p:clrMapOvr>
  <p:transition spd="med">
    <p:fade/>
  </p:transition>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41</TotalTime>
  <Application>Office</Application>
  <Company>PptxGenJS</Company>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subject>PptxGenJS Presentation</dc:subject>
  <dc:creator>PptxGenJS</dc:creator>
  <cp:lastModifiedBy>Mobile phone user</cp:lastModifiedBy>
  <cp:revision>1</cp:revision>
  <dcterms:created xsi:type="dcterms:W3CDTF">2026-07-15T04:36:48Z</dcterms:created>
  <dcterms:modified xsi:type="dcterms:W3CDTF">2026-07-15T03:44:10Z</dcterms:modified>
</cp:coreProperties>
</file>